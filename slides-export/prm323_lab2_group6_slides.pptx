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vi"/>
    </a:defPPr>
    <a:lvl1pPr marL="0" algn="l" defTabSz="457200" rtl="0" eaLnBrk="1" latinLnBrk="0" hangingPunct="1">
      <a:defRPr lang="vi" sz="1800" kern="1200">
        <a:solidFill>
          <a:schemeClr val="tx1"/>
        </a:solidFill>
        <a:latin typeface="+mn-lt"/>
        <a:ea typeface="+mn-ea"/>
        <a:cs typeface="+mn-cs"/>
      </a:defRPr>
    </a:lvl1pPr>
    <a:lvl2pPr marL="457200" algn="l" defTabSz="457200" rtl="0" eaLnBrk="1" latinLnBrk="0" hangingPunct="1">
      <a:defRPr lang="vi" sz="1800" kern="1200">
        <a:solidFill>
          <a:schemeClr val="tx1"/>
        </a:solidFill>
        <a:latin typeface="+mn-lt"/>
        <a:ea typeface="+mn-ea"/>
        <a:cs typeface="+mn-cs"/>
      </a:defRPr>
    </a:lvl2pPr>
    <a:lvl3pPr marL="914400" algn="l" defTabSz="457200" rtl="0" eaLnBrk="1" latinLnBrk="0" hangingPunct="1">
      <a:defRPr lang="vi" sz="1800" kern="1200">
        <a:solidFill>
          <a:schemeClr val="tx1"/>
        </a:solidFill>
        <a:latin typeface="+mn-lt"/>
        <a:ea typeface="+mn-ea"/>
        <a:cs typeface="+mn-cs"/>
      </a:defRPr>
    </a:lvl3pPr>
    <a:lvl4pPr marL="1371600" algn="l" defTabSz="457200" rtl="0" eaLnBrk="1" latinLnBrk="0" hangingPunct="1">
      <a:defRPr lang="vi" sz="1800" kern="1200">
        <a:solidFill>
          <a:schemeClr val="tx1"/>
        </a:solidFill>
        <a:latin typeface="+mn-lt"/>
        <a:ea typeface="+mn-ea"/>
        <a:cs typeface="+mn-cs"/>
      </a:defRPr>
    </a:lvl4pPr>
    <a:lvl5pPr marL="1828800" algn="l" defTabSz="457200" rtl="0" eaLnBrk="1" latinLnBrk="0" hangingPunct="1">
      <a:defRPr lang="vi" sz="1800" kern="1200">
        <a:solidFill>
          <a:schemeClr val="tx1"/>
        </a:solidFill>
        <a:latin typeface="+mn-lt"/>
        <a:ea typeface="+mn-ea"/>
        <a:cs typeface="+mn-cs"/>
      </a:defRPr>
    </a:lvl5pPr>
    <a:lvl6pPr marL="2286000" algn="l" defTabSz="457200" rtl="0" eaLnBrk="1" latinLnBrk="0" hangingPunct="1">
      <a:defRPr lang="vi" sz="1800" kern="1200">
        <a:solidFill>
          <a:schemeClr val="tx1"/>
        </a:solidFill>
        <a:latin typeface="+mn-lt"/>
        <a:ea typeface="+mn-ea"/>
        <a:cs typeface="+mn-cs"/>
      </a:defRPr>
    </a:lvl6pPr>
    <a:lvl7pPr marL="2743200" algn="l" defTabSz="457200" rtl="0" eaLnBrk="1" latinLnBrk="0" hangingPunct="1">
      <a:defRPr lang="vi" sz="1800" kern="1200">
        <a:solidFill>
          <a:schemeClr val="tx1"/>
        </a:solidFill>
        <a:latin typeface="+mn-lt"/>
        <a:ea typeface="+mn-ea"/>
        <a:cs typeface="+mn-cs"/>
      </a:defRPr>
    </a:lvl7pPr>
    <a:lvl8pPr marL="3200400" algn="l" defTabSz="457200" rtl="0" eaLnBrk="1" latinLnBrk="0" hangingPunct="1">
      <a:defRPr lang="vi" sz="1800" kern="1200">
        <a:solidFill>
          <a:schemeClr val="tx1"/>
        </a:solidFill>
        <a:latin typeface="+mn-lt"/>
        <a:ea typeface="+mn-ea"/>
        <a:cs typeface="+mn-cs"/>
      </a:defRPr>
    </a:lvl8pPr>
    <a:lvl9pPr marL="3657600" algn="l" defTabSz="457200" rtl="0" eaLnBrk="1" latinLnBrk="0" hangingPunct="1">
      <a:defRPr lang="vi"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vi"/>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v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vi"/>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v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vi"/>
          </a:p>
        </p:txBody>
      </p:sp>
    </p:spTree>
  </p:cSld>
  <p:clrMap bg1="lt1" tx1="dk1" bg2="lt2" tx2="dk2" accent1="accent1" accent2="accent2" accent3="accent3" accent4="accent4" accent5="accent5" accent6="accent6" hlink="hlink" folHlink="folHlink"/>
  <p:hf/>
  <p:notesStyle>
    <a:lvl1pPr marL="0" algn="l">
      <a:defRPr lang="vi"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 dirty="0"/>
              <a:t>Đây là TeamUp EXE, ứng dụng di động dành cho mentor và giảng viên môn EXE. AI gợi ý ghép những sinh viên chưa có nhóm vào các nhóm đang thiếu một đến hai thành viên chuyên môn, còn mentor là người duyệt. Đối tượng dùng là mentor và giảng viên EXE, cụ thể là Cô Lan, phụ trách ba lớp với nhiều ngành như SE, AI, MKT và GD. Em nêu ngay vấn đề thực tế: lớp có sinh viên chưa có nhóm, có nhóm thiếu chuyên môn, và ghép tay bằng Excel mất nhiều thời gian. Link Figma có trong README.md; tên người trình bày và link GitHub còn để TODO.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Persona của nhóm là Cô Lan, 38 tuổi, giảng viên và mentor phụ trách ba lớp EXE, khoảng bốn mươi sinh viên mỗi lớp. Nỗi đau chính là nhiều bạn chưa có nhóm, ghép tay bằng Excel và tin nhắn thì khó nhớ ngành, kỹ năng và lịch rảnh, ghép vội thì nhóm lệch ngành và chỉ lộ ra giữa kỳ, trong khi mentor chỉ có vài phút mỗi lần. Em nhấn mạnh thiết bị: dùng một tay, vài phút giữa các tiết, wifi trường chập chờn. Vấn đề gói trong một câu: mentor có sinh viên chưa có nhóm và nhóm còn thiếu chuyên môn, nhưng phải ghép thủ công nên mất thời gian và dễ lệch ngành. Ba tiêu chí thành công là duyệt xong gợi ý AI cho một lớp dưới năm phút, mọi nhóm sau duyệt có bốn đến sáu người và ít nhất ba ngành, và thêm hoặc đổi một thành viên rồi duyệt dưới sáu mươi giây. Em nói thẳng: persona là giả định của nhóm, chưa kiểm chứng với người dùng thật.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Ứng dụng có hai mươi mốt màn hình từ S1 đến S21 và thanh điều hướng ba tab: Classes, Proposals, Profile. Ba tab đủ vì Cô Lan chỉ có ba việc chính: chọn lớp, duyệt đề xuất, xem hồ sơ. Từ Classes, S2 dẫn tới Class detail S3, rồi tới No team S4, Need members S5 và Student detail S7. Từ Proposals, S9 dẫn tới Proposal detail S10, rồi Add member S11, và kết thúc ở hộp thoại Approve S12 hoặc Discard S17. Mỗi màn thuộc ít nhất một flow, riêng S6 Profile là tab gốc; S19 đến S21 là đường lỗi và nhánh ghép tay. Bằng chứng nằm trong ux/user-flow.md và Figma Page 01.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Em kể một flow từ đầu đến cuối và chỉ ra đường lỗi cùng cách phục hồi. Flow A là duyệt gợi ý AI cho một lớp; lỗi gồm email sai, hiện ở S19, và mất mạng khi AI chạy, phục hồi bằng màn S18 với nút Try again. Flow B là thêm thành viên vào đề xuất; lỗi là vượt sáu người, hiện ở S13 với thông báo Max 6 members. Flow C là khi AI không ghép được và mentor ghép tay; lỗi là sinh viên đã có nhóm bị khóa ở S16, tìm không ra sinh viên ở S21, và mentor có thể hủy đề xuất bằng Discard ở S17. Bảng flow tới màn có trong user-flow.md. Ảnh flow nằm ở assets/flows.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 dirty="0"/>
              <a:t>Prompt gửi cho Stitch gồm năm phần: người dùng là mentor, tác vụ là duyệt gợi ý AI, nền tảng là Android 360 nhân 800 với Material 3, ràng buộc gồm chữ từ 14 sp trở lên, một nút chính mỗi màn và không dùng từ cấm, và phong cách lấy từ DESIGN.md. Lần đầu, R0, theo hướng sinh viên, ra bốn màn và có chữ nội bộ như Lineup hay Roster. Sau đó nhóm đổi sang hướng mentor, R9, gồm ba prompt, mỗi prompt sáu frame, tổng mười tám frame rồi xuất sang Figma. Sau khi đối chiếu flow, em thấy thiếu ba trạng thái nên chạy thêm R10 với ba frame S19 đến S21, thành hai mươi mốt màn. Stitch chỉ ra khoảng sáu frame mỗi lần nên phải chia ba prompt. Hai ảnh trên slide là màn Discover của bản R0 hướng sinh viên ở bên trái, và màn Proposals của bản R9 hướng mentor ở bên phải, đều lấy từ thư mục Stitch. Prompt nguyên văn ở ai/stitch-prompts-r9.md và ai/ai-design-log.md mục 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Em sẽ chọn một iteration để kể theo trình tự vấn đề, sửa, trước và sau. Iteration một, R3: chú thích dưới ô vai trò đè chữ, nên bỏ chú thích. Iteration hai, R4: thanh trên cùng và chip thừa không nhất quán, nên thống nhất app bar và giảm chữ. Iteration ba, R6: ô email yêu cầu tên miền edu không còn dùng, nên chấp nhận email bất kỳ. Iteration bốn, R7: palette có tông xanh dương và thẻ so với nền chỉ đạt 1.07 trên 1, nên đổi sang palette cam và xanh lá, viền thẻ rõ hơn. Iteration năm, R9 sang Figma: S4 có chữ Stitch tự thêm và S17 nền sai, nên sửa S4 và S17. Các phát hiện tiêu biểu gắn màn gồm S4 chữ bịa, S17 màn nền sai, S9 badge 10 sp, S2, S12 và S13 cao hơn 800 dp, tên layer dài, và viền thẻ 1.48 trên 1. Ảnh bên phải là cặp màn Sign in: bên trái là bản trước trong thư mục First, bên phải là bản sau trong thư mục Final của Stitch. Ảnh trước và sau của các iteration còn lại vẫn là TODO. Bằng chứng ở ai/ai-design-log.md mục 7, ai-critique-1.md và ai-critique-2.md.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Em chuẩn bị trả lời câu hỏi: AI đề xuất nào bạn đã từ chối và vì sao. Nhóm giữ nguyên tắc AI chỉ đề xuất, mentor duyệt, với nhãn mức phù hợp và lý do ngắn. Nhóm sửa bằng cách bỏ chú thích dưới ô vai trò vì đè chữ ở 360 dp. Nhóm từ chối dùng cam FPT F37021 cho nút vì chữ trắng chỉ đạt 2.9 trên 1, màu này chỉ dùng cho logo. Nhóm cũng bỏ màu xanh dương, bỏ trường MSSV và email edu. Mỗi quyết định gắn với một thay đổi trong Figma, ví dụ S4 và S17 được sửa, S13 đổi thành Tutor Match 6 of 6. Bằng chứng: design/design-decisions.md và ai/ai-design-log.md mục 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Em chỉ ra phân cấp thị giác: tiêu đề, danh sách, rồi nút chính. Wireframe thấp ở Figma Page 02 được đặt cạnh hai mươi mốt màn final ở Page 03, kích thước 360 nhân 800. Mỗi màn có một nút chính, và hàng ngành cao 40 hoặc 48 dp làm điểm nhấn. Các state gồm loading ở S8, empty ở S14 All matched, error ở S13 và S18, dialog ở S12 và S17. Ảnh trên slide chụp từ Figma: S10 dạng wireframe xám ở bên trái và Final UI ở bên phải. Loading S8 và lỗi S13 em mở trực tiếp trong Page 03.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Em trả lời được câu hỏi màn nào tự đổi khi đổi màu primary: mọi màn, vì tất cả dùng biến. Token màu gồm primary B23E00, primary-container FFE2D2, tertiary 1B6B3C, error B3261E, surface FFFFFF và on-surface 1C1B18. Chữ dùng Be Vietnam Pro với sáu style: 24, 20, 16, 16, 14 và 14 sp. Spacing là 4, 8, 16, 24, 32; radius là 8, 12, 16 và full; elevation phẳng, chỉ dialog và snackbar có bóng. Có chín component: Button, Text field, Card, Navigation, App bar, Dialog, Loading, Empty và Error, đều có state. Em đã kiểm trong Figma: 21 màn Final UI không còn màu thô, mọi màu gắn Variables; Page 05 có 14 component set. Bằng chứng: design/DESIGN.md, Figma Page 04 và 05.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Em nói rõ mục nào đã đo và mục nào còn TODO. Với chữ thường cần tối thiểu 4.5 trên 1: on-surface trên surface đạt 17.22, on-primary trên primary đạt 5.86, error trên error-container đạt 5.14. Với control cần tối thiểu 3 trên 1: outline trên surface đạt 4.61, viền ô đề xuất đạt 4.76, còn viền thẻ chỉ 1.48 là ngoại lệ vì chỉ dùng để phân tách. Touch target từ 48 dp, chữ từ 14 sp, và không chỉ dùng màu để báo trạng thái. Ở 360 dp đã kiểm trong Figma: 21 frame 360 nhân 800, không có chữ dưới 14 sp. Ở 412 dp em chưa kiểm, nên nói rõ là chưa làm. Với màn rộng từ 600 dp, nhóm đặc tả NavigationRail và master-detail, nhưng mới chỉ là đặc tả. Bằng chứng là checklist trong design/design-decisions.md.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Phần này em demo trực tiếp trong Figma, không dùng ảnh tĩnh. Ba flow bấm được từ điểm bắt đầu đến kết thúc và không có ngõ cụt; em đã kiểm bằng script rằng mọi màn của từng flow đều tới được từ điểm bắt đầu, và sẽ bấm trực tiếp khi demo. Hộp thoại Approve S12 và Discard S17 là overlay. Màn loading S8 AI matching dẫn tới kết quả là S9 Proposals hoặc S15 No match. Nút Back luôn quay đúng màn trước.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Em trả lời được câu hỏi một dev Flutter lạ dựng màn S12 từ handoff thế nào. Mỗi màn trong hai mươi mốt màn có sáu mục: layout, components, states, interactions, navigation và constraints. Có hai bảng: token sang Flutter gồm ColorScheme, TextTheme và hằng số; component sang widget như FilledButton, TextFormField, NavigationBar, AlertDialog. Màn rộng từ 600 dp cũng được mô tả trong handoff. Về hạn chế, phần AI ghép nhóm chỉ là thiết kế giao diện với dữ liệu mẫu và không có mô hình thật; các lỗi kích thước từ Stitch đã sửa trong Figma, hiện cả 21 frame đều 360 nhân 800. Em xin cảm ơn và mời mọi người đặt câu hỏi. Bằng chứng: handoff/flutter-handoff.md và GitHub.</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trip-blue Layout"/>
          <p:cNvSpPr/>
          <p:nvPr/>
        </p:nvSpPr>
        <p:spPr>
          <a:xfrm>
            <a:off x="0" y="0"/>
            <a:ext cx="371475" cy="6858000"/>
          </a:xfrm>
          <a:prstGeom prst="rect">
            <a:avLst/>
          </a:prstGeom>
          <a:solidFill>
            <a:schemeClr val="accent1"/>
          </a:solidFill>
          <a:ln>
            <a:noFill/>
          </a:ln>
        </p:spPr>
      </p:sp>
      <p:sp>
        <p:nvSpPr>
          <p:cNvPr id="3" name="strip-red Layout"/>
          <p:cNvSpPr/>
          <p:nvPr/>
        </p:nvSpPr>
        <p:spPr>
          <a:xfrm>
            <a:off x="11106150" y="0"/>
            <a:ext cx="361950" cy="6858000"/>
          </a:xfrm>
          <a:prstGeom prst="rect">
            <a:avLst/>
          </a:prstGeom>
          <a:solidFill>
            <a:schemeClr val="accent3"/>
          </a:solidFill>
          <a:ln>
            <a:noFill/>
          </a:ln>
        </p:spPr>
      </p:sp>
      <p:sp>
        <p:nvSpPr>
          <p:cNvPr id="4" name="strip-yellow Layout"/>
          <p:cNvSpPr/>
          <p:nvPr/>
        </p:nvSpPr>
        <p:spPr>
          <a:xfrm>
            <a:off x="11468100" y="0"/>
            <a:ext cx="361950" cy="6858000"/>
          </a:xfrm>
          <a:prstGeom prst="rect">
            <a:avLst/>
          </a:prstGeom>
          <a:solidFill>
            <a:schemeClr val="accent2"/>
          </a:solidFill>
          <a:ln>
            <a:noFill/>
          </a:ln>
        </p:spPr>
      </p:sp>
      <p:sp>
        <p:nvSpPr>
          <p:cNvPr id="5" name="strip-green Layout"/>
          <p:cNvSpPr/>
          <p:nvPr/>
        </p:nvSpPr>
        <p:spPr>
          <a:xfrm>
            <a:off x="11830050" y="0"/>
            <a:ext cx="361950" cy="6858000"/>
          </a:xfrm>
          <a:prstGeom prst="rect">
            <a:avLst/>
          </a:prstGeom>
          <a:solidFill>
            <a:schemeClr val="accent5"/>
          </a:solidFill>
          <a:ln>
            <a:noFill/>
          </a:ln>
        </p:spPr>
      </p:sp>
      <p:sp>
        <p:nvSpPr>
          <p:cNvPr id="6" name="dot-blue Layout"/>
          <p:cNvSpPr/>
          <p:nvPr/>
        </p:nvSpPr>
        <p:spPr>
          <a:xfrm>
            <a:off x="8001000" y="1333500"/>
            <a:ext cx="1143000" cy="1143000"/>
          </a:xfrm>
          <a:prstGeom prst="ellipse">
            <a:avLst/>
          </a:prstGeom>
          <a:solidFill>
            <a:schemeClr val="accent1"/>
          </a:solidFill>
          <a:ln>
            <a:noFill/>
          </a:ln>
        </p:spPr>
      </p:sp>
      <p:sp>
        <p:nvSpPr>
          <p:cNvPr id="7" name="dot-red Layout"/>
          <p:cNvSpPr/>
          <p:nvPr/>
        </p:nvSpPr>
        <p:spPr>
          <a:xfrm>
            <a:off x="9429750" y="3048000"/>
            <a:ext cx="762000" cy="762000"/>
          </a:xfrm>
          <a:prstGeom prst="ellipse">
            <a:avLst/>
          </a:prstGeom>
          <a:solidFill>
            <a:schemeClr val="accent3"/>
          </a:solidFill>
          <a:ln>
            <a:noFill/>
          </a:ln>
        </p:spPr>
      </p:sp>
      <p:sp>
        <p:nvSpPr>
          <p:cNvPr id="8" name="dot-yellow Layout"/>
          <p:cNvSpPr/>
          <p:nvPr/>
        </p:nvSpPr>
        <p:spPr>
          <a:xfrm>
            <a:off x="7810500" y="4000500"/>
            <a:ext cx="952500" cy="952500"/>
          </a:xfrm>
          <a:prstGeom prst="ellipse">
            <a:avLst/>
          </a:prstGeom>
          <a:solidFill>
            <a:schemeClr val="accent2"/>
          </a:solidFill>
          <a:ln>
            <a:noFill/>
          </a:ln>
        </p:spPr>
      </p:sp>
      <p:sp>
        <p:nvSpPr>
          <p:cNvPr id="9" name="dot-green Layout"/>
          <p:cNvSpPr/>
          <p:nvPr/>
        </p:nvSpPr>
        <p:spPr>
          <a:xfrm>
            <a:off x="9620250" y="5143500"/>
            <a:ext cx="571500" cy="571500"/>
          </a:xfrm>
          <a:prstGeom prst="ellipse">
            <a:avLst/>
          </a:prstGeom>
          <a:solidFill>
            <a:schemeClr val="accent5"/>
          </a:solidFill>
          <a:ln>
            <a:noFill/>
          </a:ln>
        </p:spPr>
      </p:sp>
      <p:sp>
        <p:nvSpPr>
          <p:cNvPr id="10" name="dot-ink-1 Layout"/>
          <p:cNvSpPr/>
          <p:nvPr/>
        </p:nvSpPr>
        <p:spPr>
          <a:xfrm>
            <a:off x="7296150" y="819150"/>
            <a:ext cx="266700" cy="266700"/>
          </a:xfrm>
          <a:prstGeom prst="ellipse">
            <a:avLst/>
          </a:prstGeom>
          <a:solidFill>
            <a:srgbClr val="333333"/>
          </a:solidFill>
          <a:ln>
            <a:noFill/>
          </a:ln>
        </p:spPr>
      </p:sp>
      <p:sp>
        <p:nvSpPr>
          <p:cNvPr id="11" name="dot-ink-2 Layout"/>
          <p:cNvSpPr/>
          <p:nvPr/>
        </p:nvSpPr>
        <p:spPr>
          <a:xfrm>
            <a:off x="10382250" y="1143000"/>
            <a:ext cx="190500" cy="190500"/>
          </a:xfrm>
          <a:prstGeom prst="ellipse">
            <a:avLst/>
          </a:prstGeom>
          <a:solidFill>
            <a:srgbClr val="333333"/>
          </a:solidFill>
          <a:ln>
            <a:noFill/>
          </a:ln>
        </p:spPr>
      </p:sp>
      <p:sp>
        <p:nvSpPr>
          <p:cNvPr id="12" name="title-slot Placeholder"/>
          <p:cNvSpPr>
            <a:spLocks noGrp="1"/>
          </p:cNvSpPr>
          <p:nvPr>
            <p:ph type="title"/>
          </p:nvPr>
        </p:nvSpPr>
        <p:spPr>
          <a:xfrm>
            <a:off x="952500" y="2286000"/>
            <a:ext cx="6096000" cy="1047750"/>
          </a:xfrm>
          <a:prstGeom prst="rect">
            <a:avLst/>
          </a:prstGeom>
          <a:noFill/>
          <a:ln>
            <a:noFill/>
          </a:ln>
        </p:spPr>
        <p:txBody>
          <a:bodyPr wrap="square" lIns="0" tIns="0" rIns="0" bIns="0" anchor="ctr" anchorCtr="0">
            <a:noAutofit/>
          </a:bodyPr>
          <a:lstStyle>
            <a:lvl1pPr>
              <a:defRPr lang="vi" sz="3300"/>
            </a:lvl1pPr>
          </a:lstStyle>
          <a:p>
            <a:pPr algn="l"/>
            <a:r>
              <a:rPr lang="vi" sz="3300" b="1" dirty="0">
                <a:solidFill>
                  <a:schemeClr val="dk1"/>
                </a:solidFill>
                <a:latin typeface="+mj-lt"/>
                <a:ea typeface="+mj-ea"/>
                <a:cs typeface="+mj-cs"/>
              </a:rPr>
              <a:t>Click to add title</a:t>
            </a:r>
            <a:endParaRPr lang="vi"/>
          </a:p>
        </p:txBody>
      </p:sp>
      <p:sp>
        <p:nvSpPr>
          <p:cNvPr id="13" name="subtitle-slot Placeholder"/>
          <p:cNvSpPr>
            <a:spLocks noGrp="1"/>
          </p:cNvSpPr>
          <p:nvPr>
            <p:ph type="subTitle" idx="1"/>
          </p:nvPr>
        </p:nvSpPr>
        <p:spPr>
          <a:xfrm>
            <a:off x="952500" y="3429000"/>
            <a:ext cx="6096000" cy="571500"/>
          </a:xfrm>
          <a:prstGeom prst="rect">
            <a:avLst/>
          </a:prstGeom>
          <a:noFill/>
          <a:ln>
            <a:noFill/>
          </a:ln>
        </p:spPr>
        <p:txBody>
          <a:bodyPr wrap="square" lIns="0" tIns="0" rIns="0" bIns="0" anchor="ctr" anchorCtr="0">
            <a:noAutofit/>
          </a:bodyPr>
          <a:lstStyle>
            <a:lvl1pPr marL="0" indent="0">
              <a:buNone/>
              <a:defRPr lang="vi" sz="2400"/>
            </a:lvl1pPr>
          </a:lstStyle>
          <a:p>
            <a:pPr marL="0" indent="0" algn="l">
              <a:buNone/>
            </a:pPr>
            <a:r>
              <a:rPr lang="vi" sz="2400" dirty="0">
                <a:solidFill>
                  <a:schemeClr val="accent1"/>
                </a:solidFill>
                <a:latin typeface="+mn-lt"/>
                <a:ea typeface="+mn-ea"/>
                <a:cs typeface="+mn-cs"/>
              </a:rPr>
              <a:t>Click to add subtitle</a:t>
            </a:r>
            <a:endParaRPr lang="vi"/>
          </a:p>
        </p:txBody>
      </p:sp>
      <p:sp>
        <p:nvSpPr>
          <p:cNvPr id="14" name="author-slot Placeholder"/>
          <p:cNvSpPr>
            <a:spLocks noGrp="1"/>
          </p:cNvSpPr>
          <p:nvPr>
            <p:ph type="body" idx="2"/>
          </p:nvPr>
        </p:nvSpPr>
        <p:spPr>
          <a:xfrm>
            <a:off x="952500" y="4095750"/>
            <a:ext cx="6096000" cy="762000"/>
          </a:xfrm>
          <a:prstGeom prst="rect">
            <a:avLst/>
          </a:prstGeom>
          <a:noFill/>
          <a:ln>
            <a:noFill/>
          </a:ln>
        </p:spPr>
        <p:txBody>
          <a:bodyPr wrap="square" lIns="0" tIns="0" rIns="0" bIns="0" anchor="ctr" anchorCtr="0">
            <a:noAutofit/>
          </a:bodyPr>
          <a:lstStyle>
            <a:lvl1pPr marL="0" indent="0">
              <a:buNone/>
              <a:defRPr lang="vi" sz="1800"/>
            </a:lvl1pPr>
          </a:lstStyle>
          <a:p>
            <a:pPr marL="0" indent="0" algn="l">
              <a:lnSpc>
                <a:spcPts val="2550"/>
              </a:lnSpc>
              <a:buNone/>
            </a:pPr>
            <a:r>
              <a:rPr lang="vi" sz="1800" dirty="0">
                <a:solidFill>
                  <a:schemeClr val="dk1"/>
                </a:solidFill>
                <a:latin typeface="+mn-lt"/>
                <a:ea typeface="+mn-ea"/>
                <a:cs typeface="+mn-cs"/>
              </a:rPr>
              <a:t>Click to add text</a:t>
            </a:r>
            <a:endParaRPr lang="vi"/>
          </a:p>
        </p:txBody>
      </p:sp>
      <p:sp>
        <p:nvSpPr>
          <p:cNvPr id="15" name="date-slot Placeholder"/>
          <p:cNvSpPr>
            <a:spLocks noGrp="1"/>
          </p:cNvSpPr>
          <p:nvPr>
            <p:ph type="dt" idx="3"/>
          </p:nvPr>
        </p:nvSpPr>
        <p:spPr>
          <a:xfrm>
            <a:off x="952500" y="5048250"/>
            <a:ext cx="2857500" cy="381000"/>
          </a:xfrm>
          <a:prstGeom prst="rect">
            <a:avLst/>
          </a:prstGeom>
          <a:noFill/>
          <a:ln>
            <a:noFill/>
          </a:ln>
        </p:spPr>
        <p:txBody>
          <a:bodyPr wrap="square" lIns="0" tIns="0" rIns="0" bIns="0" anchor="ctr" anchorCtr="0">
            <a:noAutofit/>
          </a:bodyPr>
          <a:lstStyle>
            <a:lvl1pPr>
              <a:defRPr lang="vi" sz="1350"/>
            </a:lvl1pPr>
          </a:lstStyle>
          <a:p>
            <a:pPr algn="l"/>
            <a:fld id="{BD32FF4D-AAED-485D-A7CD-FEF5F5B65735}" type="datetimeFigureOut">
              <a:rPr lang="vi" sz="1350" dirty="0">
                <a:solidFill>
                  <a:schemeClr val="accent6"/>
                </a:solidFill>
                <a:latin typeface="+mn-lt"/>
                <a:ea typeface="+mn-ea"/>
                <a:cs typeface="+mn-cs"/>
              </a:rPr>
              <a:t>11/10/2026</a:t>
            </a:fld>
            <a:endParaRPr lang="vi"/>
          </a:p>
        </p:txBody>
      </p:sp>
    </p:spTree>
    <p:extLst>
      <p:ext uri="{BB962C8B-B14F-4D97-AF65-F5344CB8AC3E}">
        <p14:creationId xmlns:p14="http://schemas.microsoft.com/office/powerpoint/2010/main" val="3904107441"/>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strip-blue Layout"/>
          <p:cNvSpPr/>
          <p:nvPr/>
        </p:nvSpPr>
        <p:spPr>
          <a:xfrm>
            <a:off x="0" y="0"/>
            <a:ext cx="371475" cy="6858000"/>
          </a:xfrm>
          <a:prstGeom prst="rect">
            <a:avLst/>
          </a:prstGeom>
          <a:solidFill>
            <a:schemeClr val="accent1"/>
          </a:solidFill>
          <a:ln>
            <a:noFill/>
          </a:ln>
        </p:spPr>
      </p:sp>
      <p:sp>
        <p:nvSpPr>
          <p:cNvPr id="3" name="strip-red Layout"/>
          <p:cNvSpPr/>
          <p:nvPr/>
        </p:nvSpPr>
        <p:spPr>
          <a:xfrm>
            <a:off x="11106150" y="0"/>
            <a:ext cx="361950" cy="6858000"/>
          </a:xfrm>
          <a:prstGeom prst="rect">
            <a:avLst/>
          </a:prstGeom>
          <a:solidFill>
            <a:schemeClr val="accent3"/>
          </a:solidFill>
          <a:ln>
            <a:noFill/>
          </a:ln>
        </p:spPr>
      </p:sp>
      <p:sp>
        <p:nvSpPr>
          <p:cNvPr id="4" name="strip-yellow Layout"/>
          <p:cNvSpPr/>
          <p:nvPr/>
        </p:nvSpPr>
        <p:spPr>
          <a:xfrm>
            <a:off x="11468100" y="0"/>
            <a:ext cx="361950" cy="6858000"/>
          </a:xfrm>
          <a:prstGeom prst="rect">
            <a:avLst/>
          </a:prstGeom>
          <a:solidFill>
            <a:schemeClr val="accent2"/>
          </a:solidFill>
          <a:ln>
            <a:noFill/>
          </a:ln>
        </p:spPr>
      </p:sp>
      <p:sp>
        <p:nvSpPr>
          <p:cNvPr id="5" name="strip-green Layout"/>
          <p:cNvSpPr/>
          <p:nvPr/>
        </p:nvSpPr>
        <p:spPr>
          <a:xfrm>
            <a:off x="11830050" y="0"/>
            <a:ext cx="361950" cy="6858000"/>
          </a:xfrm>
          <a:prstGeom prst="rect">
            <a:avLst/>
          </a:prstGeom>
          <a:solidFill>
            <a:schemeClr val="accent5"/>
          </a:solidFill>
          <a:ln>
            <a:noFill/>
          </a:ln>
        </p:spPr>
      </p:sp>
      <p:sp>
        <p:nvSpPr>
          <p:cNvPr id="6" name="page-title-slot Placeholder"/>
          <p:cNvSpPr>
            <a:spLocks noGrp="1"/>
          </p:cNvSpPr>
          <p:nvPr>
            <p:ph type="title"/>
          </p:nvPr>
        </p:nvSpPr>
        <p:spPr>
          <a:xfrm>
            <a:off x="762000" y="342900"/>
            <a:ext cx="9906000" cy="666750"/>
          </a:xfrm>
          <a:prstGeom prst="rect">
            <a:avLst/>
          </a:prstGeom>
          <a:noFill/>
          <a:ln>
            <a:noFill/>
          </a:ln>
        </p:spPr>
        <p:txBody>
          <a:bodyPr wrap="square" lIns="0" tIns="0" rIns="0" bIns="0" anchor="ctr" anchorCtr="0">
            <a:noAutofit/>
          </a:bodyPr>
          <a:lstStyle>
            <a:lvl1pPr>
              <a:defRPr lang="vi" sz="3150"/>
            </a:lvl1pPr>
          </a:lstStyle>
          <a:p>
            <a:pPr algn="l"/>
            <a:r>
              <a:rPr lang="vi" sz="3150" b="1" dirty="0">
                <a:solidFill>
                  <a:schemeClr val="dk1"/>
                </a:solidFill>
                <a:latin typeface="+mj-lt"/>
                <a:ea typeface="+mj-ea"/>
                <a:cs typeface="+mj-cs"/>
              </a:rPr>
              <a:t>Click to add title</a:t>
            </a:r>
            <a:endParaRPr lang="vi"/>
          </a:p>
        </p:txBody>
      </p:sp>
      <p:sp>
        <p:nvSpPr>
          <p:cNvPr id="7" name="content-slot Placeholder"/>
          <p:cNvSpPr>
            <a:spLocks noGrp="1"/>
          </p:cNvSpPr>
          <p:nvPr>
            <p:ph type="body" idx="1"/>
          </p:nvPr>
        </p:nvSpPr>
        <p:spPr>
          <a:xfrm>
            <a:off x="762000" y="1238250"/>
            <a:ext cx="9906000" cy="5143500"/>
          </a:xfrm>
          <a:prstGeom prst="rect">
            <a:avLst/>
          </a:prstGeom>
          <a:noFill/>
          <a:ln>
            <a:noFill/>
          </a:ln>
        </p:spPr>
        <p:txBody>
          <a:bodyPr wrap="square" lIns="0" tIns="0" rIns="0" bIns="0" anchor="ctr" anchorCtr="0">
            <a:noAutofit/>
          </a:bodyPr>
          <a:lstStyle>
            <a:lvl1pPr marL="0" indent="0">
              <a:buNone/>
              <a:defRPr lang="vi" sz="1800"/>
            </a:lvl1pPr>
          </a:lstStyle>
          <a:p>
            <a:pPr marL="0" indent="0" algn="l">
              <a:lnSpc>
                <a:spcPts val="2550"/>
              </a:lnSpc>
              <a:buNone/>
            </a:pPr>
            <a:r>
              <a:rPr lang="vi" sz="1800" b="1" dirty="0">
                <a:solidFill>
                  <a:schemeClr val="accent1"/>
                </a:solidFill>
                <a:latin typeface="+mn-lt"/>
                <a:ea typeface="+mn-ea"/>
                <a:cs typeface="+mn-cs"/>
              </a:rPr>
              <a:t>Click to add text</a:t>
            </a:r>
            <a:endParaRPr lang="vi"/>
          </a:p>
        </p:txBody>
      </p:sp>
    </p:spTree>
    <p:extLst>
      <p:ext uri="{BB962C8B-B14F-4D97-AF65-F5344CB8AC3E}">
        <p14:creationId xmlns:p14="http://schemas.microsoft.com/office/powerpoint/2010/main" val="3297142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strip-blue Layout"/>
          <p:cNvSpPr/>
          <p:nvPr/>
        </p:nvSpPr>
        <p:spPr>
          <a:xfrm>
            <a:off x="0" y="0"/>
            <a:ext cx="371475" cy="6858000"/>
          </a:xfrm>
          <a:prstGeom prst="rect">
            <a:avLst/>
          </a:prstGeom>
          <a:solidFill>
            <a:schemeClr val="accent1"/>
          </a:solidFill>
          <a:ln>
            <a:noFill/>
          </a:ln>
        </p:spPr>
      </p:sp>
      <p:sp>
        <p:nvSpPr>
          <p:cNvPr id="3" name="strip-red Layout"/>
          <p:cNvSpPr/>
          <p:nvPr/>
        </p:nvSpPr>
        <p:spPr>
          <a:xfrm>
            <a:off x="11106150" y="0"/>
            <a:ext cx="361950" cy="6858000"/>
          </a:xfrm>
          <a:prstGeom prst="rect">
            <a:avLst/>
          </a:prstGeom>
          <a:solidFill>
            <a:schemeClr val="accent3"/>
          </a:solidFill>
          <a:ln>
            <a:noFill/>
          </a:ln>
        </p:spPr>
      </p:sp>
      <p:sp>
        <p:nvSpPr>
          <p:cNvPr id="4" name="strip-yellow Layout"/>
          <p:cNvSpPr/>
          <p:nvPr/>
        </p:nvSpPr>
        <p:spPr>
          <a:xfrm>
            <a:off x="11468100" y="0"/>
            <a:ext cx="361950" cy="6858000"/>
          </a:xfrm>
          <a:prstGeom prst="rect">
            <a:avLst/>
          </a:prstGeom>
          <a:solidFill>
            <a:schemeClr val="accent2"/>
          </a:solidFill>
          <a:ln>
            <a:noFill/>
          </a:ln>
        </p:spPr>
      </p:sp>
      <p:sp>
        <p:nvSpPr>
          <p:cNvPr id="5" name="strip-green Layout"/>
          <p:cNvSpPr/>
          <p:nvPr/>
        </p:nvSpPr>
        <p:spPr>
          <a:xfrm>
            <a:off x="11830050" y="0"/>
            <a:ext cx="361950" cy="6858000"/>
          </a:xfrm>
          <a:prstGeom prst="rect">
            <a:avLst/>
          </a:prstGeom>
          <a:solidFill>
            <a:schemeClr val="accent5"/>
          </a:solidFill>
          <a:ln>
            <a:noFill/>
          </a:ln>
        </p:spPr>
      </p:sp>
      <p:sp>
        <p:nvSpPr>
          <p:cNvPr id="6" name="frame-corner-blue Layout"/>
          <p:cNvSpPr/>
          <p:nvPr/>
        </p:nvSpPr>
        <p:spPr>
          <a:xfrm>
            <a:off x="6477000" y="1333500"/>
            <a:ext cx="571500" cy="571500"/>
          </a:xfrm>
          <a:prstGeom prst="rect">
            <a:avLst/>
          </a:prstGeom>
          <a:solidFill>
            <a:schemeClr val="accent1"/>
          </a:solidFill>
          <a:ln>
            <a:noFill/>
          </a:ln>
        </p:spPr>
      </p:sp>
      <p:sp>
        <p:nvSpPr>
          <p:cNvPr id="7" name="frame-yellow Layout"/>
          <p:cNvSpPr/>
          <p:nvPr/>
        </p:nvSpPr>
        <p:spPr>
          <a:xfrm>
            <a:off x="6667500" y="1524000"/>
            <a:ext cx="3810000" cy="3810000"/>
          </a:xfrm>
          <a:prstGeom prst="rect">
            <a:avLst/>
          </a:prstGeom>
          <a:solidFill>
            <a:srgbClr val="FBBD06"/>
          </a:solidFill>
          <a:ln>
            <a:noFill/>
          </a:ln>
        </p:spPr>
      </p:sp>
      <p:sp>
        <p:nvSpPr>
          <p:cNvPr id="8" name="frame-red Layout"/>
          <p:cNvSpPr/>
          <p:nvPr/>
        </p:nvSpPr>
        <p:spPr>
          <a:xfrm>
            <a:off x="6896100" y="1752600"/>
            <a:ext cx="3352800" cy="3352800"/>
          </a:xfrm>
          <a:prstGeom prst="rect">
            <a:avLst/>
          </a:prstGeom>
          <a:solidFill>
            <a:schemeClr val="accent3"/>
          </a:solidFill>
          <a:ln>
            <a:noFill/>
          </a:ln>
        </p:spPr>
      </p:sp>
      <p:sp>
        <p:nvSpPr>
          <p:cNvPr id="9" name="frame-corner-green Layout"/>
          <p:cNvSpPr/>
          <p:nvPr/>
        </p:nvSpPr>
        <p:spPr>
          <a:xfrm>
            <a:off x="10096500" y="4953000"/>
            <a:ext cx="571500" cy="571500"/>
          </a:xfrm>
          <a:prstGeom prst="rect">
            <a:avLst/>
          </a:prstGeom>
          <a:solidFill>
            <a:schemeClr val="accent5"/>
          </a:solidFill>
          <a:ln>
            <a:noFill/>
          </a:ln>
        </p:spPr>
      </p:sp>
      <p:sp>
        <p:nvSpPr>
          <p:cNvPr id="10" name="page-title-slot Placeholder"/>
          <p:cNvSpPr>
            <a:spLocks noGrp="1"/>
          </p:cNvSpPr>
          <p:nvPr>
            <p:ph type="title"/>
          </p:nvPr>
        </p:nvSpPr>
        <p:spPr>
          <a:xfrm>
            <a:off x="762000" y="342900"/>
            <a:ext cx="5715000" cy="666750"/>
          </a:xfrm>
          <a:prstGeom prst="rect">
            <a:avLst/>
          </a:prstGeom>
          <a:noFill/>
          <a:ln>
            <a:noFill/>
          </a:ln>
        </p:spPr>
        <p:txBody>
          <a:bodyPr wrap="square" lIns="0" tIns="0" rIns="0" bIns="0" anchor="ctr" anchorCtr="0">
            <a:noAutofit/>
          </a:bodyPr>
          <a:lstStyle>
            <a:lvl1pPr>
              <a:defRPr lang="vi" sz="3150"/>
            </a:lvl1pPr>
          </a:lstStyle>
          <a:p>
            <a:pPr algn="l"/>
            <a:r>
              <a:rPr lang="vi" sz="3150" b="1" dirty="0">
                <a:solidFill>
                  <a:schemeClr val="dk1"/>
                </a:solidFill>
                <a:latin typeface="+mj-lt"/>
                <a:ea typeface="+mj-ea"/>
                <a:cs typeface="+mj-cs"/>
              </a:rPr>
              <a:t>Click to add title</a:t>
            </a:r>
            <a:endParaRPr lang="vi"/>
          </a:p>
        </p:txBody>
      </p:sp>
      <p:sp>
        <p:nvSpPr>
          <p:cNvPr id="11" name="content-slot Placeholder"/>
          <p:cNvSpPr>
            <a:spLocks noGrp="1"/>
          </p:cNvSpPr>
          <p:nvPr>
            <p:ph type="body" idx="1"/>
          </p:nvPr>
        </p:nvSpPr>
        <p:spPr>
          <a:xfrm>
            <a:off x="762000" y="1238250"/>
            <a:ext cx="5334000" cy="5143500"/>
          </a:xfrm>
          <a:prstGeom prst="rect">
            <a:avLst/>
          </a:prstGeom>
          <a:noFill/>
          <a:ln>
            <a:noFill/>
          </a:ln>
        </p:spPr>
        <p:txBody>
          <a:bodyPr wrap="square" lIns="0" tIns="0" rIns="0" bIns="0" anchor="ctr" anchorCtr="0">
            <a:noAutofit/>
          </a:bodyPr>
          <a:lstStyle>
            <a:lvl1pPr marL="0" indent="0">
              <a:buNone/>
              <a:defRPr lang="vi" sz="1800"/>
            </a:lvl1pPr>
          </a:lstStyle>
          <a:p>
            <a:pPr marL="0" indent="0" algn="l">
              <a:lnSpc>
                <a:spcPts val="2550"/>
              </a:lnSpc>
              <a:buNone/>
            </a:pPr>
            <a:r>
              <a:rPr lang="vi" sz="1800" b="1" dirty="0">
                <a:solidFill>
                  <a:schemeClr val="accent3"/>
                </a:solidFill>
                <a:latin typeface="+mn-lt"/>
                <a:ea typeface="+mn-ea"/>
                <a:cs typeface="+mn-cs"/>
              </a:rPr>
              <a:t>Click to add text</a:t>
            </a:r>
            <a:endParaRPr lang="vi"/>
          </a:p>
        </p:txBody>
      </p:sp>
      <p:sp>
        <p:nvSpPr>
          <p:cNvPr id="12" name="picture-slot Placeholder"/>
          <p:cNvSpPr>
            <a:spLocks noGrp="1"/>
          </p:cNvSpPr>
          <p:nvPr>
            <p:ph type="pic" idx="2"/>
          </p:nvPr>
        </p:nvSpPr>
        <p:spPr>
          <a:xfrm>
            <a:off x="7086600" y="1943100"/>
            <a:ext cx="2971800" cy="2971800"/>
          </a:xfrm>
          <a:prstGeom prst="rect">
            <a:avLst/>
          </a:prstGeom>
          <a:noFill/>
          <a:ln>
            <a:noFill/>
          </a:ln>
        </p:spPr>
        <p:txBody>
          <a:bodyPr wrap="square" anchor="ctr" anchorCtr="0">
            <a:noAutofit/>
          </a:bodyPr>
          <a:lstStyle/>
          <a:p>
            <a:r>
              <a:rPr lang="vi"/>
              <a:t>Click to add picture</a:t>
            </a:r>
          </a:p>
        </p:txBody>
      </p:sp>
    </p:spTree>
    <p:extLst>
      <p:ext uri="{BB962C8B-B14F-4D97-AF65-F5344CB8AC3E}">
        <p14:creationId xmlns:p14="http://schemas.microsoft.com/office/powerpoint/2010/main" val="9007498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oogle Master">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Lst>
  <p:txStyles>
    <p:titleStyle>
      <a:lvl1pPr algn="ctr" defTabSz="457200" rtl="0" eaLnBrk="1" latinLnBrk="0" hangingPunct="1">
        <a:spcBef>
          <a:spcPct val="0"/>
        </a:spcBef>
        <a:buNone/>
        <a:defRPr lang="vi"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vi"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vi"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vi"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vi"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vi"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vi"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vi"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vi"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vi" sz="900" kern="1200">
          <a:solidFill>
            <a:schemeClr val="tx1"/>
          </a:solidFill>
          <a:latin typeface="+mn-lt"/>
          <a:ea typeface="+mn-ea"/>
          <a:cs typeface="+mn-cs"/>
        </a:defRPr>
      </a:lvl9pPr>
    </p:bodyStyle>
    <p:otherStyle>
      <a:defPPr>
        <a:defRPr lang="vi"/>
      </a:defPPr>
      <a:lvl1pPr marL="0" algn="l" defTabSz="457200" rtl="0" eaLnBrk="1" latinLnBrk="0" hangingPunct="1">
        <a:defRPr lang="vi" sz="1800" kern="1200">
          <a:solidFill>
            <a:schemeClr val="tx1"/>
          </a:solidFill>
          <a:latin typeface="+mn-lt"/>
          <a:ea typeface="+mn-ea"/>
          <a:cs typeface="+mn-cs"/>
        </a:defRPr>
      </a:lvl1pPr>
      <a:lvl2pPr marL="457200" algn="l" defTabSz="457200" rtl="0" eaLnBrk="1" latinLnBrk="0" hangingPunct="1">
        <a:defRPr lang="vi" sz="1700" kern="1200">
          <a:solidFill>
            <a:schemeClr val="tx1"/>
          </a:solidFill>
          <a:latin typeface="+mn-lt"/>
          <a:ea typeface="+mn-ea"/>
          <a:cs typeface="+mn-cs"/>
        </a:defRPr>
      </a:lvl2pPr>
      <a:lvl3pPr marL="914400" algn="l" defTabSz="457200" rtl="0" eaLnBrk="1" latinLnBrk="0" hangingPunct="1">
        <a:defRPr lang="vi" sz="1600" kern="1200">
          <a:solidFill>
            <a:schemeClr val="tx1"/>
          </a:solidFill>
          <a:latin typeface="+mn-lt"/>
          <a:ea typeface="+mn-ea"/>
          <a:cs typeface="+mn-cs"/>
        </a:defRPr>
      </a:lvl3pPr>
      <a:lvl4pPr marL="1371600" algn="l" defTabSz="457200" rtl="0" eaLnBrk="1" latinLnBrk="0" hangingPunct="1">
        <a:defRPr lang="vi" sz="1450" kern="1200">
          <a:solidFill>
            <a:schemeClr val="tx1"/>
          </a:solidFill>
          <a:latin typeface="+mn-lt"/>
          <a:ea typeface="+mn-ea"/>
          <a:cs typeface="+mn-cs"/>
        </a:defRPr>
      </a:lvl4pPr>
      <a:lvl5pPr marL="1828800" algn="l" defTabSz="457200" rtl="0" eaLnBrk="1" latinLnBrk="0" hangingPunct="1">
        <a:defRPr lang="vi" sz="1350" kern="1200">
          <a:solidFill>
            <a:schemeClr val="tx1"/>
          </a:solidFill>
          <a:latin typeface="+mn-lt"/>
          <a:ea typeface="+mn-ea"/>
          <a:cs typeface="+mn-cs"/>
        </a:defRPr>
      </a:lvl5pPr>
      <a:lvl6pPr marL="2286000" algn="l" defTabSz="457200" rtl="0" eaLnBrk="1" latinLnBrk="0" hangingPunct="1">
        <a:defRPr lang="vi" sz="1250" kern="1200">
          <a:solidFill>
            <a:schemeClr val="tx1"/>
          </a:solidFill>
          <a:latin typeface="+mn-lt"/>
          <a:ea typeface="+mn-ea"/>
          <a:cs typeface="+mn-cs"/>
        </a:defRPr>
      </a:lvl6pPr>
      <a:lvl7pPr marL="2743200" algn="l" defTabSz="457200" rtl="0" eaLnBrk="1" latinLnBrk="0" hangingPunct="1">
        <a:defRPr lang="vi" sz="1100" kern="1200">
          <a:solidFill>
            <a:schemeClr val="tx1"/>
          </a:solidFill>
          <a:latin typeface="+mn-lt"/>
          <a:ea typeface="+mn-ea"/>
          <a:cs typeface="+mn-cs"/>
        </a:defRPr>
      </a:lvl7pPr>
      <a:lvl8pPr marL="3200400" algn="l" defTabSz="457200" rtl="0" eaLnBrk="1" latinLnBrk="0" hangingPunct="1">
        <a:defRPr lang="vi" sz="1000" kern="1200">
          <a:solidFill>
            <a:schemeClr val="tx1"/>
          </a:solidFill>
          <a:latin typeface="+mn-lt"/>
          <a:ea typeface="+mn-ea"/>
          <a:cs typeface="+mn-cs"/>
        </a:defRPr>
      </a:lvl8pPr>
      <a:lvl9pPr marL="3657600" algn="l" defTabSz="457200" rtl="0" eaLnBrk="1" latinLnBrk="0" hangingPunct="1">
        <a:defRPr lang="vi"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slot Placeholder Carrier"/>
          <p:cNvSpPr txBox="1">
            <a:spLocks noGrp="1"/>
          </p:cNvSpPr>
          <p:nvPr>
            <p:ph type="title"/>
          </p:nvPr>
        </p:nvSpPr>
        <p:spPr>
          <a:xfrm>
            <a:off x="935736" y="2451100"/>
            <a:ext cx="2885556"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j-lt"/>
                <a:ea typeface="+mj-ea"/>
                <a:cs typeface="+mj-cs"/>
              </a:rPr>
              <a:t>TeamUp EXE</a:t>
            </a:r>
          </a:p>
        </p:txBody>
      </p:sp>
      <p:sp>
        <p:nvSpPr>
          <p:cNvPr id="14" name="subtitle-slot Placeholder Carrier"/>
          <p:cNvSpPr txBox="1">
            <a:spLocks noGrp="1"/>
          </p:cNvSpPr>
          <p:nvPr>
            <p:ph type="subTitle" idx="1"/>
          </p:nvPr>
        </p:nvSpPr>
        <p:spPr>
          <a:xfrm>
            <a:off x="940308" y="3441700"/>
            <a:ext cx="3188054" cy="469392"/>
          </a:xfrm>
          <a:prstGeom prst="rect">
            <a:avLst/>
          </a:prstGeom>
          <a:noFill/>
          <a:ln>
            <a:noFill/>
          </a:ln>
        </p:spPr>
        <p:txBody>
          <a:bodyPr wrap="none" lIns="0" tIns="0" rIns="0" bIns="0" anchor="t" anchorCtr="0">
            <a:spAutoFit/>
          </a:bodyPr>
          <a:lstStyle/>
          <a:p>
            <a:pPr marL="0" indent="0" algn="l">
              <a:buNone/>
            </a:pPr>
            <a:r>
              <a:rPr lang="vi" sz="2400" dirty="0">
                <a:solidFill>
                  <a:schemeClr val="accent1"/>
                </a:solidFill>
                <a:latin typeface="+mn-lt"/>
                <a:ea typeface="+mn-ea"/>
                <a:cs typeface="+mn-cs"/>
              </a:rPr>
              <a:t>AI gợi ý, mentor duyệt</a:t>
            </a:r>
          </a:p>
        </p:txBody>
      </p:sp>
      <p:sp>
        <p:nvSpPr>
          <p:cNvPr id="15" name="author-slot Placeholder Carrier"/>
          <p:cNvSpPr txBox="1">
            <a:spLocks noGrp="1"/>
          </p:cNvSpPr>
          <p:nvPr>
            <p:ph type="body" idx="2"/>
          </p:nvPr>
        </p:nvSpPr>
        <p:spPr>
          <a:xfrm>
            <a:off x="943356" y="4108450"/>
            <a:ext cx="5165354" cy="675894"/>
          </a:xfrm>
          <a:prstGeom prst="rect">
            <a:avLst/>
          </a:prstGeom>
          <a:noFill/>
          <a:ln>
            <a:noFill/>
          </a:ln>
        </p:spPr>
        <p:txBody>
          <a:bodyPr wrap="none" lIns="0" tIns="0" rIns="0" bIns="0" anchor="t" anchorCtr="0">
            <a:noAutofit/>
          </a:bodyPr>
          <a:lstStyle/>
          <a:p>
            <a:pPr marL="0" indent="0" algn="l">
              <a:lnSpc>
                <a:spcPts val="2550"/>
              </a:lnSpc>
              <a:buNone/>
            </a:pPr>
            <a:r>
              <a:rPr lang="vi" sz="1800" dirty="0">
                <a:solidFill>
                  <a:schemeClr val="dk1"/>
                </a:solidFill>
                <a:latin typeface="+mn-lt"/>
                <a:ea typeface="+mn-ea"/>
                <a:cs typeface="+mn-cs"/>
              </a:rPr>
              <a:t>Ứng dụng di động cho mentor/giảng viên môn EXE </a:t>
            </a:r>
            <a:r>
              <a:rPr lang="en-US" dirty="0">
                <a:solidFill>
                  <a:schemeClr val="dk1"/>
                </a:solidFill>
              </a:rPr>
              <a:t>Group 6</a:t>
            </a:r>
            <a:endParaRPr lang="vi" sz="1800" b="1" dirty="0">
              <a:solidFill>
                <a:schemeClr val="accent3"/>
              </a:solidFill>
              <a:latin typeface="+mn-lt"/>
              <a:ea typeface="+mn-ea"/>
              <a:cs typeface="+mn-cs"/>
            </a:endParaRPr>
          </a:p>
        </p:txBody>
      </p:sp>
      <p:sp>
        <p:nvSpPr>
          <p:cNvPr id="16" name="date-slot Placeholder Carrier"/>
          <p:cNvSpPr txBox="1">
            <a:spLocks noGrp="1"/>
          </p:cNvSpPr>
          <p:nvPr>
            <p:ph type="dt" idx="3"/>
          </p:nvPr>
        </p:nvSpPr>
        <p:spPr>
          <a:xfrm>
            <a:off x="945642" y="5130800"/>
            <a:ext cx="113671"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a:t>
            </a:r>
          </a:p>
        </p:txBody>
      </p:sp>
      <p:grpSp>
        <p:nvGrpSpPr>
          <p:cNvPr id="20" name="cover-facts"/>
          <p:cNvGrpSpPr/>
          <p:nvPr/>
        </p:nvGrpSpPr>
        <p:grpSpPr>
          <a:xfrm>
            <a:off x="945642" y="5489575"/>
            <a:ext cx="6876373" cy="944349"/>
            <a:chOff x="945642" y="5489575"/>
            <a:chExt cx="6876373" cy="944349"/>
          </a:xfrm>
        </p:grpSpPr>
        <p:sp>
          <p:nvSpPr>
            <p:cNvPr id="17" name="TextBox 17"/>
            <p:cNvSpPr txBox="1"/>
            <p:nvPr/>
          </p:nvSpPr>
          <p:spPr>
            <a:xfrm>
              <a:off x="939800" y="5384800"/>
              <a:ext cx="8128000" cy="492633"/>
            </a:xfrm>
            <a:prstGeom prst="rect">
              <a:avLst/>
            </a:prstGeom>
            <a:noFill/>
            <a:ln>
              <a:noFill/>
            </a:ln>
          </p:spPr>
          <p:txBody>
            <a:bodyPr wrap="square" lIns="0" tIns="0" rIns="0" bIns="0" anchor="t" anchorCtr="0">
              <a:spAutoFit/>
            </a:bodyPr>
            <a:lstStyle/>
            <a:p>
              <a:pPr algn="l">
                <a:lnSpc>
                  <a:spcPts val="1800"/>
                </a:lnSpc>
              </a:pPr>
              <a:r>
                <a:rPr lang="vi" sz="1350" dirty="0">
                  <a:solidFill>
                    <a:schemeClr val="accent6"/>
                  </a:solidFill>
                  <a:latin typeface="+mn-lt"/>
                  <a:ea typeface="+mn-ea"/>
                  <a:cs typeface="+mn-cs"/>
                </a:rPr>
                <a:t>AI gợi ý ghép sinh viên chưa có nhóm vào nhóm đang thiếu 1-2 thành viên </a:t>
              </a:r>
              <a:r>
                <a:rPr lang="vi" sz="1350" dirty="0">
                  <a:solidFill>
                    <a:schemeClr val="accent6"/>
                  </a:solidFill>
                  <a:latin typeface="+mn-lt"/>
                  <a:ea typeface="+mn-ea"/>
                  <a:cs typeface="+mn-cs"/>
                </a:rPr>
                <a:t>chuyên môn; mentor duyệt</a:t>
              </a:r>
            </a:p>
          </p:txBody>
        </p:sp>
        <p:sp>
          <p:nvSpPr>
            <p:cNvPr id="18" name="TextBox 18"/>
            <p:cNvSpPr txBox="1"/>
            <p:nvPr/>
          </p:nvSpPr>
          <p:spPr>
            <a:xfrm>
              <a:off x="939800" y="5918200"/>
              <a:ext cx="8128000" cy="264033"/>
            </a:xfrm>
            <a:prstGeom prst="rect">
              <a:avLst/>
            </a:prstGeom>
            <a:noFill/>
            <a:ln>
              <a:noFill/>
            </a:ln>
          </p:spPr>
          <p:txBody>
            <a:bodyPr wrap="square" lIns="0" tIns="0" rIns="0" bIns="0" anchor="t" anchorCtr="0">
              <a:spAutoFit/>
            </a:bodyPr>
            <a:lstStyle/>
            <a:p>
              <a:pPr algn="l"/>
              <a:r>
                <a:rPr lang="vi" sz="1350" dirty="0">
                  <a:solidFill>
                    <a:schemeClr val="accent6"/>
                  </a:solidFill>
                  <a:latin typeface="+mn-lt"/>
                  <a:ea typeface="+mn-ea"/>
                  <a:cs typeface="+mn-cs"/>
                </a:rPr>
                <a:t>Đối tượng: mentor và giảng viên EXE (Cô Lan, 3 lớp, nhiều ngành SE, AI, MKT, GD)</a:t>
              </a:r>
            </a:p>
          </p:txBody>
        </p:sp>
        <p:sp>
          <p:nvSpPr>
            <p:cNvPr id="19" name="TextBox 19"/>
            <p:cNvSpPr txBox="1"/>
            <p:nvPr/>
          </p:nvSpPr>
          <p:spPr>
            <a:xfrm>
              <a:off x="939800" y="6197600"/>
              <a:ext cx="8128000" cy="558800"/>
            </a:xfrm>
            <a:prstGeom prst="rect">
              <a:avLst/>
            </a:prstGeom>
            <a:noFill/>
            <a:ln>
              <a:noFill/>
            </a:ln>
          </p:spPr>
          <p:txBody>
            <a:bodyPr wrap="square" lIns="0" tIns="0" rIns="0" bIns="0" anchor="t" anchorCtr="0">
              <a:spAutoFit/>
            </a:bodyPr>
            <a:lstStyle/>
            <a:p>
              <a:pPr algn="l"/>
              <a:r>
                <a:rPr lang="vi" sz="1350" dirty="0">
                  <a:solidFill>
                    <a:schemeClr val="accent6"/>
                  </a:solidFill>
                  <a:latin typeface="+mn-lt"/>
                  <a:ea typeface="+mn-ea"/>
                  <a:cs typeface="+mn-cs"/>
                </a:rPr>
                <a:t>GitHub: github.com/Kenn0679/prm323-lab2-group6</a:t>
              </a:r>
              <a:endParaRPr lang="vi" sz="1350" b="1" dirty="0">
                <a:solidFill>
                  <a:schemeClr val="accent3"/>
                </a:solidFill>
                <a:latin typeface="+mn-lt"/>
                <a:ea typeface="+mn-ea"/>
                <a:cs typeface="+mn-cs"/>
              </a:endParaRPr>
            </a:p>
            <a:p>
              <a:pPr algn="l"/>
              <a:r>
                <a:rPr lang="vi" sz="1350" dirty="0">
                  <a:solidFill>
                    <a:schemeClr val="accent6"/>
                  </a:solidFill>
                  <a:latin typeface="+mn-lt"/>
                  <a:ea typeface="+mn-ea"/>
                  <a:cs typeface="+mn-cs"/>
                </a:rPr>
                <a:t>Figma: figma.com/design/X5WcaK4s20AYF53cvRdouV/TeamUp-EXE---Mentor--PRM323-Lab-2-</a:t>
              </a:r>
              <a:endParaRPr lang="vi" sz="1350" b="1" dirty="0">
                <a:solidFill>
                  <a:schemeClr val="accent3"/>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ge-title-slot Placeholder Carrier"/>
          <p:cNvSpPr txBox="1">
            <a:spLocks noGrp="1"/>
          </p:cNvSpPr>
          <p:nvPr>
            <p:ph type="title"/>
          </p:nvPr>
        </p:nvSpPr>
        <p:spPr>
          <a:xfrm>
            <a:off x="745998" y="406400"/>
            <a:ext cx="3833687"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Vấn đề và Persona</a:t>
            </a:r>
          </a:p>
        </p:txBody>
      </p:sp>
      <p:sp>
        <p:nvSpPr>
          <p:cNvPr id="8" name="content-slot Placeholder Carrier"/>
          <p:cNvSpPr txBox="1">
            <a:spLocks noGrp="1"/>
          </p:cNvSpPr>
          <p:nvPr>
            <p:ph type="body" idx="1"/>
          </p:nvPr>
        </p:nvSpPr>
        <p:spPr>
          <a:xfrm>
            <a:off x="752856" y="1327150"/>
            <a:ext cx="7960492" cy="3400044"/>
          </a:xfrm>
          <a:prstGeom prst="rect">
            <a:avLst/>
          </a:prstGeom>
          <a:noFill/>
          <a:ln>
            <a:noFill/>
          </a:ln>
        </p:spPr>
        <p:txBody>
          <a:bodyPr wrap="none" lIns="0" tIns="0" rIns="0" bIns="0" anchor="t" anchorCtr="0">
            <a:noAutofit/>
          </a:bodyPr>
          <a:lstStyle/>
          <a:p>
            <a:pPr marL="0" indent="0" algn="l">
              <a:lnSpc>
                <a:spcPts val="2550"/>
              </a:lnSpc>
              <a:buNone/>
            </a:pPr>
            <a:r>
              <a:rPr lang="vi" sz="1800" b="1" dirty="0">
                <a:solidFill>
                  <a:schemeClr val="accent1"/>
                </a:solidFill>
                <a:latin typeface="+mn-lt"/>
                <a:ea typeface="+mn-ea"/>
                <a:cs typeface="+mn-cs"/>
              </a:rPr>
              <a:t>Persona:</a:t>
            </a:r>
            <a:r>
              <a:rPr lang="vi" sz="1800" dirty="0">
                <a:solidFill>
                  <a:schemeClr val="dk1"/>
                </a:solidFill>
                <a:latin typeface="+mn-lt"/>
                <a:ea typeface="+mn-ea"/>
                <a:cs typeface="+mn-cs"/>
              </a:rPr>
              <a:t> Cô Lan, 38 tuổi, giảng viên và mentor 3 lớp EXE (~40 sinh viên/lớp)</a:t>
            </a:r>
          </a:p>
          <a:p>
            <a:pPr marL="0" indent="0" algn="l">
              <a:lnSpc>
                <a:spcPts val="2550"/>
              </a:lnSpc>
              <a:spcBef>
                <a:spcPts val="900"/>
              </a:spcBef>
              <a:buNone/>
            </a:pPr>
            <a:r>
              <a:rPr lang="vi" sz="1800" b="1" dirty="0">
                <a:solidFill>
                  <a:schemeClr val="accent1"/>
                </a:solidFill>
                <a:latin typeface="+mn-lt"/>
                <a:ea typeface="+mn-ea"/>
                <a:cs typeface="+mn-cs"/>
              </a:rPr>
              <a:t>Pain points:</a:t>
            </a:r>
            <a:r>
              <a:rPr lang="vi" sz="1800" dirty="0">
                <a:solidFill>
                  <a:schemeClr val="dk1"/>
                </a:solidFill>
                <a:latin typeface="+mn-lt"/>
                <a:ea typeface="+mn-ea"/>
                <a:cs typeface="+mn-cs"/>
              </a:rPr>
              <a:t> nhiều bạn chưa có nhóm; ghép tay bằng Excel và tin nhắn </a:t>
            </a:r>
            <a:r>
              <a:rPr lang="vi" sz="1800" dirty="0">
                <a:solidFill>
                  <a:schemeClr val="dk1"/>
                </a:solidFill>
                <a:latin typeface="+mn-lt"/>
                <a:ea typeface="+mn-ea"/>
                <a:cs typeface="+mn-cs"/>
              </a:rPr>
              <a:t>khó nhớ ngành, kỹ năng, lịch rảnh; ghép vội thì nhóm lệch ngành </a:t>
            </a:r>
            <a:r>
              <a:rPr lang="vi" sz="1800" dirty="0">
                <a:solidFill>
                  <a:schemeClr val="dk1"/>
                </a:solidFill>
                <a:latin typeface="+mn-lt"/>
                <a:ea typeface="+mn-ea"/>
                <a:cs typeface="+mn-cs"/>
              </a:rPr>
              <a:t>(chỉ lộ ra giữa kỳ); mentor chỉ có vài phút mỗi lần</a:t>
            </a:r>
          </a:p>
          <a:p>
            <a:pPr marL="0" indent="0" algn="l">
              <a:lnSpc>
                <a:spcPts val="2550"/>
              </a:lnSpc>
              <a:spcBef>
                <a:spcPts val="900"/>
              </a:spcBef>
              <a:buNone/>
            </a:pPr>
            <a:r>
              <a:rPr lang="vi" sz="1800" b="1" dirty="0">
                <a:solidFill>
                  <a:schemeClr val="accent1"/>
                </a:solidFill>
                <a:latin typeface="+mn-lt"/>
                <a:ea typeface="+mn-ea"/>
                <a:cs typeface="+mn-cs"/>
              </a:rPr>
              <a:t>Vấn đề:</a:t>
            </a:r>
            <a:r>
              <a:rPr lang="vi" sz="1800" dirty="0">
                <a:solidFill>
                  <a:schemeClr val="dk1"/>
                </a:solidFill>
                <a:latin typeface="+mn-lt"/>
                <a:ea typeface="+mn-ea"/>
                <a:cs typeface="+mn-cs"/>
              </a:rPr>
              <a:t> mentor có sinh viên chưa có nhóm và nhóm thiếu chuyên môn, nhưng </a:t>
            </a:r>
            <a:r>
              <a:rPr lang="vi" sz="1800" dirty="0">
                <a:solidFill>
                  <a:schemeClr val="dk1"/>
                </a:solidFill>
                <a:latin typeface="+mn-lt"/>
                <a:ea typeface="+mn-ea"/>
                <a:cs typeface="+mn-cs"/>
              </a:rPr>
              <a:t>phải ghép thủ công nên mất thời gian và dễ lệch ngành</a:t>
            </a:r>
          </a:p>
          <a:p>
            <a:pPr marL="0" indent="0" algn="l">
              <a:lnSpc>
                <a:spcPts val="2550"/>
              </a:lnSpc>
              <a:spcBef>
                <a:spcPts val="900"/>
              </a:spcBef>
              <a:buNone/>
            </a:pPr>
            <a:r>
              <a:rPr lang="vi" sz="1800" b="1" dirty="0">
                <a:solidFill>
                  <a:schemeClr val="accent1"/>
                </a:solidFill>
                <a:latin typeface="+mn-lt"/>
                <a:ea typeface="+mn-ea"/>
                <a:cs typeface="+mn-cs"/>
              </a:rPr>
              <a:t>Tiêu chí:</a:t>
            </a:r>
            <a:r>
              <a:rPr lang="vi" sz="1800" dirty="0">
                <a:solidFill>
                  <a:schemeClr val="dk1"/>
                </a:solidFill>
                <a:latin typeface="+mn-lt"/>
                <a:ea typeface="+mn-ea"/>
                <a:cs typeface="+mn-cs"/>
              </a:rPr>
              <a:t> (1) duyệt gợi ý AI cho một lớp dưới 5 phút; (2) mỗi nhóm 4-6 người, </a:t>
            </a:r>
            <a:r>
              <a:rPr lang="vi" sz="1800" dirty="0">
                <a:solidFill>
                  <a:schemeClr val="dk1"/>
                </a:solidFill>
                <a:latin typeface="+mn-lt"/>
                <a:ea typeface="+mn-ea"/>
                <a:cs typeface="+mn-cs"/>
              </a:rPr>
              <a:t>ít nhất 3 ngành; (3) thêm hoặc đổi một thành viên rồi duyệt dưới 60 giây</a:t>
            </a:r>
          </a:p>
          <a:p>
            <a:pPr marL="0" indent="0" algn="l">
              <a:lnSpc>
                <a:spcPts val="2550"/>
              </a:lnSpc>
              <a:spcBef>
                <a:spcPts val="900"/>
              </a:spcBef>
              <a:buNone/>
            </a:pPr>
            <a:r>
              <a:rPr lang="vi" sz="1800" b="1" dirty="0">
                <a:solidFill>
                  <a:schemeClr val="accent1"/>
                </a:solidFill>
                <a:latin typeface="+mn-lt"/>
                <a:ea typeface="+mn-ea"/>
                <a:cs typeface="+mn-cs"/>
              </a:rPr>
              <a:t>Lưu ý:</a:t>
            </a:r>
            <a:r>
              <a:rPr lang="vi" sz="1800" dirty="0">
                <a:solidFill>
                  <a:schemeClr val="dk1"/>
                </a:solidFill>
                <a:latin typeface="+mn-lt"/>
                <a:ea typeface="+mn-ea"/>
                <a:cs typeface="+mn-cs"/>
              </a:rPr>
              <a:t> persona là giả định của nhóm (giả định, chưa kiểm chứng với người dùng thật)</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1"/>
            </a:solidFill>
            <a:ln>
              <a:noFill/>
            </a:ln>
          </p:spPr>
          <p:txBody>
            <a:bodyPr/>
            <a:lstStyle/>
            <a:p>
              <a:endParaRPr/>
            </a:p>
          </p:txBody>
        </p:sp>
      </p:grpSp>
      <p:grpSp>
        <p:nvGrpSpPr>
          <p:cNvPr id="12" name="source-note"/>
          <p:cNvGrpSpPr/>
          <p:nvPr/>
        </p:nvGrpSpPr>
        <p:grpSpPr>
          <a:xfrm>
            <a:off x="755142" y="6121400"/>
            <a:ext cx="1858963" cy="264033"/>
            <a:chOff x="755142" y="6121400"/>
            <a:chExt cx="1858963" cy="264033"/>
          </a:xfrm>
        </p:grpSpPr>
        <p:sp>
          <p:nvSpPr>
            <p:cNvPr id="11" name="TextBox 11"/>
            <p:cNvSpPr txBox="1"/>
            <p:nvPr/>
          </p:nvSpPr>
          <p:spPr>
            <a:xfrm>
              <a:off x="755142" y="6121400"/>
              <a:ext cx="1858963"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ux/persona.md</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ge-title-slot Placeholder Carrier"/>
          <p:cNvSpPr txBox="1">
            <a:spLocks noGrp="1"/>
          </p:cNvSpPr>
          <p:nvPr>
            <p:ph type="title"/>
          </p:nvPr>
        </p:nvSpPr>
        <p:spPr>
          <a:xfrm>
            <a:off x="745998" y="406400"/>
            <a:ext cx="5004208"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Information Architecture</a:t>
            </a:r>
          </a:p>
        </p:txBody>
      </p:sp>
      <p:sp>
        <p:nvSpPr>
          <p:cNvPr id="8" name="content-slot Placeholder Carrier"/>
          <p:cNvSpPr txBox="1">
            <a:spLocks noGrp="1"/>
          </p:cNvSpPr>
          <p:nvPr>
            <p:ph type="body" idx="1"/>
          </p:nvPr>
        </p:nvSpPr>
        <p:spPr>
          <a:xfrm>
            <a:off x="752856" y="1327150"/>
            <a:ext cx="7643332" cy="2599944"/>
          </a:xfrm>
          <a:prstGeom prst="rect">
            <a:avLst/>
          </a:prstGeom>
          <a:noFill/>
          <a:ln>
            <a:noFill/>
          </a:ln>
        </p:spPr>
        <p:txBody>
          <a:bodyPr wrap="none" lIns="0" tIns="0" rIns="0" bIns="0" anchor="t" anchorCtr="0">
            <a:noAutofit/>
          </a:bodyPr>
          <a:lstStyle/>
          <a:p>
            <a:pPr marL="0" indent="0" algn="l">
              <a:lnSpc>
                <a:spcPts val="2550"/>
              </a:lnSpc>
              <a:buNone/>
            </a:pPr>
            <a:r>
              <a:rPr lang="vi" sz="1800" dirty="0">
                <a:solidFill>
                  <a:schemeClr val="dk1"/>
                </a:solidFill>
                <a:latin typeface="+mn-lt"/>
                <a:ea typeface="+mn-ea"/>
                <a:cs typeface="+mn-cs"/>
              </a:rPr>
              <a:t>25 màn hình S1-S25; thanh điều hướng 3 tab: </a:t>
            </a:r>
            <a:r>
              <a:rPr lang="vi" sz="1800" b="1" dirty="0">
                <a:solidFill>
                  <a:schemeClr val="accent1"/>
                </a:solidFill>
                <a:latin typeface="+mn-lt"/>
                <a:ea typeface="+mn-ea"/>
                <a:cs typeface="+mn-cs"/>
              </a:rPr>
              <a:t>Classes, Proposals, Profile</a:t>
            </a:r>
          </a:p>
          <a:p>
            <a:pPr marL="0" indent="0" algn="l">
              <a:lnSpc>
                <a:spcPts val="2550"/>
              </a:lnSpc>
              <a:spcBef>
                <a:spcPts val="1650"/>
              </a:spcBef>
              <a:buNone/>
            </a:pPr>
            <a:r>
              <a:rPr lang="vi" sz="1800" b="1" dirty="0">
                <a:solidFill>
                  <a:schemeClr val="accent1"/>
                </a:solidFill>
                <a:latin typeface="+mn-lt"/>
                <a:ea typeface="+mn-ea"/>
                <a:cs typeface="+mn-cs"/>
              </a:rPr>
              <a:t>Classes (S2)</a:t>
            </a:r>
            <a:r>
              <a:rPr lang="vi" sz="1800" dirty="0">
                <a:solidFill>
                  <a:schemeClr val="dk1"/>
                </a:solidFill>
                <a:latin typeface="+mn-lt"/>
                <a:ea typeface="+mn-ea"/>
                <a:cs typeface="+mn-cs"/>
              </a:rPr>
              <a:t> → Class detail (S3) → </a:t>
            </a:r>
            <a:r>
              <a:rPr lang="vi" sz="1800" dirty="0">
                <a:solidFill>
                  <a:schemeClr val="dk1"/>
                </a:solidFill>
                <a:latin typeface="+mn-lt"/>
                <a:ea typeface="+mn-ea"/>
                <a:cs typeface="+mn-cs"/>
              </a:rPr>
              <a:t>No team (S4), Need members (S5), Student detail (S7)</a:t>
            </a:r>
          </a:p>
          <a:p>
            <a:pPr marL="0" indent="0" algn="l">
              <a:lnSpc>
                <a:spcPts val="2550"/>
              </a:lnSpc>
              <a:spcBef>
                <a:spcPts val="1650"/>
              </a:spcBef>
              <a:buNone/>
            </a:pPr>
            <a:r>
              <a:rPr lang="vi" sz="1800" b="1" dirty="0">
                <a:solidFill>
                  <a:schemeClr val="accent3"/>
                </a:solidFill>
                <a:latin typeface="+mn-lt"/>
                <a:ea typeface="+mn-ea"/>
                <a:cs typeface="+mn-cs"/>
              </a:rPr>
              <a:t>Proposals (S9)</a:t>
            </a:r>
            <a:r>
              <a:rPr lang="vi" sz="1800" dirty="0">
                <a:solidFill>
                  <a:schemeClr val="dk1"/>
                </a:solidFill>
                <a:latin typeface="+mn-lt"/>
                <a:ea typeface="+mn-ea"/>
                <a:cs typeface="+mn-cs"/>
              </a:rPr>
              <a:t> → Proposal detail (S10) → Add member (S11) → </a:t>
            </a:r>
            <a:r>
              <a:rPr lang="vi" sz="1800" dirty="0">
                <a:solidFill>
                  <a:schemeClr val="dk1"/>
                </a:solidFill>
                <a:latin typeface="+mn-lt"/>
                <a:ea typeface="+mn-ea"/>
                <a:cs typeface="+mn-cs"/>
              </a:rPr>
              <a:t>Approve dialog (S12) / Discard dialog (S17)</a:t>
            </a:r>
          </a:p>
          <a:p>
            <a:pPr marL="0" indent="0" algn="l">
              <a:lnSpc>
                <a:spcPts val="2550"/>
              </a:lnSpc>
              <a:spcBef>
                <a:spcPts val="1650"/>
              </a:spcBef>
              <a:buNone/>
            </a:pPr>
            <a:r>
              <a:rPr lang="vi" sz="1800" dirty="0">
                <a:solidFill>
                  <a:schemeClr val="dk1"/>
                </a:solidFill>
                <a:latin typeface="+mn-lt"/>
                <a:ea typeface="+mn-ea"/>
                <a:cs typeface="+mn-cs"/>
              </a:rPr>
              <a:t>Mỗi màn thuộc ít nhất một flow (S6 Profile là tab gốc; S19-S21 là đường lỗi và nhánh ghép tay)</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1"/>
            </a:solidFill>
            <a:ln>
              <a:noFill/>
            </a:ln>
          </p:spPr>
          <p:txBody>
            <a:bodyPr/>
            <a:lstStyle/>
            <a:p>
              <a:endParaRPr/>
            </a:p>
          </p:txBody>
        </p:sp>
      </p:grpSp>
      <p:grpSp>
        <p:nvGrpSpPr>
          <p:cNvPr id="12" name="source-note"/>
          <p:cNvGrpSpPr/>
          <p:nvPr/>
        </p:nvGrpSpPr>
        <p:grpSpPr>
          <a:xfrm>
            <a:off x="755142" y="6121400"/>
            <a:ext cx="3287689" cy="264033"/>
            <a:chOff x="755142" y="6121400"/>
            <a:chExt cx="3287689" cy="264033"/>
          </a:xfrm>
        </p:grpSpPr>
        <p:sp>
          <p:nvSpPr>
            <p:cNvPr id="11" name="TextBox 11"/>
            <p:cNvSpPr txBox="1"/>
            <p:nvPr/>
          </p:nvSpPr>
          <p:spPr>
            <a:xfrm>
              <a:off x="755142" y="6121400"/>
              <a:ext cx="3287689"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ux/user-flow.md; Figma Page 01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ge-title-slot Placeholder Carrier"/>
          <p:cNvSpPr txBox="1">
            <a:spLocks noGrp="1"/>
          </p:cNvSpPr>
          <p:nvPr>
            <p:ph type="title"/>
          </p:nvPr>
        </p:nvSpPr>
        <p:spPr>
          <a:xfrm>
            <a:off x="745998" y="406400"/>
            <a:ext cx="256761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Ba user flow</a:t>
            </a:r>
          </a:p>
        </p:txBody>
      </p:sp>
      <p:sp>
        <p:nvSpPr>
          <p:cNvPr id="8" name="content-slot Placeholder Carrier"/>
          <p:cNvSpPr txBox="1">
            <a:spLocks noGrp="1"/>
          </p:cNvSpPr>
          <p:nvPr>
            <p:ph type="body" idx="1"/>
          </p:nvPr>
        </p:nvSpPr>
        <p:spPr>
          <a:xfrm>
            <a:off x="752856" y="5753100"/>
            <a:ext cx="4336736" cy="352044"/>
          </a:xfrm>
          <a:prstGeom prst="rect">
            <a:avLst/>
          </a:prstGeom>
          <a:noFill/>
          <a:ln>
            <a:noFill/>
          </a:ln>
        </p:spPr>
        <p:txBody>
          <a:bodyPr wrap="none" lIns="0" tIns="0" rIns="0" bIns="0" anchor="t" anchorCtr="0">
            <a:spAutoFit/>
          </a:bodyPr>
          <a:lstStyle/>
          <a:p>
            <a:pPr marL="0" indent="0" algn="l">
              <a:buNone/>
            </a:pPr>
            <a:r>
              <a:rPr lang="vi" sz="1800" dirty="0">
                <a:solidFill>
                  <a:schemeClr val="dk1"/>
                </a:solidFill>
                <a:latin typeface="+mn-lt"/>
                <a:ea typeface="+mn-ea"/>
                <a:cs typeface="+mn-cs"/>
              </a:rPr>
              <a:t>Bảng flow → màn có trong user-flow.md</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3"/>
            </a:solidFill>
            <a:ln>
              <a:noFill/>
            </a:ln>
          </p:spPr>
          <p:txBody>
            <a:bodyPr/>
            <a:lstStyle/>
            <a:p>
              <a:endParaRPr/>
            </a:p>
          </p:txBody>
        </p:sp>
      </p:grpSp>
      <p:grpSp>
        <p:nvGrpSpPr>
          <p:cNvPr id="13" name="flow-a-block"/>
          <p:cNvGrpSpPr/>
          <p:nvPr/>
        </p:nvGrpSpPr>
        <p:grpSpPr>
          <a:xfrm>
            <a:off x="752856" y="1181100"/>
            <a:ext cx="2584963" cy="4060444"/>
            <a:chOff x="752856" y="1181100"/>
            <a:chExt cx="2584963" cy="4060444"/>
          </a:xfrm>
        </p:grpSpPr>
        <p:pic>
          <p:nvPicPr>
            <p:cNvPr id="11" name="Image 11"/>
            <p:cNvPicPr>
              <a:picLocks noChangeAspect="1"/>
            </p:cNvPicPr>
            <p:nvPr/>
          </p:nvPicPr>
          <p:blipFill>
            <a:blip r:embed="rId3"/>
            <a:srcRect/>
            <a:stretch>
              <a:fillRect/>
            </a:stretch>
          </p:blipFill>
          <p:spPr>
            <a:xfrm>
              <a:off x="1578296" y="1181100"/>
              <a:ext cx="1453508" cy="2761488"/>
            </a:xfrm>
            <a:prstGeom prst="rect">
              <a:avLst/>
            </a:prstGeom>
          </p:spPr>
        </p:pic>
        <p:sp>
          <p:nvSpPr>
            <p:cNvPr id="12" name="TextBox 12"/>
            <p:cNvSpPr txBox="1"/>
            <p:nvPr/>
          </p:nvSpPr>
          <p:spPr>
            <a:xfrm>
              <a:off x="749300" y="4038600"/>
              <a:ext cx="3111500" cy="1209294"/>
            </a:xfrm>
            <a:prstGeom prst="rect">
              <a:avLst/>
            </a:prstGeom>
            <a:noFill/>
            <a:ln>
              <a:noFill/>
            </a:ln>
          </p:spPr>
          <p:txBody>
            <a:bodyPr wrap="square" lIns="0" tIns="0" rIns="0" bIns="0" anchor="t" anchorCtr="0">
              <a:spAutoFit/>
            </a:bodyPr>
            <a:lstStyle/>
            <a:p>
              <a:pPr algn="l">
                <a:lnSpc>
                  <a:spcPts val="2250"/>
                </a:lnSpc>
              </a:pPr>
              <a:r>
                <a:rPr lang="vi" sz="1400" b="1" dirty="0">
                  <a:solidFill>
                    <a:schemeClr val="accent1"/>
                  </a:solidFill>
                  <a:latin typeface="+mn-lt"/>
                  <a:ea typeface="+mn-ea"/>
                  <a:cs typeface="+mn-cs"/>
                </a:rPr>
                <a:t>Flow A:</a:t>
              </a:r>
              <a:r>
                <a:rPr lang="vi" sz="1400" dirty="0">
                  <a:solidFill>
                    <a:schemeClr val="dk1"/>
                  </a:solidFill>
                  <a:latin typeface="+mn-lt"/>
                  <a:ea typeface="+mn-ea"/>
                  <a:cs typeface="+mn-cs"/>
                </a:rPr>
                <a:t> duyệt gợi ý AI </a:t>
              </a:r>
              <a:r>
                <a:rPr lang="vi" sz="1400" dirty="0">
                  <a:solidFill>
                    <a:schemeClr val="dk1"/>
                  </a:solidFill>
                  <a:latin typeface="+mn-lt"/>
                  <a:ea typeface="+mn-ea"/>
                  <a:cs typeface="+mn-cs"/>
                </a:rPr>
                <a:t>cho một lớp. Lỗi: email </a:t>
              </a:r>
              <a:r>
                <a:rPr lang="vi" sz="1400" dirty="0">
                  <a:solidFill>
                    <a:schemeClr val="dk1"/>
                  </a:solidFill>
                  <a:latin typeface="+mn-lt"/>
                  <a:ea typeface="+mn-ea"/>
                  <a:cs typeface="+mn-cs"/>
                </a:rPr>
                <a:t>sai (S19), mất mạng khi AI </a:t>
              </a:r>
              <a:r>
                <a:rPr lang="vi" sz="1400" dirty="0">
                  <a:solidFill>
                    <a:schemeClr val="dk1"/>
                  </a:solidFill>
                  <a:latin typeface="+mn-lt"/>
                  <a:ea typeface="+mn-ea"/>
                  <a:cs typeface="+mn-cs"/>
                </a:rPr>
                <a:t>chạy (S18, nút Try again)</a:t>
              </a:r>
            </a:p>
          </p:txBody>
        </p:sp>
      </p:grpSp>
      <p:grpSp>
        <p:nvGrpSpPr>
          <p:cNvPr id="16" name="flow-b-block"/>
          <p:cNvGrpSpPr/>
          <p:nvPr/>
        </p:nvGrpSpPr>
        <p:grpSpPr>
          <a:xfrm>
            <a:off x="4181856" y="1181100"/>
            <a:ext cx="2876169" cy="4060444"/>
            <a:chOff x="4181856" y="1181100"/>
            <a:chExt cx="2876169" cy="4060444"/>
          </a:xfrm>
        </p:grpSpPr>
        <p:pic>
          <p:nvPicPr>
            <p:cNvPr id="14" name="Image 14"/>
            <p:cNvPicPr>
              <a:picLocks noChangeAspect="1"/>
            </p:cNvPicPr>
            <p:nvPr/>
          </p:nvPicPr>
          <p:blipFill>
            <a:blip r:embed="rId4"/>
            <a:srcRect/>
            <a:stretch>
              <a:fillRect/>
            </a:stretch>
          </p:blipFill>
          <p:spPr>
            <a:xfrm>
              <a:off x="4673092" y="1181100"/>
              <a:ext cx="2071116" cy="2761488"/>
            </a:xfrm>
            <a:prstGeom prst="rect">
              <a:avLst/>
            </a:prstGeom>
          </p:spPr>
        </p:pic>
        <p:sp>
          <p:nvSpPr>
            <p:cNvPr id="15" name="TextBox 15"/>
            <p:cNvSpPr txBox="1"/>
            <p:nvPr/>
          </p:nvSpPr>
          <p:spPr>
            <a:xfrm>
              <a:off x="4152900" y="4038600"/>
              <a:ext cx="3111500" cy="1209294"/>
            </a:xfrm>
            <a:prstGeom prst="rect">
              <a:avLst/>
            </a:prstGeom>
            <a:noFill/>
            <a:ln>
              <a:noFill/>
            </a:ln>
          </p:spPr>
          <p:txBody>
            <a:bodyPr wrap="square" lIns="0" tIns="0" rIns="0" bIns="0" anchor="t" anchorCtr="0">
              <a:spAutoFit/>
            </a:bodyPr>
            <a:lstStyle/>
            <a:p>
              <a:pPr algn="l">
                <a:lnSpc>
                  <a:spcPts val="2250"/>
                </a:lnSpc>
              </a:pPr>
              <a:r>
                <a:rPr lang="vi" sz="1400" b="1" dirty="0">
                  <a:solidFill>
                    <a:schemeClr val="accent3"/>
                  </a:solidFill>
                  <a:latin typeface="+mn-lt"/>
                  <a:ea typeface="+mn-ea"/>
                  <a:cs typeface="+mn-cs"/>
                </a:rPr>
                <a:t>Flow B:</a:t>
              </a:r>
              <a:r>
                <a:rPr lang="vi" sz="1400" dirty="0">
                  <a:solidFill>
                    <a:schemeClr val="dk1"/>
                  </a:solidFill>
                  <a:latin typeface="+mn-lt"/>
                  <a:ea typeface="+mn-ea"/>
                  <a:cs typeface="+mn-cs"/>
                </a:rPr>
                <a:t> thêm thành viên </a:t>
              </a:r>
              <a:r>
                <a:rPr lang="vi" sz="1400" dirty="0">
                  <a:solidFill>
                    <a:schemeClr val="dk1"/>
                  </a:solidFill>
                  <a:latin typeface="+mn-lt"/>
                  <a:ea typeface="+mn-ea"/>
                  <a:cs typeface="+mn-cs"/>
                </a:rPr>
                <a:t>vào đề xuất. Lỗi: vượt 6 </a:t>
              </a:r>
              <a:r>
                <a:rPr lang="vi" sz="1400" dirty="0">
                  <a:solidFill>
                    <a:schemeClr val="dk1"/>
                  </a:solidFill>
                  <a:latin typeface="+mn-lt"/>
                  <a:ea typeface="+mn-ea"/>
                  <a:cs typeface="+mn-cs"/>
                </a:rPr>
                <a:t>người (S13, "Max 6 </a:t>
              </a:r>
              <a:r>
                <a:rPr lang="vi" sz="1400" dirty="0">
                  <a:solidFill>
                    <a:schemeClr val="dk1"/>
                  </a:solidFill>
                  <a:latin typeface="+mn-lt"/>
                  <a:ea typeface="+mn-ea"/>
                  <a:cs typeface="+mn-cs"/>
                </a:rPr>
                <a:t>members")</a:t>
              </a:r>
            </a:p>
          </p:txBody>
        </p:sp>
      </p:grpSp>
      <p:grpSp>
        <p:nvGrpSpPr>
          <p:cNvPr id="19" name="flow-c-block"/>
          <p:cNvGrpSpPr/>
          <p:nvPr/>
        </p:nvGrpSpPr>
        <p:grpSpPr>
          <a:xfrm>
            <a:off x="7610856" y="1181100"/>
            <a:ext cx="2788691" cy="4346194"/>
            <a:chOff x="7610856" y="1181100"/>
            <a:chExt cx="2788691" cy="4346194"/>
          </a:xfrm>
        </p:grpSpPr>
        <p:pic>
          <p:nvPicPr>
            <p:cNvPr id="17" name="Image 17"/>
            <p:cNvPicPr>
              <a:picLocks noChangeAspect="1"/>
            </p:cNvPicPr>
            <p:nvPr/>
          </p:nvPicPr>
          <p:blipFill>
            <a:blip r:embed="rId5"/>
            <a:srcRect/>
            <a:stretch>
              <a:fillRect/>
            </a:stretch>
          </p:blipFill>
          <p:spPr>
            <a:xfrm>
              <a:off x="7854950" y="1181100"/>
              <a:ext cx="2514600" cy="2642325"/>
            </a:xfrm>
            <a:prstGeom prst="rect">
              <a:avLst/>
            </a:prstGeom>
          </p:spPr>
        </p:pic>
        <p:sp>
          <p:nvSpPr>
            <p:cNvPr id="18" name="TextBox 18"/>
            <p:cNvSpPr txBox="1"/>
            <p:nvPr/>
          </p:nvSpPr>
          <p:spPr>
            <a:xfrm>
              <a:off x="7556500" y="4038600"/>
              <a:ext cx="3111500" cy="1495044"/>
            </a:xfrm>
            <a:prstGeom prst="rect">
              <a:avLst/>
            </a:prstGeom>
            <a:noFill/>
            <a:ln>
              <a:noFill/>
            </a:ln>
          </p:spPr>
          <p:txBody>
            <a:bodyPr wrap="square" lIns="0" tIns="0" rIns="0" bIns="0" anchor="t" anchorCtr="0">
              <a:spAutoFit/>
            </a:bodyPr>
            <a:lstStyle/>
            <a:p>
              <a:pPr algn="l">
                <a:lnSpc>
                  <a:spcPts val="2250"/>
                </a:lnSpc>
              </a:pPr>
              <a:r>
                <a:rPr lang="vi" sz="1400" b="1" dirty="0">
                  <a:solidFill>
                    <a:schemeClr val="accent5"/>
                  </a:solidFill>
                  <a:latin typeface="+mn-lt"/>
                  <a:ea typeface="+mn-ea"/>
                  <a:cs typeface="+mn-cs"/>
                </a:rPr>
                <a:t>Flow C:</a:t>
              </a:r>
              <a:r>
                <a:rPr lang="vi" sz="1400" dirty="0">
                  <a:solidFill>
                    <a:schemeClr val="dk1"/>
                  </a:solidFill>
                  <a:latin typeface="+mn-lt"/>
                  <a:ea typeface="+mn-ea"/>
                  <a:cs typeface="+mn-cs"/>
                </a:rPr>
                <a:t> AI không ghép </a:t>
              </a:r>
              <a:r>
                <a:rPr lang="vi" sz="1400" dirty="0">
                  <a:solidFill>
                    <a:schemeClr val="dk1"/>
                  </a:solidFill>
                  <a:latin typeface="+mn-lt"/>
                  <a:ea typeface="+mn-ea"/>
                  <a:cs typeface="+mn-cs"/>
                </a:rPr>
                <a:t>được, mentor ghép tay. Lỗi: </a:t>
              </a:r>
              <a:r>
                <a:rPr lang="vi" sz="1400" dirty="0">
                  <a:solidFill>
                    <a:schemeClr val="dk1"/>
                  </a:solidFill>
                  <a:latin typeface="+mn-lt"/>
                  <a:ea typeface="+mn-ea"/>
                  <a:cs typeface="+mn-cs"/>
                </a:rPr>
                <a:t>sinh viên đã có nhóm bị </a:t>
              </a:r>
              <a:r>
                <a:rPr lang="vi" sz="1400" dirty="0">
                  <a:solidFill>
                    <a:schemeClr val="dk1"/>
                  </a:solidFill>
                  <a:latin typeface="+mn-lt"/>
                  <a:ea typeface="+mn-ea"/>
                  <a:cs typeface="+mn-cs"/>
                </a:rPr>
                <a:t>khóa (S16), tìm không ra (S21); hủy đề xuất </a:t>
              </a:r>
              <a:r>
                <a:rPr lang="vi" sz="1400" dirty="0">
                  <a:solidFill>
                    <a:schemeClr val="dk1"/>
                  </a:solidFill>
                  <a:latin typeface="+mn-lt"/>
                  <a:ea typeface="+mn-ea"/>
                  <a:cs typeface="+mn-cs"/>
                </a:rPr>
                <a:t>bằng Discard (S17)</a:t>
              </a:r>
            </a:p>
          </p:txBody>
        </p:sp>
      </p:grpSp>
      <p:grpSp>
        <p:nvGrpSpPr>
          <p:cNvPr id="21" name="source-note"/>
          <p:cNvGrpSpPr/>
          <p:nvPr/>
        </p:nvGrpSpPr>
        <p:grpSpPr>
          <a:xfrm>
            <a:off x="755142" y="6140450"/>
            <a:ext cx="4191921" cy="264033"/>
            <a:chOff x="755142" y="6140450"/>
            <a:chExt cx="4191921" cy="264033"/>
          </a:xfrm>
        </p:grpSpPr>
        <p:sp>
          <p:nvSpPr>
            <p:cNvPr id="20" name="TextBox 20"/>
            <p:cNvSpPr txBox="1"/>
            <p:nvPr/>
          </p:nvSpPr>
          <p:spPr>
            <a:xfrm>
              <a:off x="755142" y="6140450"/>
              <a:ext cx="4191921"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Ảnh: assets/flows/flow-a.png, flow-b.png, flow-c.png</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age-title-slot Placeholder Carrier"/>
          <p:cNvSpPr txBox="1">
            <a:spLocks noGrp="1"/>
          </p:cNvSpPr>
          <p:nvPr>
            <p:ph type="title"/>
          </p:nvPr>
        </p:nvSpPr>
        <p:spPr>
          <a:xfrm>
            <a:off x="745998" y="406400"/>
            <a:ext cx="4669274"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Tạo UI bằng AI (Stitch)</a:t>
            </a:r>
          </a:p>
        </p:txBody>
      </p:sp>
      <p:sp>
        <p:nvSpPr>
          <p:cNvPr id="12" name="content-slot Placeholder Carrier"/>
          <p:cNvSpPr txBox="1">
            <a:spLocks noGrp="1"/>
          </p:cNvSpPr>
          <p:nvPr>
            <p:ph type="body" idx="1"/>
          </p:nvPr>
        </p:nvSpPr>
        <p:spPr>
          <a:xfrm>
            <a:off x="752856" y="1327150"/>
            <a:ext cx="4249263" cy="3609594"/>
          </a:xfrm>
          <a:prstGeom prst="rect">
            <a:avLst/>
          </a:prstGeom>
          <a:noFill/>
          <a:ln>
            <a:noFill/>
          </a:ln>
        </p:spPr>
        <p:txBody>
          <a:bodyPr wrap="none" lIns="0" tIns="0" rIns="0" bIns="0" anchor="t" anchorCtr="0">
            <a:noAutofit/>
          </a:bodyPr>
          <a:lstStyle/>
          <a:p>
            <a:pPr marL="0" indent="0" algn="l">
              <a:lnSpc>
                <a:spcPts val="2550"/>
              </a:lnSpc>
              <a:buNone/>
            </a:pPr>
            <a:r>
              <a:rPr lang="vi" sz="1600" b="1" dirty="0">
                <a:solidFill>
                  <a:schemeClr val="accent3"/>
                </a:solidFill>
                <a:latin typeface="+mn-lt"/>
                <a:ea typeface="+mn-ea"/>
                <a:cs typeface="+mn-cs"/>
              </a:rPr>
              <a:t>Prompt gồm:</a:t>
            </a:r>
            <a:r>
              <a:rPr lang="vi" sz="1600" dirty="0">
                <a:solidFill>
                  <a:schemeClr val="dk1"/>
                </a:solidFill>
                <a:latin typeface="+mn-lt"/>
                <a:ea typeface="+mn-ea"/>
                <a:cs typeface="+mn-cs"/>
              </a:rPr>
              <a:t> người dùng (mentor), </a:t>
            </a:r>
            <a:r>
              <a:rPr lang="vi" sz="1600" dirty="0">
                <a:solidFill>
                  <a:schemeClr val="dk1"/>
                </a:solidFill>
                <a:latin typeface="+mn-lt"/>
                <a:ea typeface="+mn-ea"/>
                <a:cs typeface="+mn-cs"/>
              </a:rPr>
              <a:t>tác vụ (duyệt gợi ý AI), nền tảng </a:t>
            </a:r>
            <a:r>
              <a:rPr lang="vi" sz="1600" dirty="0">
                <a:solidFill>
                  <a:schemeClr val="dk1"/>
                </a:solidFill>
                <a:latin typeface="+mn-lt"/>
                <a:ea typeface="+mn-ea"/>
                <a:cs typeface="+mn-cs"/>
              </a:rPr>
              <a:t>(Android 360×800, Material 3), </a:t>
            </a:r>
            <a:r>
              <a:rPr lang="vi" sz="1600" dirty="0">
                <a:solidFill>
                  <a:schemeClr val="dk1"/>
                </a:solidFill>
                <a:latin typeface="+mn-lt"/>
                <a:ea typeface="+mn-ea"/>
                <a:cs typeface="+mn-cs"/>
              </a:rPr>
              <a:t>ràng buộc (chữ ≥14 sp, 1 nút chính, </a:t>
            </a:r>
            <a:r>
              <a:rPr lang="vi" sz="1600" dirty="0">
                <a:solidFill>
                  <a:schemeClr val="dk1"/>
                </a:solidFill>
                <a:latin typeface="+mn-lt"/>
                <a:ea typeface="+mn-ea"/>
                <a:cs typeface="+mn-cs"/>
              </a:rPr>
              <a:t>không từ cấm), phong cách (DESIGN.md)</a:t>
            </a:r>
          </a:p>
          <a:p>
            <a:pPr marL="0" indent="0" algn="l">
              <a:lnSpc>
                <a:spcPts val="2550"/>
              </a:lnSpc>
              <a:spcBef>
                <a:spcPts val="1350"/>
              </a:spcBef>
              <a:buNone/>
            </a:pPr>
            <a:r>
              <a:rPr lang="vi" sz="1600" b="1" dirty="0">
                <a:solidFill>
                  <a:schemeClr val="accent3"/>
                </a:solidFill>
                <a:latin typeface="+mn-lt"/>
                <a:ea typeface="+mn-ea"/>
                <a:cs typeface="+mn-cs"/>
              </a:rPr>
              <a:t>Lần đầu (R0, hướng sinh viên): </a:t>
            </a:r>
            <a:r>
              <a:rPr lang="vi" sz="1600" dirty="0">
                <a:solidFill>
                  <a:schemeClr val="dk1"/>
                </a:solidFill>
                <a:latin typeface="+mn-lt"/>
                <a:ea typeface="+mn-ea"/>
                <a:cs typeface="+mn-cs"/>
              </a:rPr>
              <a:t>4 màn, có chữ nội bộ như "Lineup", </a:t>
            </a:r>
            <a:r>
              <a:rPr lang="vi" sz="1600" dirty="0">
                <a:solidFill>
                  <a:schemeClr val="dk1"/>
                </a:solidFill>
                <a:latin typeface="+mn-lt"/>
                <a:ea typeface="+mn-ea"/>
                <a:cs typeface="+mn-cs"/>
              </a:rPr>
              <a:t>"Roster"</a:t>
            </a:r>
          </a:p>
          <a:p>
            <a:pPr marL="0" indent="0" algn="l">
              <a:lnSpc>
                <a:spcPts val="2550"/>
              </a:lnSpc>
              <a:spcBef>
                <a:spcPts val="1350"/>
              </a:spcBef>
              <a:buNone/>
            </a:pPr>
            <a:r>
              <a:rPr lang="vi" sz="1600" b="1" dirty="0">
                <a:solidFill>
                  <a:schemeClr val="accent3"/>
                </a:solidFill>
                <a:latin typeface="+mn-lt"/>
                <a:ea typeface="+mn-ea"/>
                <a:cs typeface="+mn-cs"/>
              </a:rPr>
              <a:t>Hướng mentor (R9):</a:t>
            </a:r>
            <a:r>
              <a:rPr lang="vi" sz="1600" dirty="0">
                <a:solidFill>
                  <a:schemeClr val="dk1"/>
                </a:solidFill>
                <a:latin typeface="+mn-lt"/>
                <a:ea typeface="+mn-ea"/>
                <a:cs typeface="+mn-cs"/>
              </a:rPr>
              <a:t> 3 prompt × 6 </a:t>
            </a:r>
            <a:r>
              <a:rPr lang="vi" sz="1600" dirty="0">
                <a:solidFill>
                  <a:schemeClr val="dk1"/>
                </a:solidFill>
                <a:latin typeface="+mn-lt"/>
                <a:ea typeface="+mn-ea"/>
                <a:cs typeface="+mn-cs"/>
              </a:rPr>
              <a:t>frame = 18 frame, xuất sang Figma; R10: 1 prompt</a:t>
            </a:r>
            <a:endParaRPr lang="en-US" sz="1800" dirty="0">
              <a:solidFill>
                <a:schemeClr val="dk1"/>
              </a:solidFill>
              <a:latin typeface="+mn-lt"/>
              <a:ea typeface="+mn-ea"/>
              <a:cs typeface="+mn-cs"/>
            </a:endParaRPr>
          </a:p>
          <a:p>
            <a:pPr marL="0" indent="0" algn="l">
              <a:lnSpc>
                <a:spcPts val="2550"/>
              </a:lnSpc>
              <a:spcBef>
                <a:spcPts val="1350"/>
              </a:spcBef>
              <a:buNone/>
            </a:pPr>
            <a:r>
              <a:rPr lang="vi" sz="1600" dirty="0">
                <a:solidFill>
                  <a:schemeClr val="dk1"/>
                </a:solidFill>
                <a:latin typeface="+mn-lt"/>
                <a:ea typeface="+mn-ea"/>
                <a:cs typeface="+mn-cs"/>
              </a:rPr>
              <a:t> 3 frame (S19-S21) = 21 frame</a:t>
            </a:r>
          </a:p>
        </p:txBody>
      </p:sp>
      <p:pic>
        <p:nvPicPr>
          <p:cNvPr id="13" name="picture-slot Placeholder Carrier"/>
          <p:cNvPicPr>
            <a:picLocks noGrp="1" noChangeAspect="1"/>
          </p:cNvPicPr>
          <p:nvPr>
            <p:ph type="pic" idx="2"/>
          </p:nvPr>
        </p:nvPicPr>
        <p:blipFill>
          <a:blip r:embed="rId3"/>
          <a:stretch>
            <a:fillRect/>
          </a:stretch>
        </p:blipFill>
        <p:spPr>
          <a:xfrm>
            <a:off x="7124700" y="2021742"/>
            <a:ext cx="1390650" cy="2852615"/>
          </a:xfrm>
          <a:prstGeom prst="rect">
            <a:avLst/>
          </a:prstGeom>
        </p:spPr>
      </p:pic>
      <p:grpSp>
        <p:nvGrpSpPr>
          <p:cNvPr id="15" name="after-picture"/>
          <p:cNvGrpSpPr/>
          <p:nvPr/>
        </p:nvGrpSpPr>
        <p:grpSpPr>
          <a:xfrm>
            <a:off x="8629650" y="2021742"/>
            <a:ext cx="1390650" cy="2852615"/>
            <a:chOff x="8629650" y="2021742"/>
            <a:chExt cx="1390650" cy="2852615"/>
          </a:xfrm>
        </p:grpSpPr>
        <p:pic>
          <p:nvPicPr>
            <p:cNvPr id="14" name="Image 14"/>
            <p:cNvPicPr>
              <a:picLocks noChangeAspect="1"/>
            </p:cNvPicPr>
            <p:nvPr/>
          </p:nvPicPr>
          <p:blipFill>
            <a:blip r:embed="rId4"/>
            <a:stretch>
              <a:fillRect/>
            </a:stretch>
          </p:blipFill>
          <p:spPr>
            <a:xfrm>
              <a:off x="8629650" y="2021742"/>
              <a:ext cx="1390650" cy="2852615"/>
            </a:xfrm>
            <a:prstGeom prst="rect">
              <a:avLst/>
            </a:prstGeom>
          </p:spPr>
        </p:pic>
      </p:grpSp>
      <p:grpSp>
        <p:nvGrpSpPr>
          <p:cNvPr id="17" name="title-accent"/>
          <p:cNvGrpSpPr/>
          <p:nvPr/>
        </p:nvGrpSpPr>
        <p:grpSpPr>
          <a:xfrm>
            <a:off x="762000" y="895350"/>
            <a:ext cx="914400" cy="38100"/>
            <a:chOff x="762000" y="895350"/>
            <a:chExt cx="914400" cy="38100"/>
          </a:xfrm>
        </p:grpSpPr>
        <p:sp>
          <p:nvSpPr>
            <p:cNvPr id="16" name="Rectangle 16"/>
            <p:cNvSpPr/>
            <p:nvPr/>
          </p:nvSpPr>
          <p:spPr>
            <a:xfrm>
              <a:off x="762000" y="895350"/>
              <a:ext cx="914400" cy="38100"/>
            </a:xfrm>
            <a:prstGeom prst="rect">
              <a:avLst/>
            </a:prstGeom>
            <a:solidFill>
              <a:schemeClr val="accent3"/>
            </a:solidFill>
            <a:ln>
              <a:noFill/>
            </a:ln>
          </p:spPr>
          <p:txBody>
            <a:bodyPr/>
            <a:lstStyle/>
            <a:p>
              <a:endParaRPr/>
            </a:p>
          </p:txBody>
        </p:sp>
      </p:grpSp>
      <p:grpSp>
        <p:nvGrpSpPr>
          <p:cNvPr id="19" name="picture-caption"/>
          <p:cNvGrpSpPr/>
          <p:nvPr/>
        </p:nvGrpSpPr>
        <p:grpSpPr>
          <a:xfrm>
            <a:off x="6660642" y="5568950"/>
            <a:ext cx="3243594" cy="473583"/>
            <a:chOff x="6660642" y="5568950"/>
            <a:chExt cx="3243594" cy="473583"/>
          </a:xfrm>
        </p:grpSpPr>
        <p:sp>
          <p:nvSpPr>
            <p:cNvPr id="18" name="TextBox 18"/>
            <p:cNvSpPr txBox="1"/>
            <p:nvPr/>
          </p:nvSpPr>
          <p:spPr>
            <a:xfrm>
              <a:off x="6660642" y="5568950"/>
              <a:ext cx="3243594" cy="473583"/>
            </a:xfrm>
            <a:prstGeom prst="rect">
              <a:avLst/>
            </a:prstGeom>
            <a:noFill/>
            <a:ln>
              <a:noFill/>
            </a:ln>
          </p:spPr>
          <p:txBody>
            <a:bodyPr wrap="none" lIns="0" tIns="0" rIns="0" bIns="0" anchor="t" anchorCtr="0">
              <a:spAutoFit/>
            </a:bodyPr>
            <a:lstStyle/>
            <a:p>
              <a:pPr algn="l">
                <a:lnSpc>
                  <a:spcPts val="1650"/>
                </a:lnSpc>
              </a:pPr>
              <a:r>
                <a:rPr lang="vi" sz="1350" b="1" dirty="0">
                  <a:solidFill>
                    <a:schemeClr val="accent6"/>
                  </a:solidFill>
                  <a:latin typeface="+mn-lt"/>
                  <a:ea typeface="+mn-ea"/>
                  <a:cs typeface="+mn-cs"/>
                </a:rPr>
                <a:t>Trái, R0 (sinh viên):</a:t>
              </a:r>
              <a:r>
                <a:rPr lang="vi" sz="1350" dirty="0">
                  <a:solidFill>
                    <a:schemeClr val="accent6"/>
                  </a:solidFill>
                  <a:latin typeface="+mn-lt"/>
                  <a:ea typeface="+mn-ea"/>
                  <a:cs typeface="+mn-cs"/>
                </a:rPr>
                <a:t> Stitch First, Discover</a:t>
              </a:r>
              <a:br>
                <a:rPr lang="vi" sz="1350" dirty="0">
                  <a:solidFill>
                    <a:schemeClr val="accent6"/>
                  </a:solidFill>
                  <a:latin typeface="+mn-lt"/>
                  <a:ea typeface="+mn-ea"/>
                  <a:cs typeface="+mn-cs"/>
                </a:rPr>
              </a:br>
              <a:r>
                <a:rPr lang="vi" sz="1350" b="1" dirty="0">
                  <a:solidFill>
                    <a:schemeClr val="accent6"/>
                  </a:solidFill>
                  <a:latin typeface="+mn-lt"/>
                  <a:ea typeface="+mn-ea"/>
                  <a:cs typeface="+mn-cs"/>
                </a:rPr>
                <a:t>Phải, R9 (mentor):</a:t>
              </a:r>
              <a:r>
                <a:rPr lang="vi" sz="1350" dirty="0">
                  <a:solidFill>
                    <a:schemeClr val="accent6"/>
                  </a:solidFill>
                  <a:latin typeface="+mn-lt"/>
                  <a:ea typeface="+mn-ea"/>
                  <a:cs typeface="+mn-cs"/>
                </a:rPr>
                <a:t> Stitch Final, Proposals</a:t>
              </a:r>
            </a:p>
          </p:txBody>
        </p:sp>
      </p:grpSp>
      <p:grpSp>
        <p:nvGrpSpPr>
          <p:cNvPr id="21" name="source-note"/>
          <p:cNvGrpSpPr/>
          <p:nvPr/>
        </p:nvGrpSpPr>
        <p:grpSpPr>
          <a:xfrm>
            <a:off x="755142" y="6140450"/>
            <a:ext cx="7462778" cy="264033"/>
            <a:chOff x="755142" y="6140450"/>
            <a:chExt cx="7462778" cy="264033"/>
          </a:xfrm>
        </p:grpSpPr>
        <p:sp>
          <p:nvSpPr>
            <p:cNvPr id="20" name="TextBox 20"/>
            <p:cNvSpPr txBox="1"/>
            <p:nvPr/>
          </p:nvSpPr>
          <p:spPr>
            <a:xfrm>
              <a:off x="755142" y="6140450"/>
              <a:ext cx="7462778"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Prompt nguyên văn: ai/stitch-prompts-r9.md, r10.md; ai/ai-design-log.md mục 3; design/DESIGN.md</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age-title-slot Placeholder Carrier"/>
          <p:cNvSpPr txBox="1">
            <a:spLocks noGrp="1"/>
          </p:cNvSpPr>
          <p:nvPr>
            <p:ph type="title"/>
          </p:nvPr>
        </p:nvSpPr>
        <p:spPr>
          <a:xfrm>
            <a:off x="745998" y="406400"/>
            <a:ext cx="4687967"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Iteration và UX critique</a:t>
            </a:r>
          </a:p>
        </p:txBody>
      </p:sp>
      <p:sp>
        <p:nvSpPr>
          <p:cNvPr id="12" name="content-slot Placeholder Carrier"/>
          <p:cNvSpPr txBox="1">
            <a:spLocks noGrp="1"/>
          </p:cNvSpPr>
          <p:nvPr>
            <p:ph type="body" idx="1"/>
          </p:nvPr>
        </p:nvSpPr>
        <p:spPr>
          <a:xfrm>
            <a:off x="752856" y="1327150"/>
            <a:ext cx="3789365" cy="4523994"/>
          </a:xfrm>
          <a:prstGeom prst="rect">
            <a:avLst/>
          </a:prstGeom>
          <a:noFill/>
          <a:ln>
            <a:noFill/>
          </a:ln>
        </p:spPr>
        <p:txBody>
          <a:bodyPr wrap="none" lIns="0" tIns="0" rIns="0" bIns="0" anchor="t" anchorCtr="0">
            <a:noAutofit/>
          </a:bodyPr>
          <a:lstStyle/>
          <a:p>
            <a:pPr marL="0" indent="0" algn="l">
              <a:lnSpc>
                <a:spcPts val="2550"/>
              </a:lnSpc>
              <a:buNone/>
            </a:pPr>
            <a:r>
              <a:rPr lang="vi" sz="1500" b="1" dirty="0">
                <a:solidFill>
                  <a:schemeClr val="accent3"/>
                </a:solidFill>
                <a:latin typeface="+mn-lt"/>
                <a:ea typeface="+mn-ea"/>
                <a:cs typeface="+mn-cs"/>
              </a:rPr>
              <a:t>R3:</a:t>
            </a:r>
            <a:r>
              <a:rPr lang="vi" sz="1500" dirty="0">
                <a:solidFill>
                  <a:schemeClr val="dk1"/>
                </a:solidFill>
                <a:latin typeface="+mn-lt"/>
                <a:ea typeface="+mn-ea"/>
                <a:cs typeface="+mn-cs"/>
              </a:rPr>
              <a:t> chú thích đè chữ → bỏ chú thích</a:t>
            </a:r>
          </a:p>
          <a:p>
            <a:pPr marL="0" indent="0" algn="l">
              <a:lnSpc>
                <a:spcPts val="2550"/>
              </a:lnSpc>
              <a:spcBef>
                <a:spcPts val="450"/>
              </a:spcBef>
              <a:buNone/>
            </a:pPr>
            <a:r>
              <a:rPr lang="vi" sz="1500" b="1" dirty="0">
                <a:solidFill>
                  <a:schemeClr val="accent3"/>
                </a:solidFill>
                <a:latin typeface="+mn-lt"/>
                <a:ea typeface="+mn-ea"/>
                <a:cs typeface="+mn-cs"/>
              </a:rPr>
              <a:t>R4:</a:t>
            </a:r>
            <a:r>
              <a:rPr lang="vi" sz="1500" dirty="0">
                <a:solidFill>
                  <a:schemeClr val="dk1"/>
                </a:solidFill>
                <a:latin typeface="+mn-lt"/>
                <a:ea typeface="+mn-ea"/>
                <a:cs typeface="+mn-cs"/>
              </a:rPr>
              <a:t> app bar không nhất quán → </a:t>
            </a:r>
            <a:r>
              <a:rPr lang="vi" sz="1500" dirty="0">
                <a:solidFill>
                  <a:schemeClr val="dk1"/>
                </a:solidFill>
                <a:latin typeface="+mn-lt"/>
                <a:ea typeface="+mn-ea"/>
                <a:cs typeface="+mn-cs"/>
              </a:rPr>
              <a:t>thống nhất, giảm chữ</a:t>
            </a:r>
          </a:p>
          <a:p>
            <a:pPr marL="0" indent="0" algn="l">
              <a:lnSpc>
                <a:spcPts val="2550"/>
              </a:lnSpc>
              <a:spcBef>
                <a:spcPts val="450"/>
              </a:spcBef>
              <a:buNone/>
            </a:pPr>
            <a:r>
              <a:rPr lang="vi" sz="1500" b="1" dirty="0">
                <a:solidFill>
                  <a:schemeClr val="accent3"/>
                </a:solidFill>
                <a:latin typeface="+mn-lt"/>
                <a:ea typeface="+mn-ea"/>
                <a:cs typeface="+mn-cs"/>
              </a:rPr>
              <a:t>R6:</a:t>
            </a:r>
            <a:r>
              <a:rPr lang="vi" sz="1500" dirty="0">
                <a:solidFill>
                  <a:schemeClr val="dk1"/>
                </a:solidFill>
                <a:latin typeface="+mn-lt"/>
                <a:ea typeface="+mn-ea"/>
                <a:cs typeface="+mn-cs"/>
              </a:rPr>
              <a:t> email yêu cầu tên miền edu → </a:t>
            </a:r>
            <a:r>
              <a:rPr lang="vi" sz="1500" dirty="0">
                <a:solidFill>
                  <a:schemeClr val="dk1"/>
                </a:solidFill>
                <a:latin typeface="+mn-lt"/>
                <a:ea typeface="+mn-ea"/>
                <a:cs typeface="+mn-cs"/>
              </a:rPr>
              <a:t>email bất kỳ</a:t>
            </a:r>
          </a:p>
          <a:p>
            <a:pPr marL="0" indent="0" algn="l">
              <a:lnSpc>
                <a:spcPts val="2550"/>
              </a:lnSpc>
              <a:spcBef>
                <a:spcPts val="450"/>
              </a:spcBef>
              <a:buNone/>
            </a:pPr>
            <a:r>
              <a:rPr lang="vi" sz="1500" b="1" dirty="0">
                <a:solidFill>
                  <a:schemeClr val="accent3"/>
                </a:solidFill>
                <a:latin typeface="+mn-lt"/>
                <a:ea typeface="+mn-ea"/>
                <a:cs typeface="+mn-cs"/>
              </a:rPr>
              <a:t>R7:</a:t>
            </a:r>
            <a:r>
              <a:rPr lang="vi" sz="1500" dirty="0">
                <a:solidFill>
                  <a:schemeClr val="dk1"/>
                </a:solidFill>
                <a:latin typeface="+mn-lt"/>
                <a:ea typeface="+mn-ea"/>
                <a:cs typeface="+mn-cs"/>
              </a:rPr>
              <a:t> thẻ so với nền chỉ 1.07:1 → </a:t>
            </a:r>
            <a:r>
              <a:rPr lang="vi" sz="1500" dirty="0">
                <a:solidFill>
                  <a:schemeClr val="dk1"/>
                </a:solidFill>
                <a:latin typeface="+mn-lt"/>
                <a:ea typeface="+mn-ea"/>
                <a:cs typeface="+mn-cs"/>
              </a:rPr>
              <a:t>palette cam, xanh lá, viền thẻ rõ</a:t>
            </a:r>
          </a:p>
          <a:p>
            <a:pPr marL="0" indent="0" algn="l">
              <a:lnSpc>
                <a:spcPts val="2550"/>
              </a:lnSpc>
              <a:spcBef>
                <a:spcPts val="450"/>
              </a:spcBef>
              <a:buNone/>
            </a:pPr>
            <a:r>
              <a:rPr lang="vi" sz="1500" b="1" dirty="0">
                <a:solidFill>
                  <a:schemeClr val="accent3"/>
                </a:solidFill>
                <a:latin typeface="+mn-lt"/>
                <a:ea typeface="+mn-ea"/>
                <a:cs typeface="+mn-cs"/>
              </a:rPr>
              <a:t>R9→Figma:</a:t>
            </a:r>
            <a:r>
              <a:rPr lang="vi" sz="1500" dirty="0">
                <a:solidFill>
                  <a:schemeClr val="dk1"/>
                </a:solidFill>
                <a:latin typeface="+mn-lt"/>
                <a:ea typeface="+mn-ea"/>
                <a:cs typeface="+mn-cs"/>
              </a:rPr>
              <a:t> S4 chữ Stitch tự thêm; </a:t>
            </a:r>
            <a:r>
              <a:rPr lang="vi" sz="1500" dirty="0">
                <a:solidFill>
                  <a:schemeClr val="dk1"/>
                </a:solidFill>
                <a:latin typeface="+mn-lt"/>
                <a:ea typeface="+mn-ea"/>
                <a:cs typeface="+mn-cs"/>
              </a:rPr>
              <a:t>S17 nền sai → sửa S4 và S17</a:t>
            </a:r>
          </a:p>
          <a:p>
            <a:pPr marL="0" indent="0" algn="l">
              <a:lnSpc>
                <a:spcPts val="2550"/>
              </a:lnSpc>
              <a:spcBef>
                <a:spcPts val="450"/>
              </a:spcBef>
              <a:buNone/>
            </a:pPr>
            <a:r>
              <a:rPr lang="vi" sz="1500" b="1" dirty="0">
                <a:solidFill>
                  <a:schemeClr val="accent1"/>
                </a:solidFill>
                <a:latin typeface="+mn-lt"/>
                <a:ea typeface="+mn-ea"/>
                <a:cs typeface="+mn-cs"/>
              </a:rPr>
              <a:t>Findings (≥5, gắn màn):</a:t>
            </a:r>
            <a:r>
              <a:rPr lang="vi" sz="1500" dirty="0">
                <a:solidFill>
                  <a:schemeClr val="dk1"/>
                </a:solidFill>
                <a:latin typeface="+mn-lt"/>
                <a:ea typeface="+mn-ea"/>
                <a:cs typeface="+mn-cs"/>
              </a:rPr>
              <a:t> S4 chữ bịa; </a:t>
            </a:r>
            <a:r>
              <a:rPr lang="vi" sz="1500" dirty="0">
                <a:solidFill>
                  <a:schemeClr val="dk1"/>
                </a:solidFill>
                <a:latin typeface="+mn-lt"/>
                <a:ea typeface="+mn-ea"/>
                <a:cs typeface="+mn-cs"/>
              </a:rPr>
              <a:t>S17 nền sai; S9 badge 10 sp; </a:t>
            </a:r>
            <a:r>
              <a:rPr lang="vi" sz="1500" dirty="0">
                <a:solidFill>
                  <a:schemeClr val="dk1"/>
                </a:solidFill>
                <a:latin typeface="+mn-lt"/>
                <a:ea typeface="+mn-ea"/>
                <a:cs typeface="+mn-cs"/>
              </a:rPr>
              <a:t>S2/S12/S13 cao hơn 800 dp; </a:t>
            </a:r>
            <a:r>
              <a:rPr lang="vi" sz="1500" dirty="0">
                <a:solidFill>
                  <a:schemeClr val="dk1"/>
                </a:solidFill>
                <a:latin typeface="+mn-lt"/>
                <a:ea typeface="+mn-ea"/>
                <a:cs typeface="+mn-cs"/>
              </a:rPr>
              <a:t>viền thẻ 1.48:1</a:t>
            </a:r>
          </a:p>
        </p:txBody>
      </p:sp>
      <p:pic>
        <p:nvPicPr>
          <p:cNvPr id="13" name="picture-slot Placeholder Carrier"/>
          <p:cNvPicPr>
            <a:picLocks noGrp="1" noChangeAspect="1"/>
          </p:cNvPicPr>
          <p:nvPr>
            <p:ph type="pic" idx="2"/>
          </p:nvPr>
        </p:nvPicPr>
        <p:blipFill>
          <a:blip r:embed="rId3"/>
          <a:stretch>
            <a:fillRect/>
          </a:stretch>
        </p:blipFill>
        <p:spPr>
          <a:xfrm>
            <a:off x="7124700" y="2021742"/>
            <a:ext cx="1390650" cy="2852615"/>
          </a:xfrm>
          <a:prstGeom prst="rect">
            <a:avLst/>
          </a:prstGeom>
        </p:spPr>
      </p:pic>
      <p:grpSp>
        <p:nvGrpSpPr>
          <p:cNvPr id="15" name="after-picture"/>
          <p:cNvGrpSpPr/>
          <p:nvPr/>
        </p:nvGrpSpPr>
        <p:grpSpPr>
          <a:xfrm>
            <a:off x="8629650" y="2021742"/>
            <a:ext cx="1390650" cy="2852615"/>
            <a:chOff x="8629650" y="2021742"/>
            <a:chExt cx="1390650" cy="2852615"/>
          </a:xfrm>
        </p:grpSpPr>
        <p:pic>
          <p:nvPicPr>
            <p:cNvPr id="14" name="Image 14"/>
            <p:cNvPicPr>
              <a:picLocks noChangeAspect="1"/>
            </p:cNvPicPr>
            <p:nvPr/>
          </p:nvPicPr>
          <p:blipFill>
            <a:blip r:embed="rId4"/>
            <a:stretch>
              <a:fillRect/>
            </a:stretch>
          </p:blipFill>
          <p:spPr>
            <a:xfrm>
              <a:off x="8629650" y="2021742"/>
              <a:ext cx="1390650" cy="2852615"/>
            </a:xfrm>
            <a:prstGeom prst="rect">
              <a:avLst/>
            </a:prstGeom>
          </p:spPr>
        </p:pic>
      </p:grpSp>
      <p:grpSp>
        <p:nvGrpSpPr>
          <p:cNvPr id="17" name="before-after-caption"/>
          <p:cNvGrpSpPr/>
          <p:nvPr/>
        </p:nvGrpSpPr>
        <p:grpSpPr>
          <a:xfrm>
            <a:off x="6660642" y="5568950"/>
            <a:ext cx="2920034" cy="473583"/>
            <a:chOff x="6660642" y="5568950"/>
            <a:chExt cx="2920034" cy="473583"/>
          </a:xfrm>
        </p:grpSpPr>
        <p:sp>
          <p:nvSpPr>
            <p:cNvPr id="16" name="TextBox 16"/>
            <p:cNvSpPr txBox="1"/>
            <p:nvPr/>
          </p:nvSpPr>
          <p:spPr>
            <a:xfrm>
              <a:off x="6660642" y="5568950"/>
              <a:ext cx="2920034" cy="473583"/>
            </a:xfrm>
            <a:prstGeom prst="rect">
              <a:avLst/>
            </a:prstGeom>
            <a:noFill/>
            <a:ln>
              <a:noFill/>
            </a:ln>
          </p:spPr>
          <p:txBody>
            <a:bodyPr wrap="none" lIns="0" tIns="0" rIns="0" bIns="0" anchor="t" anchorCtr="0">
              <a:spAutoFit/>
            </a:bodyPr>
            <a:lstStyle/>
            <a:p>
              <a:pPr algn="l">
                <a:lnSpc>
                  <a:spcPts val="1650"/>
                </a:lnSpc>
              </a:pPr>
              <a:r>
                <a:rPr lang="vi" sz="1350" b="1" dirty="0">
                  <a:solidFill>
                    <a:schemeClr val="accent6"/>
                  </a:solidFill>
                  <a:latin typeface="+mn-lt"/>
                  <a:ea typeface="+mn-ea"/>
                  <a:cs typeface="+mn-cs"/>
                </a:rPr>
                <a:t>Trái, trước:</a:t>
              </a:r>
              <a:r>
                <a:rPr lang="vi" sz="1350" dirty="0">
                  <a:solidFill>
                    <a:schemeClr val="accent6"/>
                  </a:solidFill>
                  <a:latin typeface="+mn-lt"/>
                  <a:ea typeface="+mn-ea"/>
                  <a:cs typeface="+mn-cs"/>
                </a:rPr>
                <a:t> Stitch First, Sign in</a:t>
              </a:r>
              <a:br>
                <a:rPr lang="vi" sz="1350" dirty="0">
                  <a:solidFill>
                    <a:schemeClr val="accent6"/>
                  </a:solidFill>
                  <a:latin typeface="+mn-lt"/>
                  <a:ea typeface="+mn-ea"/>
                  <a:cs typeface="+mn-cs"/>
                </a:rPr>
              </a:br>
              <a:r>
                <a:rPr lang="vi" sz="1350" b="1" dirty="0">
                  <a:solidFill>
                    <a:schemeClr val="accent6"/>
                  </a:solidFill>
                  <a:latin typeface="+mn-lt"/>
                  <a:ea typeface="+mn-ea"/>
                  <a:cs typeface="+mn-cs"/>
                </a:rPr>
                <a:t>Phải, sau:</a:t>
              </a:r>
              <a:r>
                <a:rPr lang="vi" sz="1350" dirty="0">
                  <a:solidFill>
                    <a:schemeClr val="accent6"/>
                  </a:solidFill>
                  <a:latin typeface="+mn-lt"/>
                  <a:ea typeface="+mn-ea"/>
                  <a:cs typeface="+mn-cs"/>
                </a:rPr>
                <a:t> Stitch Final, Sign in mentor</a:t>
              </a:r>
            </a:p>
          </p:txBody>
        </p:sp>
      </p:grpSp>
      <p:grpSp>
        <p:nvGrpSpPr>
          <p:cNvPr id="19" name="title-accent"/>
          <p:cNvGrpSpPr/>
          <p:nvPr/>
        </p:nvGrpSpPr>
        <p:grpSpPr>
          <a:xfrm>
            <a:off x="762000" y="895350"/>
            <a:ext cx="914400" cy="38100"/>
            <a:chOff x="762000" y="895350"/>
            <a:chExt cx="914400" cy="38100"/>
          </a:xfrm>
        </p:grpSpPr>
        <p:sp>
          <p:nvSpPr>
            <p:cNvPr id="18" name="Rectangle 18"/>
            <p:cNvSpPr/>
            <p:nvPr/>
          </p:nvSpPr>
          <p:spPr>
            <a:xfrm>
              <a:off x="762000" y="895350"/>
              <a:ext cx="914400" cy="38100"/>
            </a:xfrm>
            <a:prstGeom prst="rect">
              <a:avLst/>
            </a:prstGeom>
            <a:solidFill>
              <a:schemeClr val="accent3"/>
            </a:solidFill>
            <a:ln>
              <a:noFill/>
            </a:ln>
          </p:spPr>
          <p:txBody>
            <a:bodyPr/>
            <a:p/>
          </p:txBody>
        </p:sp>
      </p:grpSp>
      <p:grpSp>
        <p:nvGrpSpPr>
          <p:cNvPr id="21" name="source-note"/>
          <p:cNvGrpSpPr/>
          <p:nvPr/>
        </p:nvGrpSpPr>
        <p:grpSpPr>
          <a:xfrm>
            <a:off x="755142" y="6140450"/>
            <a:ext cx="7647692" cy="264033"/>
            <a:chOff x="755142" y="6140450"/>
            <a:chExt cx="7647692" cy="264033"/>
          </a:xfrm>
        </p:grpSpPr>
        <p:sp>
          <p:nvSpPr>
            <p:cNvPr id="20" name="TextBox 20"/>
            <p:cNvSpPr txBox="1"/>
            <p:nvPr/>
          </p:nvSpPr>
          <p:spPr>
            <a:xfrm>
              <a:off x="755142" y="6140450"/>
              <a:ext cx="7647692"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ai/ai-design-log.md mục 7; ai-critique-1.md, ai-critique-2.md; assets/stitch/First và Final</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ge-title-slot Placeholder Carrier"/>
          <p:cNvSpPr txBox="1">
            <a:spLocks noGrp="1"/>
          </p:cNvSpPr>
          <p:nvPr>
            <p:ph type="title"/>
          </p:nvPr>
        </p:nvSpPr>
        <p:spPr>
          <a:xfrm>
            <a:off x="745998" y="406400"/>
            <a:ext cx="3862323"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Quyết định thiết kế</a:t>
            </a:r>
          </a:p>
        </p:txBody>
      </p:sp>
      <p:sp>
        <p:nvSpPr>
          <p:cNvPr id="8" name="content-slot Placeholder Carrier"/>
          <p:cNvSpPr txBox="1">
            <a:spLocks noGrp="1"/>
          </p:cNvSpPr>
          <p:nvPr>
            <p:ph type="body" idx="1"/>
          </p:nvPr>
        </p:nvSpPr>
        <p:spPr>
          <a:xfrm>
            <a:off x="752856" y="1422400"/>
            <a:ext cx="8265033" cy="3038094"/>
          </a:xfrm>
          <a:prstGeom prst="rect">
            <a:avLst/>
          </a:prstGeom>
          <a:noFill/>
          <a:ln>
            <a:noFill/>
          </a:ln>
        </p:spPr>
        <p:txBody>
          <a:bodyPr wrap="none" lIns="0" tIns="0" rIns="0" bIns="0" anchor="t" anchorCtr="0">
            <a:noAutofit/>
          </a:bodyPr>
          <a:lstStyle/>
          <a:p>
            <a:pPr marL="0" indent="0" algn="l">
              <a:lnSpc>
                <a:spcPts val="2550"/>
              </a:lnSpc>
              <a:buNone/>
            </a:pPr>
            <a:r>
              <a:rPr lang="vi" sz="1800" b="1" dirty="0">
                <a:solidFill>
                  <a:schemeClr val="accent5"/>
                </a:solidFill>
                <a:latin typeface="+mn-lt"/>
                <a:ea typeface="+mn-ea"/>
                <a:cs typeface="+mn-cs"/>
              </a:rPr>
              <a:t>Giữ:</a:t>
            </a:r>
            <a:r>
              <a:rPr lang="vi" sz="1800" dirty="0">
                <a:solidFill>
                  <a:schemeClr val="dk1"/>
                </a:solidFill>
                <a:latin typeface="+mn-lt"/>
                <a:ea typeface="+mn-ea"/>
                <a:cs typeface="+mn-cs"/>
              </a:rPr>
              <a:t> AI chỉ đề xuất, mentor duyệt (có nhãn mức phù hợp và lý do ngắn)</a:t>
            </a:r>
          </a:p>
          <a:p>
            <a:pPr marL="0" indent="0" algn="l">
              <a:lnSpc>
                <a:spcPts val="2550"/>
              </a:lnSpc>
              <a:spcBef>
                <a:spcPts val="2100"/>
              </a:spcBef>
              <a:buNone/>
            </a:pPr>
            <a:r>
              <a:rPr lang="vi" sz="1800" b="1" dirty="0">
                <a:solidFill>
                  <a:schemeClr val="accent1"/>
                </a:solidFill>
                <a:latin typeface="+mn-lt"/>
                <a:ea typeface="+mn-ea"/>
                <a:cs typeface="+mn-cs"/>
              </a:rPr>
              <a:t>Sửa:</a:t>
            </a:r>
            <a:r>
              <a:rPr lang="vi" sz="1800" dirty="0">
                <a:solidFill>
                  <a:schemeClr val="dk1"/>
                </a:solidFill>
                <a:latin typeface="+mn-lt"/>
                <a:ea typeface="+mn-ea"/>
                <a:cs typeface="+mn-cs"/>
              </a:rPr>
              <a:t> bỏ chú thích dưới ô vai trò vì đè chữ ở 360 dp</a:t>
            </a:r>
          </a:p>
          <a:p>
            <a:pPr marL="0" indent="0" algn="l">
              <a:lnSpc>
                <a:spcPts val="2550"/>
              </a:lnSpc>
              <a:spcBef>
                <a:spcPts val="2100"/>
              </a:spcBef>
              <a:buNone/>
            </a:pPr>
            <a:r>
              <a:rPr lang="vi" sz="1800" b="1" dirty="0">
                <a:solidFill>
                  <a:schemeClr val="accent3"/>
                </a:solidFill>
                <a:latin typeface="+mn-lt"/>
                <a:ea typeface="+mn-ea"/>
                <a:cs typeface="+mn-cs"/>
              </a:rPr>
              <a:t>Từ chối:</a:t>
            </a:r>
            <a:r>
              <a:rPr lang="vi" sz="1800" dirty="0">
                <a:solidFill>
                  <a:schemeClr val="dk1"/>
                </a:solidFill>
                <a:latin typeface="+mn-lt"/>
                <a:ea typeface="+mn-ea"/>
                <a:cs typeface="+mn-cs"/>
              </a:rPr>
              <a:t> dùng cam FPT #F37021 cho nút (chữ trắng chỉ 2.9:1); chỉ dùng cho logo</a:t>
            </a:r>
          </a:p>
          <a:p>
            <a:pPr marL="0" indent="0" algn="l">
              <a:lnSpc>
                <a:spcPts val="2550"/>
              </a:lnSpc>
              <a:spcBef>
                <a:spcPts val="2100"/>
              </a:spcBef>
              <a:buNone/>
            </a:pPr>
            <a:r>
              <a:rPr lang="vi" sz="1800" b="1" dirty="0">
                <a:solidFill>
                  <a:schemeClr val="accent3"/>
                </a:solidFill>
                <a:latin typeface="+mn-lt"/>
                <a:ea typeface="+mn-ea"/>
                <a:cs typeface="+mn-cs"/>
              </a:rPr>
              <a:t>Từ chối/sửa:</a:t>
            </a:r>
            <a:r>
              <a:rPr lang="vi" sz="1800" dirty="0">
                <a:solidFill>
                  <a:schemeClr val="dk1"/>
                </a:solidFill>
                <a:latin typeface="+mn-lt"/>
                <a:ea typeface="+mn-ea"/>
                <a:cs typeface="+mn-cs"/>
              </a:rPr>
              <a:t> bỏ màu xanh dương, bỏ trường MSSV và email edu</a:t>
            </a:r>
          </a:p>
          <a:p>
            <a:pPr marL="0" indent="0" algn="l">
              <a:lnSpc>
                <a:spcPts val="2550"/>
              </a:lnSpc>
              <a:spcBef>
                <a:spcPts val="2100"/>
              </a:spcBef>
              <a:buNone/>
            </a:pPr>
            <a:r>
              <a:rPr lang="vi" sz="1800" dirty="0">
                <a:solidFill>
                  <a:schemeClr val="dk1"/>
                </a:solidFill>
                <a:latin typeface="+mn-lt"/>
                <a:ea typeface="+mn-ea"/>
                <a:cs typeface="+mn-cs"/>
              </a:rPr>
              <a:t>Mỗi quyết định gắn với một thay đổi trong Figma </a:t>
            </a:r>
            <a:r>
              <a:rPr lang="vi" sz="1800" dirty="0">
                <a:solidFill>
                  <a:schemeClr val="dk1"/>
                </a:solidFill>
                <a:latin typeface="+mn-lt"/>
                <a:ea typeface="+mn-ea"/>
                <a:cs typeface="+mn-cs"/>
              </a:rPr>
              <a:t>(vd: S4 và S17 sửa trong Figma; S13 đổi thành "Tutor Match, 6 of 6")</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3"/>
            </a:solidFill>
            <a:ln>
              <a:noFill/>
            </a:ln>
          </p:spPr>
          <p:txBody>
            <a:bodyPr/>
            <a:lstStyle/>
            <a:p>
              <a:endParaRPr/>
            </a:p>
          </p:txBody>
        </p:sp>
      </p:grpSp>
      <p:grpSp>
        <p:nvGrpSpPr>
          <p:cNvPr id="12" name="source-note"/>
          <p:cNvGrpSpPr/>
          <p:nvPr/>
        </p:nvGrpSpPr>
        <p:grpSpPr>
          <a:xfrm>
            <a:off x="755142" y="6121400"/>
            <a:ext cx="5081210" cy="264033"/>
            <a:chOff x="755142" y="6121400"/>
            <a:chExt cx="5081210" cy="264033"/>
          </a:xfrm>
        </p:grpSpPr>
        <p:sp>
          <p:nvSpPr>
            <p:cNvPr id="11" name="TextBox 11"/>
            <p:cNvSpPr txBox="1"/>
            <p:nvPr/>
          </p:nvSpPr>
          <p:spPr>
            <a:xfrm>
              <a:off x="755142" y="6121400"/>
              <a:ext cx="5081210"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design/design-decisions.md; ai/ai-design-log.md mục 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age-title-slot Placeholder Carrier"/>
          <p:cNvSpPr txBox="1">
            <a:spLocks noGrp="1"/>
          </p:cNvSpPr>
          <p:nvPr>
            <p:ph type="title"/>
          </p:nvPr>
        </p:nvSpPr>
        <p:spPr>
          <a:xfrm>
            <a:off x="745998" y="406400"/>
            <a:ext cx="439887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Wireframe và Final UI</a:t>
            </a:r>
          </a:p>
        </p:txBody>
      </p:sp>
      <p:sp>
        <p:nvSpPr>
          <p:cNvPr id="12" name="content-slot Placeholder Carrier"/>
          <p:cNvSpPr txBox="1">
            <a:spLocks noGrp="1"/>
          </p:cNvSpPr>
          <p:nvPr>
            <p:ph type="body" idx="1"/>
          </p:nvPr>
        </p:nvSpPr>
        <p:spPr>
          <a:xfrm>
            <a:off x="752856" y="1422400"/>
            <a:ext cx="4007724" cy="2828544"/>
          </a:xfrm>
          <a:prstGeom prst="rect">
            <a:avLst/>
          </a:prstGeom>
          <a:noFill/>
          <a:ln>
            <a:noFill/>
          </a:ln>
        </p:spPr>
        <p:txBody>
          <a:bodyPr wrap="none" lIns="0" tIns="0" rIns="0" bIns="0" anchor="t" anchorCtr="0">
            <a:noAutofit/>
          </a:bodyPr>
          <a:lstStyle/>
          <a:p>
            <a:pPr marL="0" indent="0" algn="l">
              <a:lnSpc>
                <a:spcPts val="2550"/>
              </a:lnSpc>
              <a:buNone/>
            </a:pPr>
            <a:r>
              <a:rPr lang="vi" sz="1800" dirty="0">
                <a:solidFill>
                  <a:schemeClr val="dk1"/>
                </a:solidFill>
                <a:latin typeface="+mn-lt"/>
                <a:ea typeface="+mn-ea"/>
                <a:cs typeface="+mn-cs"/>
              </a:rPr>
              <a:t>Wireframe thấp (Figma Page 02) so với </a:t>
            </a:r>
            <a:r>
              <a:rPr lang="vi" sz="1800" dirty="0">
                <a:solidFill>
                  <a:schemeClr val="dk1"/>
                </a:solidFill>
                <a:latin typeface="+mn-lt"/>
                <a:ea typeface="+mn-ea"/>
                <a:cs typeface="+mn-cs"/>
              </a:rPr>
              <a:t>25 màn final (Page 03, 360×800)</a:t>
            </a:r>
          </a:p>
          <a:p>
            <a:pPr marL="0" indent="0" algn="l">
              <a:lnSpc>
                <a:spcPts val="2550"/>
              </a:lnSpc>
              <a:spcBef>
                <a:spcPts val="2100"/>
              </a:spcBef>
              <a:buNone/>
            </a:pPr>
            <a:r>
              <a:rPr lang="vi" sz="1800" dirty="0">
                <a:solidFill>
                  <a:schemeClr val="dk1"/>
                </a:solidFill>
                <a:latin typeface="+mn-lt"/>
                <a:ea typeface="+mn-ea"/>
                <a:cs typeface="+mn-cs"/>
              </a:rPr>
              <a:t>Một nút chính mỗi màn, </a:t>
            </a:r>
            <a:r>
              <a:rPr lang="vi" sz="1800" dirty="0">
                <a:solidFill>
                  <a:schemeClr val="dk1"/>
                </a:solidFill>
                <a:latin typeface="+mn-lt"/>
                <a:ea typeface="+mn-ea"/>
                <a:cs typeface="+mn-cs"/>
              </a:rPr>
              <a:t>hàng ngành 40/48 dp làm điểm nhấn</a:t>
            </a:r>
          </a:p>
          <a:p>
            <a:pPr marL="0" indent="0" algn="l">
              <a:lnSpc>
                <a:spcPts val="2550"/>
              </a:lnSpc>
              <a:spcBef>
                <a:spcPts val="2100"/>
              </a:spcBef>
              <a:buNone/>
            </a:pPr>
            <a:r>
              <a:rPr lang="vi" sz="1800" b="1" dirty="0">
                <a:solidFill>
                  <a:schemeClr val="dk1"/>
                </a:solidFill>
                <a:latin typeface="+mn-lt"/>
                <a:ea typeface="+mn-ea"/>
                <a:cs typeface="+mn-cs"/>
              </a:rPr>
              <a:t>State:</a:t>
            </a:r>
            <a:r>
              <a:rPr lang="vi" sz="1800" dirty="0">
                <a:solidFill>
                  <a:schemeClr val="dk1"/>
                </a:solidFill>
                <a:latin typeface="+mn-lt"/>
                <a:ea typeface="+mn-ea"/>
                <a:cs typeface="+mn-cs"/>
              </a:rPr>
              <a:t> loading (S8), </a:t>
            </a:r>
            <a:r>
              <a:rPr lang="vi" sz="1800" dirty="0">
                <a:solidFill>
                  <a:schemeClr val="dk1"/>
                </a:solidFill>
                <a:latin typeface="+mn-lt"/>
                <a:ea typeface="+mn-ea"/>
                <a:cs typeface="+mn-cs"/>
              </a:rPr>
              <a:t>empty (S14 All matched), </a:t>
            </a:r>
            <a:r>
              <a:rPr lang="vi" sz="1800" dirty="0">
                <a:solidFill>
                  <a:schemeClr val="dk1"/>
                </a:solidFill>
                <a:latin typeface="+mn-lt"/>
                <a:ea typeface="+mn-ea"/>
                <a:cs typeface="+mn-cs"/>
              </a:rPr>
              <a:t>error (S13, S18), dialog (S12, S17)</a:t>
            </a:r>
          </a:p>
        </p:txBody>
      </p:sp>
      <p:pic>
        <p:nvPicPr>
          <p:cNvPr id="13" name="picture-slot Placeholder Carrier"/>
          <p:cNvPicPr>
            <a:picLocks noGrp="1" noChangeAspect="1"/>
          </p:cNvPicPr>
          <p:nvPr>
            <p:ph type="pic" idx="2"/>
          </p:nvPr>
        </p:nvPicPr>
        <p:blipFill>
          <a:blip r:embed="rId3"/>
          <a:stretch>
            <a:fillRect/>
          </a:stretch>
        </p:blipFill>
        <p:spPr>
          <a:xfrm>
            <a:off x="7124700" y="2021742"/>
            <a:ext cx="1390650" cy="2852615"/>
          </a:xfrm>
          <a:prstGeom prst="rect">
            <a:avLst/>
          </a:prstGeom>
        </p:spPr>
      </p:pic>
      <p:grpSp>
        <p:nvGrpSpPr>
          <p:cNvPr id="17" name="state-caption"/>
          <p:cNvGrpSpPr/>
          <p:nvPr/>
        </p:nvGrpSpPr>
        <p:grpSpPr>
          <a:xfrm>
            <a:off x="6660642" y="5568950"/>
            <a:ext cx="2748241" cy="473583"/>
            <a:chOff x="6660642" y="5568950"/>
            <a:chExt cx="2748241" cy="473583"/>
          </a:xfrm>
        </p:grpSpPr>
        <p:sp>
          <p:nvSpPr>
            <p:cNvPr id="16" name="TextBox 16"/>
            <p:cNvSpPr txBox="1"/>
            <p:nvPr/>
          </p:nvSpPr>
          <p:spPr>
            <a:xfrm>
              <a:off x="6660642" y="5568950"/>
              <a:ext cx="2748241" cy="473583"/>
            </a:xfrm>
            <a:prstGeom prst="rect">
              <a:avLst/>
            </a:prstGeom>
            <a:noFill/>
            <a:ln>
              <a:noFill/>
            </a:ln>
          </p:spPr>
          <p:txBody>
            <a:bodyPr wrap="none" lIns="0" tIns="0" rIns="0" bIns="0" anchor="t" anchorCtr="0">
              <a:spAutoFit/>
            </a:bodyPr>
            <a:lstStyle/>
            <a:p>
              <a:pPr algn="l">
                <a:lnSpc>
                  <a:spcPts val="1650"/>
                </a:lnSpc>
              </a:pPr>
              <a:r>
                <a:rPr lang="vi" sz="1350" b="1" dirty="0">
                  <a:solidFill>
                    <a:schemeClr val="accent6"/>
                  </a:solidFill>
                  <a:latin typeface="+mn-lt"/>
                  <a:ea typeface="+mn-ea"/>
                  <a:cs typeface="+mn-cs"/>
                </a:rPr>
                <a:t>Figma, S10 Proposal detail:</a:t>
              </a:r>
              <a:r>
                <a:rPr lang="vi" sz="1350" dirty="0">
                  <a:solidFill>
                    <a:schemeClr val="accent6"/>
                  </a:solidFill>
                  <a:latin typeface="+mn-lt"/>
                  <a:ea typeface="+mn-ea"/>
                  <a:cs typeface="+mn-cs"/>
                </a:rPr>
                <a:t> wireframe W10 (trái)</a:t>
              </a:r>
              <a:br>
                <a:rPr lang="vi" sz="1350" dirty="0">
                  <a:solidFill>
                    <a:schemeClr val="accent6"/>
                  </a:solidFill>
                  <a:latin typeface="+mn-lt"/>
                  <a:ea typeface="+mn-ea"/>
                  <a:cs typeface="+mn-cs"/>
                </a:rPr>
              </a:br>
              <a:r>
                <a:rPr lang="vi" sz="1350" dirty="0">
                  <a:solidFill>
                    <a:schemeClr val="accent6"/>
                  </a:solidFill>
                  <a:latin typeface="+mn-lt"/>
                  <a:ea typeface="+mn-ea"/>
                  <a:cs typeface="+mn-cs"/>
                </a:rPr>
                <a:t>và Final UI (phải)</a:t>
              </a:r>
            </a:p>
          </p:txBody>
        </p:sp>
      </p:grpSp>
      <p:grpSp>
        <p:nvGrpSpPr>
          <p:cNvPr id="19" name="title-accent"/>
          <p:cNvGrpSpPr/>
          <p:nvPr/>
        </p:nvGrpSpPr>
        <p:grpSpPr>
          <a:xfrm>
            <a:off x="762000" y="895350"/>
            <a:ext cx="914400" cy="38100"/>
            <a:chOff x="762000" y="895350"/>
            <a:chExt cx="914400" cy="38100"/>
          </a:xfrm>
        </p:grpSpPr>
        <p:sp>
          <p:nvSpPr>
            <p:cNvPr id="18" name="Rectangle 18"/>
            <p:cNvSpPr/>
            <p:nvPr/>
          </p:nvSpPr>
          <p:spPr>
            <a:xfrm>
              <a:off x="762000" y="895350"/>
              <a:ext cx="914400" cy="38100"/>
            </a:xfrm>
            <a:prstGeom prst="rect">
              <a:avLst/>
            </a:prstGeom>
            <a:solidFill>
              <a:schemeClr val="accent2"/>
            </a:solidFill>
            <a:ln>
              <a:noFill/>
            </a:ln>
          </p:spPr>
          <p:txBody>
            <a:bodyPr/>
            <a:lstStyle/>
            <a:p>
              <a:endParaRPr/>
            </a:p>
          </p:txBody>
        </p:sp>
      </p:grpSp>
      <p:grpSp>
        <p:nvGrpSpPr>
          <p:cNvPr id="21" name="source-note"/>
          <p:cNvGrpSpPr/>
          <p:nvPr/>
        </p:nvGrpSpPr>
        <p:grpSpPr>
          <a:xfrm>
            <a:off x="755142" y="6140450"/>
            <a:ext cx="4209437" cy="264033"/>
            <a:chOff x="755142" y="6140450"/>
            <a:chExt cx="4209437" cy="264033"/>
          </a:xfrm>
        </p:grpSpPr>
        <p:sp>
          <p:nvSpPr>
            <p:cNvPr id="20" name="TextBox 20"/>
            <p:cNvSpPr txBox="1"/>
            <p:nvPr/>
          </p:nvSpPr>
          <p:spPr>
            <a:xfrm>
              <a:off x="755142" y="6140450"/>
              <a:ext cx="4209437"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Figma Page 02 và 03: ảnh chụp từ file Figma</a:t>
              </a:r>
            </a:p>
          </p:txBody>
        </p:sp>
      </p:grpSp>
      <p:pic>
        <p:nvPicPr>
          <p:cNvPr id="22" name="Picture 21" descr="wf.png"/>
          <p:cNvPicPr>
            <a:picLocks noChangeAspect="1"/>
          </p:cNvPicPr>
          <p:nvPr/>
        </p:nvPicPr>
        <p:blipFill>
          <a:blip r:embed="rId4"/>
          <a:stretch>
            <a:fillRect/>
          </a:stretch>
        </p:blipFill>
        <p:spPr>
          <a:xfrm>
            <a:off x="7146302" y="1874519"/>
            <a:ext cx="2852395" cy="310895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age-title-slot Placeholder Carrier"/>
          <p:cNvSpPr txBox="1">
            <a:spLocks noGrp="1"/>
          </p:cNvSpPr>
          <p:nvPr>
            <p:ph type="title"/>
          </p:nvPr>
        </p:nvSpPr>
        <p:spPr>
          <a:xfrm>
            <a:off x="745998" y="406400"/>
            <a:ext cx="3100976"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Design System</a:t>
            </a:r>
          </a:p>
        </p:txBody>
      </p:sp>
      <p:sp>
        <p:nvSpPr>
          <p:cNvPr id="12" name="content-slot Placeholder Carrier"/>
          <p:cNvSpPr txBox="1">
            <a:spLocks noGrp="1"/>
          </p:cNvSpPr>
          <p:nvPr>
            <p:ph type="body" idx="1"/>
          </p:nvPr>
        </p:nvSpPr>
        <p:spPr>
          <a:xfrm>
            <a:off x="752856" y="1352550"/>
            <a:ext cx="4174327" cy="4695444"/>
          </a:xfrm>
          <a:prstGeom prst="rect">
            <a:avLst/>
          </a:prstGeom>
          <a:noFill/>
          <a:ln>
            <a:noFill/>
          </a:ln>
        </p:spPr>
        <p:txBody>
          <a:bodyPr wrap="none" lIns="0" tIns="0" rIns="0" bIns="0" anchor="t" anchorCtr="0">
            <a:noAutofit/>
          </a:bodyPr>
          <a:lstStyle/>
          <a:p>
            <a:pPr marL="0" indent="0" algn="l">
              <a:lnSpc>
                <a:spcPts val="2400"/>
              </a:lnSpc>
              <a:buNone/>
            </a:pPr>
            <a:r>
              <a:rPr lang="vi" sz="1600" b="1" dirty="0">
                <a:solidFill>
                  <a:schemeClr val="dk1"/>
                </a:solidFill>
                <a:latin typeface="+mn-lt"/>
                <a:ea typeface="+mn-ea"/>
                <a:cs typeface="+mn-cs"/>
              </a:rPr>
              <a:t>Token màu:</a:t>
            </a:r>
            <a:r>
              <a:rPr lang="vi" sz="1600" dirty="0">
                <a:solidFill>
                  <a:schemeClr val="dk1"/>
                </a:solidFill>
                <a:latin typeface="+mn-lt"/>
                <a:ea typeface="+mn-ea"/>
                <a:cs typeface="+mn-cs"/>
              </a:rPr>
              <a:t> primary #B23E00, </a:t>
            </a:r>
            <a:r>
              <a:rPr lang="vi" sz="1600" dirty="0">
                <a:solidFill>
                  <a:schemeClr val="dk1"/>
                </a:solidFill>
                <a:latin typeface="+mn-lt"/>
                <a:ea typeface="+mn-ea"/>
                <a:cs typeface="+mn-cs"/>
              </a:rPr>
              <a:t>primary-container #FFE2D2, </a:t>
            </a:r>
            <a:r>
              <a:rPr lang="vi" sz="1600" dirty="0">
                <a:solidFill>
                  <a:schemeClr val="dk1"/>
                </a:solidFill>
                <a:latin typeface="+mn-lt"/>
                <a:ea typeface="+mn-ea"/>
                <a:cs typeface="+mn-cs"/>
              </a:rPr>
              <a:t>tertiary #1B6B3C, error #B3261E, </a:t>
            </a:r>
            <a:r>
              <a:rPr lang="vi" sz="1600" dirty="0">
                <a:solidFill>
                  <a:schemeClr val="dk1"/>
                </a:solidFill>
                <a:latin typeface="+mn-lt"/>
                <a:ea typeface="+mn-ea"/>
                <a:cs typeface="+mn-cs"/>
              </a:rPr>
              <a:t>surface #FFFFFF, on-surface #1C1B18</a:t>
            </a:r>
          </a:p>
          <a:p>
            <a:pPr marL="0" indent="0" algn="l">
              <a:lnSpc>
                <a:spcPts val="2400"/>
              </a:lnSpc>
              <a:spcBef>
                <a:spcPts val="750"/>
              </a:spcBef>
              <a:buNone/>
            </a:pPr>
            <a:r>
              <a:rPr lang="vi" sz="1600" b="1" dirty="0">
                <a:solidFill>
                  <a:schemeClr val="dk1"/>
                </a:solidFill>
                <a:latin typeface="+mn-lt"/>
                <a:ea typeface="+mn-ea"/>
                <a:cs typeface="+mn-cs"/>
              </a:rPr>
              <a:t>Chữ:</a:t>
            </a:r>
            <a:r>
              <a:rPr lang="vi" sz="1600" dirty="0">
                <a:solidFill>
                  <a:schemeClr val="dk1"/>
                </a:solidFill>
                <a:latin typeface="+mn-lt"/>
                <a:ea typeface="+mn-ea"/>
                <a:cs typeface="+mn-cs"/>
              </a:rPr>
              <a:t> Be Vietnam Pro; </a:t>
            </a:r>
            <a:r>
              <a:rPr lang="vi" sz="1600" dirty="0">
                <a:solidFill>
                  <a:schemeClr val="dk1"/>
                </a:solidFill>
                <a:latin typeface="+mn-lt"/>
                <a:ea typeface="+mn-ea"/>
                <a:cs typeface="+mn-cs"/>
              </a:rPr>
              <a:t>6 style (24/20/16/16/14/14 sp)</a:t>
            </a:r>
          </a:p>
          <a:p>
            <a:pPr marL="0" indent="0" algn="l">
              <a:lnSpc>
                <a:spcPts val="2400"/>
              </a:lnSpc>
              <a:spcBef>
                <a:spcPts val="750"/>
              </a:spcBef>
              <a:buNone/>
            </a:pPr>
            <a:r>
              <a:rPr lang="vi" sz="1600" dirty="0">
                <a:solidFill>
                  <a:schemeClr val="dk1"/>
                </a:solidFill>
                <a:latin typeface="+mn-lt"/>
                <a:ea typeface="+mn-ea"/>
                <a:cs typeface="+mn-cs"/>
              </a:rPr>
              <a:t>Spacing 4/8/16/24/32; radius 8/12/16/full; </a:t>
            </a:r>
            <a:r>
              <a:rPr lang="vi" sz="1600" dirty="0">
                <a:solidFill>
                  <a:schemeClr val="dk1"/>
                </a:solidFill>
                <a:latin typeface="+mn-lt"/>
                <a:ea typeface="+mn-ea"/>
                <a:cs typeface="+mn-cs"/>
              </a:rPr>
              <a:t>elevation phẳng, chỉ dialog và </a:t>
            </a:r>
            <a:r>
              <a:rPr lang="vi" sz="1600" dirty="0">
                <a:solidFill>
                  <a:schemeClr val="dk1"/>
                </a:solidFill>
                <a:latin typeface="+mn-lt"/>
                <a:ea typeface="+mn-ea"/>
                <a:cs typeface="+mn-cs"/>
              </a:rPr>
              <a:t>snackbar có bóng</a:t>
            </a:r>
          </a:p>
          <a:p>
            <a:pPr marL="0" indent="0" algn="l">
              <a:lnSpc>
                <a:spcPts val="2400"/>
              </a:lnSpc>
              <a:spcBef>
                <a:spcPts val="750"/>
              </a:spcBef>
              <a:buNone/>
            </a:pPr>
            <a:r>
              <a:rPr lang="vi" sz="1600" b="1" dirty="0">
                <a:solidFill>
                  <a:schemeClr val="dk1"/>
                </a:solidFill>
                <a:latin typeface="+mn-lt"/>
                <a:ea typeface="+mn-ea"/>
                <a:cs typeface="+mn-cs"/>
              </a:rPr>
              <a:t>9 component:</a:t>
            </a:r>
            <a:r>
              <a:rPr lang="vi" sz="1600" dirty="0">
                <a:solidFill>
                  <a:schemeClr val="dk1"/>
                </a:solidFill>
                <a:latin typeface="+mn-lt"/>
                <a:ea typeface="+mn-ea"/>
                <a:cs typeface="+mn-cs"/>
              </a:rPr>
              <a:t> Button, Text field, </a:t>
            </a:r>
            <a:r>
              <a:rPr lang="vi" sz="1600" dirty="0">
                <a:solidFill>
                  <a:schemeClr val="dk1"/>
                </a:solidFill>
                <a:latin typeface="+mn-lt"/>
                <a:ea typeface="+mn-ea"/>
                <a:cs typeface="+mn-cs"/>
              </a:rPr>
              <a:t>Card, Navigation, App bar, Dialog, </a:t>
            </a:r>
            <a:r>
              <a:rPr lang="vi" sz="1600" dirty="0">
                <a:solidFill>
                  <a:schemeClr val="dk1"/>
                </a:solidFill>
                <a:latin typeface="+mn-lt"/>
                <a:ea typeface="+mn-ea"/>
                <a:cs typeface="+mn-cs"/>
              </a:rPr>
              <a:t>Loading, Empty, Error, đều có state</a:t>
            </a:r>
          </a:p>
          <a:p>
            <a:pPr marL="0" indent="0" algn="l">
              <a:lnSpc>
                <a:spcPts val="2400"/>
              </a:lnSpc>
              <a:spcBef>
                <a:spcPts val="750"/>
              </a:spcBef>
              <a:buNone/>
            </a:pPr>
            <a:r>
              <a:rPr lang="vi" sz="1600" dirty="0">
                <a:solidFill>
                  <a:schemeClr val="dk1"/>
                </a:solidFill>
                <a:latin typeface="+mn-lt"/>
                <a:ea typeface="+mn-ea"/>
                <a:cs typeface="+mn-cs"/>
              </a:rPr>
              <a:t>Token dùng qua Figma Variables </a:t>
            </a:r>
            <a:r>
              <a:rPr lang="vi" sz="1600" dirty="0">
                <a:solidFill>
                  <a:schemeClr val="dk1"/>
                </a:solidFill>
                <a:latin typeface="+mn-lt"/>
                <a:ea typeface="+mn-ea"/>
                <a:cs typeface="+mn-cs"/>
              </a:rPr>
              <a:t>(0 màu thô, 25 màn)</a:t>
            </a:r>
          </a:p>
        </p:txBody>
      </p:sp>
      <p:pic>
        <p:nvPicPr>
          <p:cNvPr id="13" name="picture-slot Placeholder Carrier"/>
          <p:cNvPicPr>
            <a:picLocks noGrp="1" noChangeAspect="1"/>
          </p:cNvPicPr>
          <p:nvPr>
            <p:ph type="pic" idx="2"/>
          </p:nvPr>
        </p:nvPicPr>
        <p:blipFill>
          <a:blip r:embed="rId3"/>
          <a:stretch>
            <a:fillRect/>
          </a:stretch>
        </p:blipFill>
        <p:spPr>
          <a:xfrm>
            <a:off x="7086600" y="1943100"/>
            <a:ext cx="2971800" cy="2971800"/>
          </a:xfrm>
          <a:prstGeom prst="rect">
            <a:avLst/>
          </a:prstGeom>
        </p:spPr>
      </p:pic>
      <p:grpSp>
        <p:nvGrpSpPr>
          <p:cNvPr id="17" name="title-accent"/>
          <p:cNvGrpSpPr/>
          <p:nvPr/>
        </p:nvGrpSpPr>
        <p:grpSpPr>
          <a:xfrm>
            <a:off x="762000" y="895350"/>
            <a:ext cx="914400" cy="38100"/>
            <a:chOff x="762000" y="895350"/>
            <a:chExt cx="914400" cy="38100"/>
          </a:xfrm>
        </p:grpSpPr>
        <p:sp>
          <p:nvSpPr>
            <p:cNvPr id="16" name="Rectangle 16"/>
            <p:cNvSpPr/>
            <p:nvPr/>
          </p:nvSpPr>
          <p:spPr>
            <a:xfrm>
              <a:off x="762000" y="895350"/>
              <a:ext cx="914400" cy="38100"/>
            </a:xfrm>
            <a:prstGeom prst="rect">
              <a:avLst/>
            </a:prstGeom>
            <a:solidFill>
              <a:schemeClr val="accent2"/>
            </a:solidFill>
            <a:ln>
              <a:noFill/>
            </a:ln>
          </p:spPr>
          <p:txBody>
            <a:bodyPr/>
            <a:lstStyle/>
            <a:p>
              <a:endParaRPr/>
            </a:p>
          </p:txBody>
        </p:sp>
      </p:grpSp>
      <p:grpSp>
        <p:nvGrpSpPr>
          <p:cNvPr id="19" name="source-note"/>
          <p:cNvGrpSpPr/>
          <p:nvPr/>
        </p:nvGrpSpPr>
        <p:grpSpPr>
          <a:xfrm>
            <a:off x="755142" y="6140450"/>
            <a:ext cx="4133460" cy="264033"/>
            <a:chOff x="755142" y="6140450"/>
            <a:chExt cx="4133460" cy="264033"/>
          </a:xfrm>
        </p:grpSpPr>
        <p:sp>
          <p:nvSpPr>
            <p:cNvPr id="18" name="TextBox 18"/>
            <p:cNvSpPr txBox="1"/>
            <p:nvPr/>
          </p:nvSpPr>
          <p:spPr>
            <a:xfrm>
              <a:off x="755142" y="6140450"/>
              <a:ext cx="4133460"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design/DESIGN.md; Figma Page 04 và 05</a:t>
              </a:r>
            </a:p>
          </p:txBody>
        </p:sp>
      </p:grpSp>
      <p:pic>
        <p:nvPicPr>
          <p:cNvPr id="20" name="Picture 19" descr="ds.png"/>
          <p:cNvPicPr>
            <a:picLocks noChangeAspect="1"/>
          </p:cNvPicPr>
          <p:nvPr/>
        </p:nvPicPr>
        <p:blipFill>
          <a:blip r:embed="rId4"/>
          <a:stretch>
            <a:fillRect/>
          </a:stretch>
        </p:blipFill>
        <p:spPr>
          <a:xfrm>
            <a:off x="6967728" y="2307771"/>
            <a:ext cx="3200400" cy="22424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ge-title-slot Placeholder Carrier"/>
          <p:cNvSpPr txBox="1">
            <a:spLocks noGrp="1"/>
          </p:cNvSpPr>
          <p:nvPr>
            <p:ph type="title"/>
          </p:nvPr>
        </p:nvSpPr>
        <p:spPr>
          <a:xfrm>
            <a:off x="745998" y="406400"/>
            <a:ext cx="5738256"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Accessibility và Responsive</a:t>
            </a:r>
          </a:p>
        </p:txBody>
      </p:sp>
      <p:sp>
        <p:nvSpPr>
          <p:cNvPr id="8" name="content-slot Placeholder Carrier"/>
          <p:cNvSpPr txBox="1">
            <a:spLocks noGrp="1"/>
          </p:cNvSpPr>
          <p:nvPr>
            <p:ph type="body" idx="1"/>
          </p:nvPr>
        </p:nvSpPr>
        <p:spPr>
          <a:xfrm>
            <a:off x="752856" y="1327150"/>
            <a:ext cx="7295952" cy="2828544"/>
          </a:xfrm>
          <a:prstGeom prst="rect">
            <a:avLst/>
          </a:prstGeom>
          <a:noFill/>
          <a:ln>
            <a:noFill/>
          </a:ln>
        </p:spPr>
        <p:txBody>
          <a:bodyPr wrap="none" lIns="0" tIns="0" rIns="0" bIns="0" anchor="t" anchorCtr="0">
            <a:noAutofit/>
          </a:bodyPr>
          <a:lstStyle/>
          <a:p>
            <a:pPr marL="0" indent="0" algn="l">
              <a:lnSpc>
                <a:spcPts val="2550"/>
              </a:lnSpc>
              <a:buNone/>
            </a:pPr>
            <a:r>
              <a:rPr lang="vi" sz="1800" b="1" dirty="0">
                <a:solidFill>
                  <a:schemeClr val="dk1"/>
                </a:solidFill>
                <a:latin typeface="+mn-lt"/>
                <a:ea typeface="+mn-ea"/>
                <a:cs typeface="+mn-cs"/>
              </a:rPr>
              <a:t>Chữ thường ≥4.5:1:</a:t>
            </a:r>
            <a:r>
              <a:rPr lang="vi" sz="1800" dirty="0">
                <a:solidFill>
                  <a:schemeClr val="dk1"/>
                </a:solidFill>
                <a:latin typeface="+mn-lt"/>
                <a:ea typeface="+mn-ea"/>
                <a:cs typeface="+mn-cs"/>
              </a:rPr>
              <a:t> on-surface/surface 17.22; on-primary/primary 5.86; </a:t>
            </a:r>
            <a:r>
              <a:rPr lang="vi" sz="1800" dirty="0">
                <a:solidFill>
                  <a:schemeClr val="dk1"/>
                </a:solidFill>
                <a:latin typeface="+mn-lt"/>
                <a:ea typeface="+mn-ea"/>
                <a:cs typeface="+mn-cs"/>
              </a:rPr>
              <a:t>error/error-container 5.14</a:t>
            </a:r>
          </a:p>
          <a:p>
            <a:pPr marL="0" indent="0" algn="l">
              <a:lnSpc>
                <a:spcPts val="2550"/>
              </a:lnSpc>
              <a:spcBef>
                <a:spcPts val="1050"/>
              </a:spcBef>
              <a:buNone/>
            </a:pPr>
            <a:r>
              <a:rPr lang="vi" sz="1800" b="1" dirty="0">
                <a:solidFill>
                  <a:schemeClr val="dk1"/>
                </a:solidFill>
                <a:latin typeface="+mn-lt"/>
                <a:ea typeface="+mn-ea"/>
                <a:cs typeface="+mn-cs"/>
              </a:rPr>
              <a:t>Control ≥3:1:</a:t>
            </a:r>
            <a:r>
              <a:rPr lang="vi" sz="1800" dirty="0">
                <a:solidFill>
                  <a:schemeClr val="dk1"/>
                </a:solidFill>
                <a:latin typeface="+mn-lt"/>
                <a:ea typeface="+mn-ea"/>
                <a:cs typeface="+mn-cs"/>
              </a:rPr>
              <a:t> outline/surface 4.61; viền ô đề xuất 4.76; </a:t>
            </a:r>
            <a:r>
              <a:rPr lang="vi" sz="1800" dirty="0">
                <a:solidFill>
                  <a:schemeClr val="dk1"/>
                </a:solidFill>
                <a:latin typeface="+mn-lt"/>
                <a:ea typeface="+mn-ea"/>
                <a:cs typeface="+mn-cs"/>
              </a:rPr>
              <a:t>viền thẻ 1.48 (ngoại lệ, chỉ phân tách)</a:t>
            </a:r>
          </a:p>
          <a:p>
            <a:pPr marL="0" indent="0" algn="l">
              <a:lnSpc>
                <a:spcPts val="2550"/>
              </a:lnSpc>
              <a:spcBef>
                <a:spcPts val="1050"/>
              </a:spcBef>
              <a:buNone/>
            </a:pPr>
            <a:r>
              <a:rPr lang="vi" sz="1800" dirty="0">
                <a:solidFill>
                  <a:schemeClr val="dk1"/>
                </a:solidFill>
                <a:latin typeface="+mn-lt"/>
                <a:ea typeface="+mn-ea"/>
                <a:cs typeface="+mn-cs"/>
              </a:rPr>
              <a:t>Touch target ≥48 dp; chữ ≥14 sp; không chỉ dùng màu để báo trạng thái</a:t>
            </a:r>
          </a:p>
          <a:p>
            <a:pPr marL="0" indent="0" algn="l">
              <a:lnSpc>
                <a:spcPts val="2550"/>
              </a:lnSpc>
              <a:spcBef>
                <a:spcPts val="1050"/>
              </a:spcBef>
              <a:buNone/>
            </a:pPr>
            <a:r>
              <a:rPr lang="vi" sz="1800" dirty="0">
                <a:solidFill>
                  <a:schemeClr val="dk1"/>
                </a:solidFill>
                <a:latin typeface="+mn-lt"/>
                <a:ea typeface="+mn-ea"/>
                <a:cs typeface="+mn-cs"/>
              </a:rPr>
              <a:t>Kiểm ở 360 dp và 412 dp: 360 dp đạt (21 frame 360×800, 0 chữ &lt;14 sp); 412 dp chưa kiểm</a:t>
            </a:r>
          </a:p>
          <a:p>
            <a:pPr marL="0" indent="0" algn="l">
              <a:lnSpc>
                <a:spcPts val="2550"/>
              </a:lnSpc>
              <a:spcBef>
                <a:spcPts val="1050"/>
              </a:spcBef>
              <a:buNone/>
            </a:pPr>
            <a:r>
              <a:rPr lang="vi" sz="1800" dirty="0">
                <a:solidFill>
                  <a:schemeClr val="dk1"/>
                </a:solidFill>
                <a:latin typeface="+mn-lt"/>
                <a:ea typeface="+mn-ea"/>
                <a:cs typeface="+mn-cs"/>
              </a:rPr>
              <a:t>Màn rộng ≥600 dp: NavigationRail và master-detail (chỉ đặc tả)</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2"/>
            </a:solidFill>
            <a:ln>
              <a:noFill/>
            </a:ln>
          </p:spPr>
          <p:txBody>
            <a:bodyPr/>
            <a:lstStyle/>
            <a:p>
              <a:endParaRPr/>
            </a:p>
          </p:txBody>
        </p:sp>
      </p:grpSp>
      <p:grpSp>
        <p:nvGrpSpPr>
          <p:cNvPr id="12" name="source-note"/>
          <p:cNvGrpSpPr/>
          <p:nvPr/>
        </p:nvGrpSpPr>
        <p:grpSpPr>
          <a:xfrm>
            <a:off x="755142" y="6121400"/>
            <a:ext cx="3767230" cy="264033"/>
            <a:chOff x="755142" y="6121400"/>
            <a:chExt cx="3767230" cy="264033"/>
          </a:xfrm>
        </p:grpSpPr>
        <p:sp>
          <p:nvSpPr>
            <p:cNvPr id="11" name="TextBox 11"/>
            <p:cNvSpPr txBox="1"/>
            <p:nvPr/>
          </p:nvSpPr>
          <p:spPr>
            <a:xfrm>
              <a:off x="755142" y="6121400"/>
              <a:ext cx="3767230"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design/design-decisions.md (checklist)</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ge-title-slot Placeholder Carrier"/>
          <p:cNvSpPr txBox="1">
            <a:spLocks noGrp="1"/>
          </p:cNvSpPr>
          <p:nvPr>
            <p:ph type="title"/>
          </p:nvPr>
        </p:nvSpPr>
        <p:spPr>
          <a:xfrm>
            <a:off x="745998" y="406400"/>
            <a:ext cx="405018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Prototype tương tác</a:t>
            </a:r>
          </a:p>
        </p:txBody>
      </p:sp>
      <p:sp>
        <p:nvSpPr>
          <p:cNvPr id="8" name="content-slot Placeholder Carrier"/>
          <p:cNvSpPr txBox="1">
            <a:spLocks noGrp="1"/>
          </p:cNvSpPr>
          <p:nvPr>
            <p:ph type="body" idx="1"/>
          </p:nvPr>
        </p:nvSpPr>
        <p:spPr>
          <a:xfrm>
            <a:off x="752856" y="1517650"/>
            <a:ext cx="7401336" cy="2618994"/>
          </a:xfrm>
          <a:prstGeom prst="rect">
            <a:avLst/>
          </a:prstGeom>
          <a:noFill/>
          <a:ln>
            <a:noFill/>
          </a:ln>
        </p:spPr>
        <p:txBody>
          <a:bodyPr wrap="none" lIns="0" tIns="0" rIns="0" bIns="0" anchor="t" anchorCtr="0">
            <a:noAutofit/>
          </a:bodyPr>
          <a:lstStyle/>
          <a:p>
            <a:pPr marL="0" indent="0" algn="l">
              <a:lnSpc>
                <a:spcPts val="2550"/>
              </a:lnSpc>
              <a:buNone/>
            </a:pPr>
            <a:r>
              <a:rPr lang="vi" sz="1800" dirty="0">
                <a:solidFill>
                  <a:schemeClr val="dk1"/>
                </a:solidFill>
                <a:latin typeface="+mn-lt"/>
                <a:ea typeface="+mn-ea"/>
                <a:cs typeface="+mn-cs"/>
              </a:rPr>
              <a:t>3 flow bấm được từ điểm bắt đầu đến kết thúc, không ngõ cụt </a:t>
            </a:r>
            <a:r>
              <a:rPr lang="vi" sz="1800" dirty="0">
                <a:solidFill>
                  <a:schemeClr val="dk1"/>
                </a:solidFill>
                <a:latin typeface="+mn-lt"/>
                <a:ea typeface="+mn-ea"/>
                <a:cs typeface="+mn-cs"/>
              </a:rPr>
              <a:t>(đã kiểm bằng script: mọi màn tới được từ điểm bắt đầu). Cuối mỗi flow có banner "hoàn tất" kèm nút làm lại</a:t>
            </a:r>
          </a:p>
          <a:p>
            <a:pPr marL="0" indent="0" algn="l">
              <a:lnSpc>
                <a:spcPts val="2550"/>
              </a:lnSpc>
              <a:spcBef>
                <a:spcPts val="2550"/>
              </a:spcBef>
              <a:buNone/>
            </a:pPr>
            <a:r>
              <a:rPr lang="vi" sz="1800" dirty="0">
                <a:solidFill>
                  <a:schemeClr val="dk1"/>
                </a:solidFill>
                <a:latin typeface="+mn-lt"/>
                <a:ea typeface="+mn-ea"/>
                <a:cs typeface="+mn-cs"/>
              </a:rPr>
              <a:t>Dialog dạng overlay: S12 Approve và S17 Discard</a:t>
            </a:r>
          </a:p>
          <a:p>
            <a:pPr marL="0" indent="0" algn="l">
              <a:lnSpc>
                <a:spcPts val="2550"/>
              </a:lnSpc>
              <a:spcBef>
                <a:spcPts val="2550"/>
              </a:spcBef>
              <a:buNone/>
            </a:pPr>
            <a:r>
              <a:rPr lang="vi" sz="1800" dirty="0">
                <a:solidFill>
                  <a:schemeClr val="dk1"/>
                </a:solidFill>
                <a:latin typeface="+mn-lt"/>
                <a:ea typeface="+mn-ea"/>
                <a:cs typeface="+mn-cs"/>
              </a:rPr>
              <a:t>Loading → kết quả: S8 AI matching → S9 Proposals hoặc S15 No match</a:t>
            </a:r>
          </a:p>
          <a:p>
            <a:pPr marL="0" indent="0" algn="l">
              <a:lnSpc>
                <a:spcPts val="2550"/>
              </a:lnSpc>
              <a:spcBef>
                <a:spcPts val="2550"/>
              </a:spcBef>
              <a:buNone/>
            </a:pPr>
            <a:r>
              <a:rPr lang="vi" sz="1800" dirty="0">
                <a:solidFill>
                  <a:schemeClr val="dk1"/>
                </a:solidFill>
                <a:latin typeface="+mn-lt"/>
                <a:ea typeface="+mn-ea"/>
                <a:cs typeface="+mn-cs"/>
              </a:rPr>
              <a:t>Back quay đúng màn trước; chip lọc, checkbox, công tắc Notifications và Language bấm đổi trạng thái</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5"/>
            </a:solidFill>
            <a:ln>
              <a:noFill/>
            </a:ln>
          </p:spPr>
          <p:txBody>
            <a:bodyPr/>
            <a:lstStyle/>
            <a:p>
              <a:endParaRPr/>
            </a:p>
          </p:txBody>
        </p:sp>
      </p:grpSp>
      <p:grpSp>
        <p:nvGrpSpPr>
          <p:cNvPr id="12" name="demo-cue"/>
          <p:cNvGrpSpPr/>
          <p:nvPr/>
        </p:nvGrpSpPr>
        <p:grpSpPr>
          <a:xfrm>
            <a:off x="749808" y="5099050"/>
            <a:ext cx="7638858" cy="469392"/>
            <a:chOff x="749808" y="5099050"/>
            <a:chExt cx="7638858" cy="469392"/>
          </a:xfrm>
        </p:grpSpPr>
        <p:sp>
          <p:nvSpPr>
            <p:cNvPr id="11" name="TextBox 11"/>
            <p:cNvSpPr txBox="1"/>
            <p:nvPr/>
          </p:nvSpPr>
          <p:spPr>
            <a:xfrm>
              <a:off x="749808" y="5099050"/>
              <a:ext cx="7638858" cy="469392"/>
            </a:xfrm>
            <a:prstGeom prst="rect">
              <a:avLst/>
            </a:prstGeom>
            <a:noFill/>
            <a:ln>
              <a:noFill/>
            </a:ln>
          </p:spPr>
          <p:txBody>
            <a:bodyPr wrap="none" lIns="0" tIns="0" rIns="0" bIns="0" anchor="t" anchorCtr="0">
              <a:spAutoFit/>
            </a:bodyPr>
            <a:lstStyle/>
            <a:p>
              <a:pPr algn="l"/>
              <a:r>
                <a:rPr lang="vi" sz="2400" b="1" dirty="0">
                  <a:solidFill>
                    <a:schemeClr val="accent5"/>
                  </a:solidFill>
                  <a:latin typeface="+mn-lt"/>
                  <a:ea typeface="+mn-ea"/>
                  <a:cs typeface="+mn-cs"/>
                </a:rPr>
                <a:t>Demo trực tiếp trong Figma, không dùng ảnh tĩnh</a:t>
              </a:r>
            </a:p>
          </p:txBody>
        </p:sp>
      </p:grpSp>
      <p:grpSp>
        <p:nvGrpSpPr>
          <p:cNvPr id="14" name="source-note"/>
          <p:cNvGrpSpPr/>
          <p:nvPr/>
        </p:nvGrpSpPr>
        <p:grpSpPr>
          <a:xfrm>
            <a:off x="755142" y="6121400"/>
            <a:ext cx="1905479" cy="264033"/>
            <a:chOff x="755142" y="6121400"/>
            <a:chExt cx="1905479" cy="264033"/>
          </a:xfrm>
        </p:grpSpPr>
        <p:sp>
          <p:nvSpPr>
            <p:cNvPr id="13" name="TextBox 13"/>
            <p:cNvSpPr txBox="1"/>
            <p:nvPr/>
          </p:nvSpPr>
          <p:spPr>
            <a:xfrm>
              <a:off x="755142" y="6121400"/>
              <a:ext cx="1905479"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Figma Page 06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ge-title-slot Placeholder Carrier"/>
          <p:cNvSpPr txBox="1">
            <a:spLocks noGrp="1"/>
          </p:cNvSpPr>
          <p:nvPr>
            <p:ph type="title"/>
          </p:nvPr>
        </p:nvSpPr>
        <p:spPr>
          <a:xfrm>
            <a:off x="745998" y="406400"/>
            <a:ext cx="545336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Flutter Handoff và tổng kết</a:t>
            </a:r>
          </a:p>
        </p:txBody>
      </p:sp>
      <p:sp>
        <p:nvSpPr>
          <p:cNvPr id="8" name="content-slot Placeholder Carrier"/>
          <p:cNvSpPr txBox="1">
            <a:spLocks noGrp="1"/>
          </p:cNvSpPr>
          <p:nvPr>
            <p:ph type="body" idx="1"/>
          </p:nvPr>
        </p:nvSpPr>
        <p:spPr>
          <a:xfrm>
            <a:off x="752856" y="1327150"/>
            <a:ext cx="7285802" cy="3019044"/>
          </a:xfrm>
          <a:prstGeom prst="rect">
            <a:avLst/>
          </a:prstGeom>
          <a:noFill/>
          <a:ln>
            <a:noFill/>
          </a:ln>
        </p:spPr>
        <p:txBody>
          <a:bodyPr wrap="none" lIns="0" tIns="0" rIns="0" bIns="0" anchor="t" anchorCtr="0">
            <a:noAutofit/>
          </a:bodyPr>
          <a:lstStyle/>
          <a:p>
            <a:pPr marL="0" indent="0" algn="l">
              <a:lnSpc>
                <a:spcPts val="2550"/>
              </a:lnSpc>
              <a:buNone/>
            </a:pPr>
            <a:r>
              <a:rPr lang="vi" sz="1800" dirty="0">
                <a:solidFill>
                  <a:schemeClr val="dk1"/>
                </a:solidFill>
                <a:latin typeface="+mn-lt"/>
                <a:ea typeface="+mn-ea"/>
                <a:cs typeface="+mn-cs"/>
              </a:rPr>
              <a:t>Mỗi màn có 6 mục: layout, components, states, interactions, </a:t>
            </a:r>
            <a:r>
              <a:rPr lang="vi" sz="1800" dirty="0">
                <a:solidFill>
                  <a:schemeClr val="dk1"/>
                </a:solidFill>
                <a:latin typeface="+mn-lt"/>
                <a:ea typeface="+mn-ea"/>
                <a:cs typeface="+mn-cs"/>
              </a:rPr>
              <a:t>navigation, constraints (25 màn)</a:t>
            </a:r>
          </a:p>
          <a:p>
            <a:pPr marL="0" indent="0" algn="l">
              <a:lnSpc>
                <a:spcPts val="2550"/>
              </a:lnSpc>
              <a:spcBef>
                <a:spcPts val="1050"/>
              </a:spcBef>
              <a:buNone/>
            </a:pPr>
            <a:r>
              <a:rPr lang="vi" sz="1800" dirty="0">
                <a:solidFill>
                  <a:schemeClr val="dk1"/>
                </a:solidFill>
                <a:latin typeface="+mn-lt"/>
                <a:ea typeface="+mn-ea"/>
                <a:cs typeface="+mn-cs"/>
              </a:rPr>
              <a:t>Hai bảng: token → Flutter (ColorScheme, TextTheme, hằng số) </a:t>
            </a:r>
            <a:r>
              <a:rPr lang="vi" sz="1800" dirty="0">
                <a:solidFill>
                  <a:schemeClr val="dk1"/>
                </a:solidFill>
                <a:latin typeface="+mn-lt"/>
                <a:ea typeface="+mn-ea"/>
                <a:cs typeface="+mn-cs"/>
              </a:rPr>
              <a:t>và component → widget (FilledButton, TextFormField, NavigationBar…)</a:t>
            </a:r>
          </a:p>
          <a:p>
            <a:pPr marL="0" indent="0" algn="l">
              <a:lnSpc>
                <a:spcPts val="2550"/>
              </a:lnSpc>
              <a:spcBef>
                <a:spcPts val="1050"/>
              </a:spcBef>
              <a:buNone/>
            </a:pPr>
            <a:r>
              <a:rPr lang="vi" sz="1800" dirty="0">
                <a:solidFill>
                  <a:schemeClr val="dk1"/>
                </a:solidFill>
                <a:latin typeface="+mn-lt"/>
                <a:ea typeface="+mn-ea"/>
                <a:cs typeface="+mn-cs"/>
              </a:rPr>
              <a:t>Màn rộng ≥600 dp mô tả trong handoff</a:t>
            </a:r>
          </a:p>
          <a:p>
            <a:pPr marL="0" indent="0" algn="l">
              <a:lnSpc>
                <a:spcPts val="2550"/>
              </a:lnSpc>
              <a:spcBef>
                <a:spcPts val="1050"/>
              </a:spcBef>
              <a:buNone/>
            </a:pPr>
            <a:r>
              <a:rPr lang="vi" sz="1800" b="1" dirty="0">
                <a:solidFill>
                  <a:schemeClr val="accent3"/>
                </a:solidFill>
                <a:latin typeface="+mn-lt"/>
                <a:ea typeface="+mn-ea"/>
                <a:cs typeface="+mn-cs"/>
              </a:rPr>
              <a:t>Hạn chế:</a:t>
            </a:r>
            <a:r>
              <a:rPr lang="vi" sz="1800" dirty="0">
                <a:solidFill>
                  <a:schemeClr val="dk1"/>
                </a:solidFill>
                <a:latin typeface="+mn-lt"/>
                <a:ea typeface="+mn-ea"/>
                <a:cs typeface="+mn-cs"/>
              </a:rPr>
              <a:t> AI ghép nhóm chỉ là thiết kế giao diện với dữ liệu mẫu, </a:t>
            </a:r>
            <a:r>
              <a:rPr lang="vi" sz="1800" dirty="0">
                <a:solidFill>
                  <a:schemeClr val="dk1"/>
                </a:solidFill>
                <a:latin typeface="+mn-lt"/>
                <a:ea typeface="+mn-ea"/>
                <a:cs typeface="+mn-cs"/>
              </a:rPr>
              <a:t>không có mô hình thật; lỗi kích thước từ Stitch đã sửa trong Figma </a:t>
            </a:r>
            <a:r>
              <a:rPr lang="vi" sz="1800" dirty="0">
                <a:solidFill>
                  <a:schemeClr val="dk1"/>
                </a:solidFill>
                <a:latin typeface="+mn-lt"/>
                <a:ea typeface="+mn-ea"/>
                <a:cs typeface="+mn-cs"/>
              </a:rPr>
              <a:t>(21 frame 360×800)</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5"/>
            </a:solidFill>
            <a:ln>
              <a:noFill/>
            </a:ln>
          </p:spPr>
          <p:txBody>
            <a:bodyPr/>
            <a:lstStyle/>
            <a:p>
              <a:endParaRPr/>
            </a:p>
          </p:txBody>
        </p:sp>
      </p:grpSp>
      <p:grpSp>
        <p:nvGrpSpPr>
          <p:cNvPr id="12" name="closing-line"/>
          <p:cNvGrpSpPr/>
          <p:nvPr/>
        </p:nvGrpSpPr>
        <p:grpSpPr>
          <a:xfrm>
            <a:off x="749808" y="5537200"/>
            <a:ext cx="2512093" cy="469392"/>
            <a:chOff x="749808" y="5537200"/>
            <a:chExt cx="2512093" cy="469392"/>
          </a:xfrm>
        </p:grpSpPr>
        <p:sp>
          <p:nvSpPr>
            <p:cNvPr id="11" name="TextBox 11"/>
            <p:cNvSpPr txBox="1"/>
            <p:nvPr/>
          </p:nvSpPr>
          <p:spPr>
            <a:xfrm>
              <a:off x="749808" y="5537200"/>
              <a:ext cx="2512093" cy="469392"/>
            </a:xfrm>
            <a:prstGeom prst="rect">
              <a:avLst/>
            </a:prstGeom>
            <a:noFill/>
            <a:ln>
              <a:noFill/>
            </a:ln>
          </p:spPr>
          <p:txBody>
            <a:bodyPr wrap="none" lIns="0" tIns="0" rIns="0" bIns="0" anchor="t" anchorCtr="0">
              <a:spAutoFit/>
            </a:bodyPr>
            <a:lstStyle/>
            <a:p>
              <a:pPr algn="l"/>
              <a:r>
                <a:rPr lang="vi" sz="2400" b="1" dirty="0">
                  <a:solidFill>
                    <a:schemeClr val="accent1"/>
                  </a:solidFill>
                  <a:latin typeface="+mn-lt"/>
                  <a:ea typeface="+mn-ea"/>
                  <a:cs typeface="+mn-cs"/>
                </a:rPr>
                <a:t>Cảm ơn và Q&amp;A</a:t>
              </a:r>
            </a:p>
          </p:txBody>
        </p:sp>
      </p:grpSp>
      <p:grpSp>
        <p:nvGrpSpPr>
          <p:cNvPr id="14" name="source-note"/>
          <p:cNvGrpSpPr/>
          <p:nvPr/>
        </p:nvGrpSpPr>
        <p:grpSpPr>
          <a:xfrm>
            <a:off x="755142" y="6140450"/>
            <a:ext cx="3415035" cy="264033"/>
            <a:chOff x="755142" y="6140450"/>
            <a:chExt cx="3415035" cy="264033"/>
          </a:xfrm>
        </p:grpSpPr>
        <p:sp>
          <p:nvSpPr>
            <p:cNvPr id="13" name="TextBox 13"/>
            <p:cNvSpPr txBox="1"/>
            <p:nvPr/>
          </p:nvSpPr>
          <p:spPr>
            <a:xfrm>
              <a:off x="755142" y="6140450"/>
              <a:ext cx="7112000"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handoff/flutter-handoff.md; GitHub: github.com/Kenn0679/prm323-lab2-group6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PPT Master">
      <a:dk1>
        <a:srgbClr val="000000"/>
      </a:dk1>
      <a:lt1>
        <a:srgbClr val="FFFFFF"/>
      </a:lt1>
      <a:dk2>
        <a:srgbClr val="1F497D"/>
      </a:dk2>
      <a:lt2>
        <a:srgbClr val="F4F6F8"/>
      </a:lt2>
      <a:accent1>
        <a:srgbClr val="4084F3"/>
      </a:accent1>
      <a:accent2>
        <a:srgbClr val="EAAE04"/>
      </a:accent2>
      <a:accent3>
        <a:srgbClr val="E94236"/>
      </a:accent3>
      <a:accent4>
        <a:srgbClr val="4084F3"/>
      </a:accent4>
      <a:accent5>
        <a:srgbClr val="33A952"/>
      </a:accent5>
      <a:accent6>
        <a:srgbClr val="333333"/>
      </a:accent6>
      <a:hlink>
        <a:srgbClr val="EAAE04"/>
      </a:hlink>
      <a:folHlink>
        <a:srgbClr val="E94236"/>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000000"/>
      </a:dk1>
      <a:lt1>
        <a:srgbClr val="FFFFFF"/>
      </a:lt1>
      <a:dk2>
        <a:srgbClr val="1F497D"/>
      </a:dk2>
      <a:lt2>
        <a:srgbClr val="F4F6F8"/>
      </a:lt2>
      <a:accent1>
        <a:srgbClr val="4084F3"/>
      </a:accent1>
      <a:accent2>
        <a:srgbClr val="EAAE04"/>
      </a:accent2>
      <a:accent3>
        <a:srgbClr val="E94236"/>
      </a:accent3>
      <a:accent4>
        <a:srgbClr val="4084F3"/>
      </a:accent4>
      <a:accent5>
        <a:srgbClr val="33A952"/>
      </a:accent5>
      <a:accent6>
        <a:srgbClr val="333333"/>
      </a:accent6>
      <a:hlink>
        <a:srgbClr val="EAAE04"/>
      </a:hlink>
      <a:folHlink>
        <a:srgbClr val="E94236"/>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3379</Words>
  <Application>Microsoft Office PowerPoint</Application>
  <PresentationFormat>Widescreen</PresentationFormat>
  <Paragraphs>95</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TeamUp EXE</vt:lpstr>
      <vt:lpstr>Vấn đề và Persona</vt:lpstr>
      <vt:lpstr>Information Architecture</vt:lpstr>
      <vt:lpstr>Ba user flow</vt:lpstr>
      <vt:lpstr>Tạo UI bằng AI (Stitch)</vt:lpstr>
      <vt:lpstr>Iteration và UX critique</vt:lpstr>
      <vt:lpstr>Quyết định thiết kế</vt:lpstr>
      <vt:lpstr>Wireframe và Final UI</vt:lpstr>
      <vt:lpstr>Design System</vt:lpstr>
      <vt:lpstr>Accessibility và Responsive</vt:lpstr>
      <vt:lpstr>Prototype tương tác</vt:lpstr>
      <vt:lpstr>Flutter Handoff và tổng kết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ken doan</cp:lastModifiedBy>
  <cp:revision>2</cp:revision>
  <dcterms:created xsi:type="dcterms:W3CDTF">2026-10-09T15:01:01Z</dcterms:created>
  <dcterms:modified xsi:type="dcterms:W3CDTF">2026-10-11T10:39:09Z</dcterms:modified>
  <cp:category/>
  <cp:contentStatus/>
  <dc:language>vi</dc:language>
</cp:coreProperties>
</file>