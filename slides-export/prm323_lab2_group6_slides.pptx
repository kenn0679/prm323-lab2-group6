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vi"/>
    </a:defPPr>
    <a:lvl1pPr marL="0" algn="l" defTabSz="457200" rtl="0" eaLnBrk="1" latinLnBrk="0" hangingPunct="1">
      <a:defRPr lang="vi" sz="1800" kern="1200">
        <a:solidFill>
          <a:schemeClr val="tx1"/>
        </a:solidFill>
        <a:latin typeface="+mn-lt"/>
        <a:ea typeface="+mn-ea"/>
        <a:cs typeface="+mn-cs"/>
      </a:defRPr>
    </a:lvl1pPr>
    <a:lvl2pPr marL="457200" algn="l" defTabSz="457200" rtl="0" eaLnBrk="1" latinLnBrk="0" hangingPunct="1">
      <a:defRPr lang="vi" sz="1800" kern="1200">
        <a:solidFill>
          <a:schemeClr val="tx1"/>
        </a:solidFill>
        <a:latin typeface="+mn-lt"/>
        <a:ea typeface="+mn-ea"/>
        <a:cs typeface="+mn-cs"/>
      </a:defRPr>
    </a:lvl2pPr>
    <a:lvl3pPr marL="914400" algn="l" defTabSz="457200" rtl="0" eaLnBrk="1" latinLnBrk="0" hangingPunct="1">
      <a:defRPr lang="vi" sz="1800" kern="1200">
        <a:solidFill>
          <a:schemeClr val="tx1"/>
        </a:solidFill>
        <a:latin typeface="+mn-lt"/>
        <a:ea typeface="+mn-ea"/>
        <a:cs typeface="+mn-cs"/>
      </a:defRPr>
    </a:lvl3pPr>
    <a:lvl4pPr marL="1371600" algn="l" defTabSz="457200" rtl="0" eaLnBrk="1" latinLnBrk="0" hangingPunct="1">
      <a:defRPr lang="vi" sz="1800" kern="1200">
        <a:solidFill>
          <a:schemeClr val="tx1"/>
        </a:solidFill>
        <a:latin typeface="+mn-lt"/>
        <a:ea typeface="+mn-ea"/>
        <a:cs typeface="+mn-cs"/>
      </a:defRPr>
    </a:lvl4pPr>
    <a:lvl5pPr marL="1828800" algn="l" defTabSz="457200" rtl="0" eaLnBrk="1" latinLnBrk="0" hangingPunct="1">
      <a:defRPr lang="vi" sz="1800" kern="1200">
        <a:solidFill>
          <a:schemeClr val="tx1"/>
        </a:solidFill>
        <a:latin typeface="+mn-lt"/>
        <a:ea typeface="+mn-ea"/>
        <a:cs typeface="+mn-cs"/>
      </a:defRPr>
    </a:lvl5pPr>
    <a:lvl6pPr marL="2286000" algn="l" defTabSz="457200" rtl="0" eaLnBrk="1" latinLnBrk="0" hangingPunct="1">
      <a:defRPr lang="vi" sz="1800" kern="1200">
        <a:solidFill>
          <a:schemeClr val="tx1"/>
        </a:solidFill>
        <a:latin typeface="+mn-lt"/>
        <a:ea typeface="+mn-ea"/>
        <a:cs typeface="+mn-cs"/>
      </a:defRPr>
    </a:lvl6pPr>
    <a:lvl7pPr marL="2743200" algn="l" defTabSz="457200" rtl="0" eaLnBrk="1" latinLnBrk="0" hangingPunct="1">
      <a:defRPr lang="vi" sz="1800" kern="1200">
        <a:solidFill>
          <a:schemeClr val="tx1"/>
        </a:solidFill>
        <a:latin typeface="+mn-lt"/>
        <a:ea typeface="+mn-ea"/>
        <a:cs typeface="+mn-cs"/>
      </a:defRPr>
    </a:lvl7pPr>
    <a:lvl8pPr marL="3200400" algn="l" defTabSz="457200" rtl="0" eaLnBrk="1" latinLnBrk="0" hangingPunct="1">
      <a:defRPr lang="vi" sz="1800" kern="1200">
        <a:solidFill>
          <a:schemeClr val="tx1"/>
        </a:solidFill>
        <a:latin typeface="+mn-lt"/>
        <a:ea typeface="+mn-ea"/>
        <a:cs typeface="+mn-cs"/>
      </a:defRPr>
    </a:lvl8pPr>
    <a:lvl9pPr marL="3657600" algn="l" defTabSz="457200" rtl="0" eaLnBrk="1" latinLnBrk="0" hangingPunct="1">
      <a:defRPr lang="vi"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1" d="100"/>
          <a:sy n="81" d="100"/>
        </p:scale>
        <p:origin x="725"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
          </a:p>
        </p:txBody>
      </p:sp>
    </p:spTree>
  </p:cSld>
  <p:clrMap bg1="lt1" tx1="dk1" bg2="lt2" tx2="dk2" accent1="accent1" accent2="accent2" accent3="accent3" accent4="accent4" accent5="accent5" accent6="accent6" hlink="hlink" folHlink="folHlink"/>
  <p:hf/>
  <p:notesStyle>
    <a:lvl1pPr marL="0" algn="l">
      <a:defRPr lang="vi"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 dirty="0"/>
              <a:t>Đây là TeamUp EXE, ứng dụng di động dành cho mentor và giảng viên môn EXE. AI gợi ý ghép những sinh viên chưa có nhóm vào các nhóm đang thiếu một đến hai thành viên chuyên môn, còn mentor là người duyệt. Đối tượng dùng là mentor và giảng viên EXE, cụ thể là Cô Lan, phụ trách ba lớp với nhiều ngành như SE, AI, MKT và GD. Em nêu ngay vấn đề thực tế: lớp có sinh viên chưa có nhóm, có nhóm thiếu chuyên môn, và ghép tay bằng Excel mất nhiều thời gian. Link Figma có trong README.md; tên người trình bày và link GitHub còn để TODO.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Persona của nhóm là Cô Lan, 38 tuổi, mentor phụ trách ba lớp EXE, khoảng bốn mươi sinh viên mỗi lớp. Vấn đề: ghép nhóm bằng Excel và tin nhắn thì tốn thời gian và dễ lệch ngành. Luật nhóm do chủ dự án đưa ra: mỗi nhóm từ năm đến sáu người, ghép theo ngành SE, AI, GD, MKT. Em nhấn mạnh thiết bị: dùng một tay, vài phút giữa các tiết. Ba tiêu chí thành công: duyệt gợi ý cho một lớp dưới năm phút, mọi nhóm sau duyệt có năm đến sáu người và ít nhất ba ngành, đổi một thành viên rồi duyệt dưới sáu mươi giây. Em nói thẳng: persona là giả định của nhóm, chưa kiểm chứng với người dùng thật.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Ứng dụng có hai mươi lăm màn hình từ S1 đến S25 và thanh điều hướng ba tab: Classes, Proposals, Profile. Ba tab đủ vì Cô Lan chỉ có ba việc chính: chọn lớp, duyệt đề xuất, xem hồ sơ. Từ Classes, S2 dẫn tới Class detail S3, rồi tới No team S4, Need members S5 và Student detail S7. Từ Proposals, S9 dẫn tới Proposal detail S10, rồi Add member S11, và kết thúc ở hộp thoại Approve S12 hoặc Discard S17. Mỗi màn thuộc ít nhất một flow, riêng S6 Profile là tab gốc; S19 đến S21 là đường lỗi và nhánh ghép tay. Bốn màn mới S22 đến S25 là nhập danh sách lớp, kết quả nhập, hộp thoại bỏ thành viên và chặn duyệt khi nhóm dưới năm người. Bằng chứng nằm trong ux/user-flow.md và Figma Page 01.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 kể từng flow và chỉ ra đường lỗi cùng cách phục hồi. Flow A là duyệt gợi ý AI cho một lớp; lỗi gồm email sai ở S19 và mất mạng khi AI chạy, phục hồi bằng S18 với nút Try again; nhánh nhập danh sách lớp là S22 và S23. Flow B là thêm hoặc bỏ thành viên; lỗi là vượt sáu người ở S13 với thông báo Max 6 members, và dưới năm người thì S25 chặn nút Approve; bỏ thành viên có hộp thoại xác nhận S24. Flow C là khi AI không ghép được và mentor ghép tay; lỗi là sinh viên đã có nhóm bị khóa ở S16, tìm không ra ở S21, và mentor có thể hủy đề xuất bằng Discard ở S17. Ảnh flow nằm ở assets/flows.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Prompt gửi cho Stitch gồm năm phần: người dùng là mentor, tác vụ là duyệt gợi ý AI, nền tảng là Android 360 nhân 800, ràng buộc gồm chữ từ 14 sp, một nút chính mỗi màn và không dùng từ cấm, và phong cách lấy từ DESIGN.md. Lần đầu, R0, theo hướng sinh viên, ra bốn màn và có chữ nội bộ như Lineup hay Roster. Sau đó nhóm đổi sang hướng mentor: R9 gồm ba prompt, mười tám frame, và R10 thêm ba frame S19 đến S21, thành hai mươi mốt màn xuất sang Figma. Bốn màn S22 đến S25 không qua Stitch: nhóm dựng thẳng trong Figma từ các màn có sẵn, nên kế thừa Variables và text style. Hai ảnh trên slide là màn Discover của R0 bên trái và màn Proposals của R9 bên phải. Prompt nguyên văn ở ai/stitch-prompts-r9.md và ai/ai-design-log.md mục 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 dirty="0"/>
              <a:t>Em sẽ chọn một iteration để kể theo trình tự vấn đề, sửa, trước và sau. Iteration một, R3: chú thích dưới ô vai trò đè chữ, nên bỏ chú thích. Iteration hai, R4: thanh trên cùng và chip thừa không nhất quán, nên thống nhất app bar và giảm chữ. Iteration ba, R6: ô email yêu cầu tên miền edu không còn dùng, nên chấp nhận email bất kỳ. Iteration bốn, R7: palette có tông xanh dương và thẻ so với nền chỉ đạt 1.07 trên 1, nên đổi sang palette cam và xanh lá, viền thẻ rõ hơn. Iteration năm, R9 sang Figma: S4 có chữ Stitch tự thêm và S17 nền sai, nên sửa S4 và S17. Các phát hiện tiêu biểu gắn màn gồm S4 chữ bịa, S17 màn nền sai, S9 badge 10 sp, S2, S12 và S13 cao hơn 800 dp, tên layer dài, và viền thẻ 1.48 trên 1. Ảnh bên phải là cặp màn Sign in: bên trái là bản trước trong thư mục First, bên phải là bản sau trong thư mục Final của Stitch. Ảnh trước và sau của các iteration còn lại vẫn là TODO. Bằng chứng ở ai/ai-design-log.md mục 7, ai-critique-1.md và ai-critique-2.md.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 chuẩn bị trả lời câu hỏi: AI đề xuất nào bạn đã từ chối và vì sao. Nhóm giữ nguyên tắc AI chỉ đề xuất, mentor duyệt. Nhóm sửa bằng cách bỏ chú thích đè chữ ở 360 dp. Nhóm từ chối cam FPT F37021 cho nút vì chữ trắng chỉ đạt 2.9 trên 1; màu này chỉ dùng cho logo. Nhóm cũng bỏ tông xanh dương, trường MSSV và email edu. Ngày 14 tháng 10 nhóm bổ sung bốn màn theo yêu cầu nghiệp vụ: nhập lớp, bỏ thành viên, chặn duyệt khi dưới năm người. Bằng chứng: design/design-decisions.md và ai/ai-design-log.md mục 6.</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 dirty="0"/>
              <a:t>Em chỉ ra phân cấp thị giác: tiêu đề, danh sách, rồi nút chính. Wireframe thấp ở Figma Page 02 được đặt cạnh hai mươi lăm màn final ở Page 03, kích thước 360 nhân 800. Mỗi màn có một nút chính, và hàng ngành cao 40 hoặc 48 dp làm điểm nhấn. Các state gồm loading ở S8, empty ở S14 All matched, error ở S13 và S18, dialog ở S12 và S17. Ảnh trên slide chụp từ Figma: S10 dạng wireframe xám ở bên trái và Final UI ở bên phải. Loading S8 và lỗi S13 em mở trực tiếp trong Page 03.</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 dirty="0"/>
              <a:t>Em trả lời được câu hỏi màn nào tự đổi khi đổi màu primary: mọi màn, vì tất cả dùng biến. Token màu gồm primary B23E00, primary-container FFE2D2, tertiary 1B6B3C, error B3261E, surface FFFFFF và on-surface 1C1B18. Chữ dùng Be Vietnam Pro với sáu style: 24, 20, 16, 16, 14 và 14 sp. Spacing là 4, 8, 16, 24, 32; radius là 8, 12, 16 và full; elevation phẳng, chỉ dialog và snackbar có bóng. Có chín component: Button, Text field, Card, Navigation, App bar, Dialog, Loading, Empty và Error, đều có state. Em đã kiểm trong Figma: 21 màn Final UI không còn màu thô, mọi màu gắn Variables; Page 05 có 14 component set. Bằng chứng: design/DESIGN.md, Figma Page 04 và 05.</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 nói rõ mục nào đã đo và mục nào chưa. Chữ thường cần tối thiểu 4.5 trên 1: on-surface trên surface đạt 17.22, on-primary trên primary đạt 5.86, error trên error-container đạt 5.14. Control cần tối thiểu 3 trên 1: outline trên surface đạt 4.61, viền ô đề xuất đạt 4.76; viền thẻ 1.48 là ngoại lệ vì chỉ để phân tách. Touch target từ 48 dp. Em đã quét cả 25 màn trong Figma: không có chữ nào dưới 14 sp. Trạng thái luôn kèm chữ hoặc biểu tượng. Em chưa kiểm ở 412 dp, và màn rộng từ 600 dp mới chỉ là đặc tả NavigationRail và master-detail. Bằng chứng là checklist trong design/design-decisions.md.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Phần này em demo trực tiếp trong Figma, không dùng ảnh tĩnh. Prototype có ba mươi lăm frame, ba flow bấm được từ điểm bắt đầu đến kết thúc và không có ngõ cụt; em đã kiểm bằng script rằng mọi frame đều tới được từ điểm bắt đầu. Hộp thoại Approve S12, Discard S17 và bỏ thành viên S24 là overlay. Màn loading S8 dẫn tới S9 Proposals hoặc S15 No match. Nút Back quay đúng màn trước.</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 trả lời được câu hỏi một dev Flutter lạ dựng màn S12 từ handoff thế nào. Mỗi màn trong hai mươi lăm màn có sáu mục: layout, components, states, interactions, navigation và constraints. Có hai bảng: token sang Flutter gồm ColorScheme, TextTheme và hằng số; component sang widget như FilledButton, TextFormField, NavigationBar, AlertDialog. Màn rộng từ 600 dp cũng được mô tả trong handoff. Về hạn chế, phần AI ghép nhóm chỉ là thiết kế giao diện với dữ liệu mẫu và không có mô hình thật; các lỗi kích thước từ Stitch đã sửa trong Figma, hiện cả 25 màn đều 360 nhân 800. Em xin cảm ơn và mời mọi người đặt câu hỏi. Bằng chứng: handoff/flutter-handoff.md và GitHub.</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Cover">
    <p:spTree>
      <p:nvGrpSpPr>
        <p:cNvPr id="1" name=""/>
        <p:cNvGrpSpPr/>
        <p:nvPr/>
      </p:nvGrpSpPr>
      <p:grpSpPr>
        <a:xfrm>
          <a:off x="0" y="0"/>
          <a:ext cx="0" cy="0"/>
          <a:chOff x="0" y="0"/>
          <a:chExt cx="0" cy="0"/>
        </a:xfrm>
      </p:grpSpPr>
      <p:sp>
        <p:nvSpPr>
          <p:cNvPr id="2" name="strip-blue Layout"/>
          <p:cNvSpPr/>
          <p:nvPr/>
        </p:nvSpPr>
        <p:spPr>
          <a:xfrm>
            <a:off x="0" y="0"/>
            <a:ext cx="371475" cy="6858000"/>
          </a:xfrm>
          <a:prstGeom prst="rect">
            <a:avLst/>
          </a:prstGeom>
          <a:solidFill>
            <a:srgbClr val="1A56C8"/>
          </a:solidFill>
          <a:ln>
            <a:noFill/>
          </a:ln>
        </p:spPr>
      </p:sp>
      <p:sp>
        <p:nvSpPr>
          <p:cNvPr id="3" name="strip-red Layout"/>
          <p:cNvSpPr/>
          <p:nvPr/>
        </p:nvSpPr>
        <p:spPr>
          <a:xfrm>
            <a:off x="11106150" y="0"/>
            <a:ext cx="361950" cy="6858000"/>
          </a:xfrm>
          <a:prstGeom prst="rect">
            <a:avLst/>
          </a:prstGeom>
          <a:solidFill>
            <a:srgbClr val="D0D4DA"/>
          </a:solidFill>
          <a:ln>
            <a:noFill/>
          </a:ln>
        </p:spPr>
      </p:sp>
      <p:sp>
        <p:nvSpPr>
          <p:cNvPr id="4" name="strip-yellow Layout"/>
          <p:cNvSpPr/>
          <p:nvPr/>
        </p:nvSpPr>
        <p:spPr>
          <a:xfrm>
            <a:off x="11468100" y="0"/>
            <a:ext cx="361950" cy="6858000"/>
          </a:xfrm>
          <a:prstGeom prst="rect">
            <a:avLst/>
          </a:prstGeom>
          <a:solidFill>
            <a:srgbClr val="E1E4E8"/>
          </a:solidFill>
          <a:ln>
            <a:noFill/>
          </a:ln>
        </p:spPr>
      </p:sp>
      <p:sp>
        <p:nvSpPr>
          <p:cNvPr id="5" name="strip-green Layout"/>
          <p:cNvSpPr/>
          <p:nvPr/>
        </p:nvSpPr>
        <p:spPr>
          <a:xfrm>
            <a:off x="11830050" y="0"/>
            <a:ext cx="361950" cy="6858000"/>
          </a:xfrm>
          <a:prstGeom prst="rect">
            <a:avLst/>
          </a:prstGeom>
          <a:solidFill>
            <a:srgbClr val="F0F2F4"/>
          </a:solidFill>
          <a:ln>
            <a:noFill/>
          </a:ln>
        </p:spPr>
      </p:sp>
      <p:sp>
        <p:nvSpPr>
          <p:cNvPr id="6" name="dot-blue Layout"/>
          <p:cNvSpPr/>
          <p:nvPr/>
        </p:nvSpPr>
        <p:spPr>
          <a:xfrm>
            <a:off x="8001000" y="1333500"/>
            <a:ext cx="1143000" cy="1143000"/>
          </a:xfrm>
          <a:prstGeom prst="ellipse">
            <a:avLst/>
          </a:prstGeom>
          <a:solidFill>
            <a:srgbClr val="1A56C8"/>
          </a:solidFill>
          <a:ln>
            <a:noFill/>
          </a:ln>
        </p:spPr>
      </p:sp>
      <p:sp>
        <p:nvSpPr>
          <p:cNvPr id="7" name="dot-red Layout"/>
          <p:cNvSpPr/>
          <p:nvPr/>
        </p:nvSpPr>
        <p:spPr>
          <a:xfrm>
            <a:off x="9429750" y="3048000"/>
            <a:ext cx="762000" cy="762000"/>
          </a:xfrm>
          <a:prstGeom prst="ellipse">
            <a:avLst/>
          </a:prstGeom>
          <a:solidFill>
            <a:srgbClr val="D0D4DA"/>
          </a:solidFill>
          <a:ln>
            <a:noFill/>
          </a:ln>
        </p:spPr>
      </p:sp>
      <p:sp>
        <p:nvSpPr>
          <p:cNvPr id="8" name="dot-yellow Layout"/>
          <p:cNvSpPr/>
          <p:nvPr/>
        </p:nvSpPr>
        <p:spPr>
          <a:xfrm>
            <a:off x="7810500" y="4000500"/>
            <a:ext cx="952500" cy="952500"/>
          </a:xfrm>
          <a:prstGeom prst="ellipse">
            <a:avLst/>
          </a:prstGeom>
          <a:solidFill>
            <a:srgbClr val="E1E4E8"/>
          </a:solidFill>
          <a:ln>
            <a:noFill/>
          </a:ln>
        </p:spPr>
      </p:sp>
      <p:sp>
        <p:nvSpPr>
          <p:cNvPr id="9" name="dot-green Layout"/>
          <p:cNvSpPr/>
          <p:nvPr/>
        </p:nvSpPr>
        <p:spPr>
          <a:xfrm>
            <a:off x="9620250" y="5143500"/>
            <a:ext cx="571500" cy="571500"/>
          </a:xfrm>
          <a:prstGeom prst="ellipse">
            <a:avLst/>
          </a:prstGeom>
          <a:solidFill>
            <a:srgbClr val="F0F2F4"/>
          </a:solidFill>
          <a:ln>
            <a:noFill/>
          </a:ln>
        </p:spPr>
      </p:sp>
      <p:sp>
        <p:nvSpPr>
          <p:cNvPr id="10" name="dot-ink-1 Layout"/>
          <p:cNvSpPr/>
          <p:nvPr/>
        </p:nvSpPr>
        <p:spPr>
          <a:xfrm>
            <a:off x="7296150" y="819150"/>
            <a:ext cx="266700" cy="266700"/>
          </a:xfrm>
          <a:prstGeom prst="ellipse">
            <a:avLst/>
          </a:prstGeom>
          <a:solidFill>
            <a:srgbClr val="333333"/>
          </a:solidFill>
          <a:ln>
            <a:noFill/>
          </a:ln>
        </p:spPr>
      </p:sp>
      <p:sp>
        <p:nvSpPr>
          <p:cNvPr id="11" name="dot-ink-2 Layout"/>
          <p:cNvSpPr/>
          <p:nvPr/>
        </p:nvSpPr>
        <p:spPr>
          <a:xfrm>
            <a:off x="10382250" y="1143000"/>
            <a:ext cx="190500" cy="190500"/>
          </a:xfrm>
          <a:prstGeom prst="ellipse">
            <a:avLst/>
          </a:prstGeom>
          <a:solidFill>
            <a:srgbClr val="333333"/>
          </a:solidFill>
          <a:ln>
            <a:noFill/>
          </a:ln>
        </p:spPr>
      </p:sp>
      <p:sp>
        <p:nvSpPr>
          <p:cNvPr id="12" name="title-slot Placeholder"/>
          <p:cNvSpPr>
            <a:spLocks noGrp="1"/>
          </p:cNvSpPr>
          <p:nvPr>
            <p:ph type="title"/>
          </p:nvPr>
        </p:nvSpPr>
        <p:spPr>
          <a:xfrm>
            <a:off x="952500" y="2286000"/>
            <a:ext cx="6096000" cy="1047750"/>
          </a:xfrm>
          <a:prstGeom prst="rect">
            <a:avLst/>
          </a:prstGeom>
          <a:noFill/>
          <a:ln>
            <a:noFill/>
          </a:ln>
        </p:spPr>
        <p:txBody>
          <a:bodyPr wrap="square" lIns="0" tIns="0" rIns="0" bIns="0" anchor="ctr" anchorCtr="0">
            <a:noAutofit/>
          </a:bodyPr>
          <a:lstStyle>
            <a:lvl1pPr>
              <a:defRPr lang="vi" sz="3300"/>
            </a:lvl1pPr>
          </a:lstStyle>
          <a:p>
            <a:pPr algn="l"/>
            <a:r>
              <a:rPr lang="vi" sz="3300" b="1" dirty="0">
                <a:solidFill>
                  <a:schemeClr val="dk1"/>
                </a:solidFill>
                <a:latin typeface="+mj-lt"/>
                <a:ea typeface="+mj-ea"/>
                <a:cs typeface="+mj-cs"/>
              </a:rPr>
              <a:t>Click to add title</a:t>
            </a:r>
            <a:endParaRPr lang="vi"/>
          </a:p>
        </p:txBody>
      </p:sp>
      <p:sp>
        <p:nvSpPr>
          <p:cNvPr id="13" name="subtitle-slot Placeholder"/>
          <p:cNvSpPr>
            <a:spLocks noGrp="1"/>
          </p:cNvSpPr>
          <p:nvPr>
            <p:ph type="subTitle" idx="1"/>
          </p:nvPr>
        </p:nvSpPr>
        <p:spPr>
          <a:xfrm>
            <a:off x="952500" y="3429000"/>
            <a:ext cx="6096000" cy="571500"/>
          </a:xfrm>
          <a:prstGeom prst="rect">
            <a:avLst/>
          </a:prstGeom>
          <a:noFill/>
          <a:ln>
            <a:noFill/>
          </a:ln>
        </p:spPr>
        <p:txBody>
          <a:bodyPr wrap="square" lIns="0" tIns="0" rIns="0" bIns="0" anchor="ctr" anchorCtr="0">
            <a:noAutofit/>
          </a:bodyPr>
          <a:lstStyle>
            <a:lvl1pPr marL="0" indent="0">
              <a:buNone/>
              <a:defRPr lang="vi" sz="2400"/>
            </a:lvl1pPr>
          </a:lstStyle>
          <a:p>
            <a:pPr marL="0" indent="0" algn="l">
              <a:buNone/>
            </a:pPr>
            <a:r>
              <a:rPr lang="vi" sz="2400" dirty="0">
                <a:solidFill>
                  <a:schemeClr val="accent1"/>
                </a:solidFill>
                <a:latin typeface="+mn-lt"/>
                <a:ea typeface="+mn-ea"/>
                <a:cs typeface="+mn-cs"/>
              </a:rPr>
              <a:t>Click to add subtitle</a:t>
            </a:r>
            <a:endParaRPr lang="vi"/>
          </a:p>
        </p:txBody>
      </p:sp>
      <p:sp>
        <p:nvSpPr>
          <p:cNvPr id="14" name="author-slot Placeholder"/>
          <p:cNvSpPr>
            <a:spLocks noGrp="1"/>
          </p:cNvSpPr>
          <p:nvPr>
            <p:ph type="body" idx="2"/>
          </p:nvPr>
        </p:nvSpPr>
        <p:spPr>
          <a:xfrm>
            <a:off x="952500" y="4095750"/>
            <a:ext cx="6096000" cy="762000"/>
          </a:xfrm>
          <a:prstGeom prst="rect">
            <a:avLst/>
          </a:prstGeom>
          <a:noFill/>
          <a:ln>
            <a:noFill/>
          </a:ln>
        </p:spPr>
        <p:txBody>
          <a:bodyPr wrap="square" lIns="0" tIns="0" rIns="0" bIns="0" anchor="ctr" anchorCtr="0">
            <a:noAutofit/>
          </a:bodyPr>
          <a:lstStyle>
            <a:lvl1pPr marL="0" indent="0">
              <a:buNone/>
              <a:defRPr lang="vi" sz="1800"/>
            </a:lvl1pPr>
          </a:lstStyle>
          <a:p>
            <a:pPr marL="0" indent="0" algn="l">
              <a:lnSpc>
                <a:spcPts val="2550"/>
              </a:lnSpc>
              <a:buNone/>
            </a:pPr>
            <a:r>
              <a:rPr lang="vi" sz="1800" dirty="0">
                <a:solidFill>
                  <a:schemeClr val="dk1"/>
                </a:solidFill>
                <a:latin typeface="+mn-lt"/>
                <a:ea typeface="+mn-ea"/>
                <a:cs typeface="+mn-cs"/>
              </a:rPr>
              <a:t>Click to add text</a:t>
            </a:r>
            <a:endParaRPr lang="vi"/>
          </a:p>
        </p:txBody>
      </p:sp>
      <p:sp>
        <p:nvSpPr>
          <p:cNvPr id="15" name="date-slot Placeholder"/>
          <p:cNvSpPr>
            <a:spLocks noGrp="1"/>
          </p:cNvSpPr>
          <p:nvPr>
            <p:ph type="dt" idx="3"/>
          </p:nvPr>
        </p:nvSpPr>
        <p:spPr>
          <a:xfrm>
            <a:off x="952500" y="5048250"/>
            <a:ext cx="2857500" cy="381000"/>
          </a:xfrm>
          <a:prstGeom prst="rect">
            <a:avLst/>
          </a:prstGeom>
          <a:noFill/>
          <a:ln>
            <a:noFill/>
          </a:ln>
        </p:spPr>
        <p:txBody>
          <a:bodyPr wrap="square" lIns="0" tIns="0" rIns="0" bIns="0" anchor="ctr" anchorCtr="0">
            <a:noAutofit/>
          </a:bodyPr>
          <a:lstStyle>
            <a:lvl1pPr>
              <a:defRPr lang="vi" sz="1350"/>
            </a:lvl1pPr>
          </a:lstStyle>
          <a:p>
            <a:pPr algn="l"/>
            <a:fld id="{BD32FF4D-AAED-485D-A7CD-FEF5F5B65735}" type="datetimeFigureOut">
              <a:rPr lang="vi" sz="1350" dirty="0">
                <a:solidFill>
                  <a:schemeClr val="accent6"/>
                </a:solidFill>
                <a:latin typeface="+mn-lt"/>
                <a:ea typeface="+mn-ea"/>
                <a:cs typeface="+mn-cs"/>
              </a:rPr>
              <a:t>11/10/2026</a:t>
            </a:fld>
            <a:endParaRPr lang="vi"/>
          </a:p>
        </p:txBody>
      </p:sp>
    </p:spTree>
    <p:extLst>
      <p:ext uri="{BB962C8B-B14F-4D97-AF65-F5344CB8AC3E}">
        <p14:creationId xmlns:p14="http://schemas.microsoft.com/office/powerpoint/2010/main" val="3904107441"/>
      </p:ext>
    </p:extLst>
  </p:cSld>
  <p:clrMapOvr>
    <a:masterClrMapping/>
  </p:clrMapOvr>
  <p:hf sldNum="0" hdr="0" ftr="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strip-blue Layout"/>
          <p:cNvSpPr/>
          <p:nvPr/>
        </p:nvSpPr>
        <p:spPr>
          <a:xfrm>
            <a:off x="0" y="0"/>
            <a:ext cx="371475" cy="6858000"/>
          </a:xfrm>
          <a:prstGeom prst="rect">
            <a:avLst/>
          </a:prstGeom>
          <a:solidFill>
            <a:srgbClr val="1A56C8"/>
          </a:solidFill>
          <a:ln>
            <a:noFill/>
          </a:ln>
        </p:spPr>
      </p:sp>
      <p:sp>
        <p:nvSpPr>
          <p:cNvPr id="3" name="strip-red Layout"/>
          <p:cNvSpPr/>
          <p:nvPr/>
        </p:nvSpPr>
        <p:spPr>
          <a:xfrm>
            <a:off x="11106150" y="0"/>
            <a:ext cx="361950" cy="6858000"/>
          </a:xfrm>
          <a:prstGeom prst="rect">
            <a:avLst/>
          </a:prstGeom>
          <a:solidFill>
            <a:srgbClr val="D0D4DA"/>
          </a:solidFill>
          <a:ln>
            <a:noFill/>
          </a:ln>
        </p:spPr>
      </p:sp>
      <p:sp>
        <p:nvSpPr>
          <p:cNvPr id="4" name="strip-yellow Layout"/>
          <p:cNvSpPr/>
          <p:nvPr/>
        </p:nvSpPr>
        <p:spPr>
          <a:xfrm>
            <a:off x="11468100" y="0"/>
            <a:ext cx="361950" cy="6858000"/>
          </a:xfrm>
          <a:prstGeom prst="rect">
            <a:avLst/>
          </a:prstGeom>
          <a:solidFill>
            <a:srgbClr val="E1E4E8"/>
          </a:solidFill>
          <a:ln>
            <a:noFill/>
          </a:ln>
        </p:spPr>
      </p:sp>
      <p:sp>
        <p:nvSpPr>
          <p:cNvPr id="5" name="strip-green Layout"/>
          <p:cNvSpPr/>
          <p:nvPr/>
        </p:nvSpPr>
        <p:spPr>
          <a:xfrm>
            <a:off x="11830050" y="0"/>
            <a:ext cx="361950" cy="6858000"/>
          </a:xfrm>
          <a:prstGeom prst="rect">
            <a:avLst/>
          </a:prstGeom>
          <a:solidFill>
            <a:srgbClr val="F0F2F4"/>
          </a:solidFill>
          <a:ln>
            <a:noFill/>
          </a:ln>
        </p:spPr>
      </p:sp>
      <p:sp>
        <p:nvSpPr>
          <p:cNvPr id="6" name="page-title-slot Placeholder"/>
          <p:cNvSpPr>
            <a:spLocks noGrp="1"/>
          </p:cNvSpPr>
          <p:nvPr>
            <p:ph type="title"/>
          </p:nvPr>
        </p:nvSpPr>
        <p:spPr>
          <a:xfrm>
            <a:off x="762000" y="342900"/>
            <a:ext cx="9906000" cy="666750"/>
          </a:xfrm>
          <a:prstGeom prst="rect">
            <a:avLst/>
          </a:prstGeom>
          <a:noFill/>
          <a:ln>
            <a:noFill/>
          </a:ln>
        </p:spPr>
        <p:txBody>
          <a:bodyPr wrap="square" lIns="0" tIns="0" rIns="0" bIns="0" anchor="ctr" anchorCtr="0">
            <a:noAutofit/>
          </a:bodyPr>
          <a:lstStyle>
            <a:lvl1pPr>
              <a:defRPr lang="vi" sz="3150"/>
            </a:lvl1pPr>
          </a:lstStyle>
          <a:p>
            <a:pPr algn="l"/>
            <a:r>
              <a:rPr lang="vi" sz="3150" b="1" dirty="0">
                <a:solidFill>
                  <a:schemeClr val="dk1"/>
                </a:solidFill>
                <a:latin typeface="+mj-lt"/>
                <a:ea typeface="+mj-ea"/>
                <a:cs typeface="+mj-cs"/>
              </a:rPr>
              <a:t>Click to add title</a:t>
            </a:r>
            <a:endParaRPr lang="vi"/>
          </a:p>
        </p:txBody>
      </p:sp>
      <p:sp>
        <p:nvSpPr>
          <p:cNvPr id="7" name="content-slot Placeholder"/>
          <p:cNvSpPr>
            <a:spLocks noGrp="1"/>
          </p:cNvSpPr>
          <p:nvPr>
            <p:ph type="body" idx="1"/>
          </p:nvPr>
        </p:nvSpPr>
        <p:spPr>
          <a:xfrm>
            <a:off x="762000" y="1238250"/>
            <a:ext cx="9906000" cy="5143500"/>
          </a:xfrm>
          <a:prstGeom prst="rect">
            <a:avLst/>
          </a:prstGeom>
          <a:noFill/>
          <a:ln>
            <a:noFill/>
          </a:ln>
        </p:spPr>
        <p:txBody>
          <a:bodyPr wrap="square" lIns="0" tIns="0" rIns="0" bIns="0" anchor="ctr" anchorCtr="0">
            <a:noAutofit/>
          </a:bodyPr>
          <a:lstStyle>
            <a:lvl1pPr marL="0" indent="0">
              <a:buNone/>
              <a:defRPr lang="vi" sz="1800"/>
            </a:lvl1pPr>
          </a:lstStyle>
          <a:p>
            <a:pPr marL="0" indent="0" algn="l">
              <a:lnSpc>
                <a:spcPts val="2550"/>
              </a:lnSpc>
              <a:buNone/>
            </a:pPr>
            <a:r>
              <a:rPr lang="vi" sz="1800" b="1" dirty="0">
                <a:solidFill>
                  <a:schemeClr val="accent1"/>
                </a:solidFill>
                <a:latin typeface="+mn-lt"/>
                <a:ea typeface="+mn-ea"/>
                <a:cs typeface="+mn-cs"/>
              </a:rPr>
              <a:t>Click to add text</a:t>
            </a:r>
            <a:endParaRPr lang="vi"/>
          </a:p>
        </p:txBody>
      </p:sp>
    </p:spTree>
    <p:extLst>
      <p:ext uri="{BB962C8B-B14F-4D97-AF65-F5344CB8AC3E}">
        <p14:creationId xmlns:p14="http://schemas.microsoft.com/office/powerpoint/2010/main" val="32971427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strip-blue Layout"/>
          <p:cNvSpPr/>
          <p:nvPr/>
        </p:nvSpPr>
        <p:spPr>
          <a:xfrm>
            <a:off x="0" y="0"/>
            <a:ext cx="371475" cy="6858000"/>
          </a:xfrm>
          <a:prstGeom prst="rect">
            <a:avLst/>
          </a:prstGeom>
          <a:solidFill>
            <a:srgbClr val="1A56C8"/>
          </a:solidFill>
          <a:ln>
            <a:noFill/>
          </a:ln>
        </p:spPr>
      </p:sp>
      <p:sp>
        <p:nvSpPr>
          <p:cNvPr id="3" name="strip-red Layout"/>
          <p:cNvSpPr/>
          <p:nvPr/>
        </p:nvSpPr>
        <p:spPr>
          <a:xfrm>
            <a:off x="11106150" y="0"/>
            <a:ext cx="361950" cy="6858000"/>
          </a:xfrm>
          <a:prstGeom prst="rect">
            <a:avLst/>
          </a:prstGeom>
          <a:solidFill>
            <a:srgbClr val="D0D4DA"/>
          </a:solidFill>
          <a:ln>
            <a:noFill/>
          </a:ln>
        </p:spPr>
      </p:sp>
      <p:sp>
        <p:nvSpPr>
          <p:cNvPr id="4" name="strip-yellow Layout"/>
          <p:cNvSpPr/>
          <p:nvPr/>
        </p:nvSpPr>
        <p:spPr>
          <a:xfrm>
            <a:off x="11468100" y="0"/>
            <a:ext cx="361950" cy="6858000"/>
          </a:xfrm>
          <a:prstGeom prst="rect">
            <a:avLst/>
          </a:prstGeom>
          <a:solidFill>
            <a:srgbClr val="E1E4E8"/>
          </a:solidFill>
          <a:ln>
            <a:noFill/>
          </a:ln>
        </p:spPr>
      </p:sp>
      <p:sp>
        <p:nvSpPr>
          <p:cNvPr id="5" name="strip-green Layout"/>
          <p:cNvSpPr/>
          <p:nvPr/>
        </p:nvSpPr>
        <p:spPr>
          <a:xfrm>
            <a:off x="11830050" y="0"/>
            <a:ext cx="361950" cy="6858000"/>
          </a:xfrm>
          <a:prstGeom prst="rect">
            <a:avLst/>
          </a:prstGeom>
          <a:solidFill>
            <a:srgbClr val="F0F2F4"/>
          </a:solidFill>
          <a:ln>
            <a:noFill/>
          </a:ln>
        </p:spPr>
      </p:sp>
      <p:sp>
        <p:nvSpPr>
          <p:cNvPr id="6" name="frame-corner-blue Layout"/>
          <p:cNvSpPr/>
          <p:nvPr/>
        </p:nvSpPr>
        <p:spPr>
          <a:xfrm>
            <a:off x="6477000" y="1333500"/>
            <a:ext cx="571500" cy="571500"/>
          </a:xfrm>
          <a:prstGeom prst="rect">
            <a:avLst/>
          </a:prstGeom>
          <a:solidFill>
            <a:srgbClr val="1A56C8"/>
          </a:solidFill>
          <a:ln>
            <a:noFill/>
          </a:ln>
        </p:spPr>
      </p:sp>
      <p:sp>
        <p:nvSpPr>
          <p:cNvPr id="7" name="frame-yellow Layout"/>
          <p:cNvSpPr/>
          <p:nvPr/>
        </p:nvSpPr>
        <p:spPr>
          <a:xfrm>
            <a:off x="6667500" y="1524000"/>
            <a:ext cx="3810000" cy="3810000"/>
          </a:xfrm>
          <a:prstGeom prst="rect">
            <a:avLst/>
          </a:prstGeom>
          <a:solidFill>
            <a:srgbClr val="F1F3F4"/>
          </a:solidFill>
          <a:ln>
            <a:noFill/>
          </a:ln>
        </p:spPr>
      </p:sp>
      <p:sp>
        <p:nvSpPr>
          <p:cNvPr id="8" name="frame-red Layout"/>
          <p:cNvSpPr/>
          <p:nvPr/>
        </p:nvSpPr>
        <p:spPr>
          <a:xfrm>
            <a:off x="6896100" y="1752600"/>
            <a:ext cx="3352800" cy="3352800"/>
          </a:xfrm>
          <a:prstGeom prst="rect">
            <a:avLst/>
          </a:prstGeom>
          <a:solidFill>
            <a:srgbClr val="E3E6EA"/>
          </a:solidFill>
          <a:ln>
            <a:noFill/>
          </a:ln>
        </p:spPr>
      </p:sp>
      <p:sp>
        <p:nvSpPr>
          <p:cNvPr id="9" name="frame-corner-green Layout"/>
          <p:cNvSpPr/>
          <p:nvPr/>
        </p:nvSpPr>
        <p:spPr>
          <a:xfrm>
            <a:off x="10096500" y="4953000"/>
            <a:ext cx="571500" cy="571500"/>
          </a:xfrm>
          <a:prstGeom prst="rect">
            <a:avLst/>
          </a:prstGeom>
          <a:solidFill>
            <a:srgbClr val="D0D4DA"/>
          </a:solidFill>
          <a:ln>
            <a:noFill/>
          </a:ln>
        </p:spPr>
      </p:sp>
      <p:sp>
        <p:nvSpPr>
          <p:cNvPr id="10" name="page-title-slot Placeholder"/>
          <p:cNvSpPr>
            <a:spLocks noGrp="1"/>
          </p:cNvSpPr>
          <p:nvPr>
            <p:ph type="title"/>
          </p:nvPr>
        </p:nvSpPr>
        <p:spPr>
          <a:xfrm>
            <a:off x="762000" y="342900"/>
            <a:ext cx="5715000" cy="666750"/>
          </a:xfrm>
          <a:prstGeom prst="rect">
            <a:avLst/>
          </a:prstGeom>
          <a:noFill/>
          <a:ln>
            <a:noFill/>
          </a:ln>
        </p:spPr>
        <p:txBody>
          <a:bodyPr wrap="square" lIns="0" tIns="0" rIns="0" bIns="0" anchor="ctr" anchorCtr="0">
            <a:noAutofit/>
          </a:bodyPr>
          <a:lstStyle>
            <a:lvl1pPr>
              <a:defRPr lang="vi" sz="3150"/>
            </a:lvl1pPr>
          </a:lstStyle>
          <a:p>
            <a:pPr algn="l"/>
            <a:r>
              <a:rPr lang="vi" sz="3150" b="1" dirty="0">
                <a:solidFill>
                  <a:schemeClr val="dk1"/>
                </a:solidFill>
                <a:latin typeface="+mj-lt"/>
                <a:ea typeface="+mj-ea"/>
                <a:cs typeface="+mj-cs"/>
              </a:rPr>
              <a:t>Click to add title</a:t>
            </a:r>
            <a:endParaRPr lang="vi"/>
          </a:p>
        </p:txBody>
      </p:sp>
      <p:sp>
        <p:nvSpPr>
          <p:cNvPr id="11" name="content-slot Placeholder"/>
          <p:cNvSpPr>
            <a:spLocks noGrp="1"/>
          </p:cNvSpPr>
          <p:nvPr>
            <p:ph type="body" idx="1"/>
          </p:nvPr>
        </p:nvSpPr>
        <p:spPr>
          <a:xfrm>
            <a:off x="762000" y="1238250"/>
            <a:ext cx="5334000" cy="5143500"/>
          </a:xfrm>
          <a:prstGeom prst="rect">
            <a:avLst/>
          </a:prstGeom>
          <a:noFill/>
          <a:ln>
            <a:noFill/>
          </a:ln>
        </p:spPr>
        <p:txBody>
          <a:bodyPr wrap="square" lIns="0" tIns="0" rIns="0" bIns="0" anchor="ctr" anchorCtr="0">
            <a:noAutofit/>
          </a:bodyPr>
          <a:lstStyle>
            <a:lvl1pPr marL="0" indent="0">
              <a:buNone/>
              <a:defRPr lang="vi" sz="1800"/>
            </a:lvl1pPr>
          </a:lstStyle>
          <a:p>
            <a:pPr marL="0" indent="0" algn="l">
              <a:lnSpc>
                <a:spcPts val="2550"/>
              </a:lnSpc>
              <a:buNone/>
            </a:pPr>
            <a:r>
              <a:rPr lang="vi" sz="1800" b="1" dirty="0">
                <a:solidFill>
                  <a:schemeClr val="accent3"/>
                </a:solidFill>
                <a:latin typeface="+mn-lt"/>
                <a:ea typeface="+mn-ea"/>
                <a:cs typeface="+mn-cs"/>
              </a:rPr>
              <a:t>Click to add text</a:t>
            </a:r>
            <a:endParaRPr lang="vi"/>
          </a:p>
        </p:txBody>
      </p:sp>
      <p:sp>
        <p:nvSpPr>
          <p:cNvPr id="12" name="picture-slot Placeholder"/>
          <p:cNvSpPr>
            <a:spLocks noGrp="1"/>
          </p:cNvSpPr>
          <p:nvPr>
            <p:ph type="pic" idx="2"/>
          </p:nvPr>
        </p:nvSpPr>
        <p:spPr>
          <a:xfrm>
            <a:off x="7086600" y="1943100"/>
            <a:ext cx="2971800" cy="2971800"/>
          </a:xfrm>
          <a:prstGeom prst="rect">
            <a:avLst/>
          </a:prstGeom>
          <a:noFill/>
          <a:ln>
            <a:noFill/>
          </a:ln>
        </p:spPr>
        <p:txBody>
          <a:bodyPr wrap="square" anchor="ctr" anchorCtr="0">
            <a:noAutofit/>
          </a:bodyPr>
          <a:lstStyle/>
          <a:p>
            <a:r>
              <a:rPr lang="vi"/>
              <a:t>Click to add picture</a:t>
            </a:r>
          </a:p>
        </p:txBody>
      </p:sp>
    </p:spTree>
    <p:extLst>
      <p:ext uri="{BB962C8B-B14F-4D97-AF65-F5344CB8AC3E}">
        <p14:creationId xmlns:p14="http://schemas.microsoft.com/office/powerpoint/2010/main" val="9007498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oogle Master">
    <p:bg>
      <p:bgPr>
        <a:solidFill>
          <a:schemeClr val="lt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Lst>
  <p:txStyles>
    <p:titleStyle>
      <a:lvl1pPr algn="ctr" defTabSz="457200" rtl="0" eaLnBrk="1" latinLnBrk="0" hangingPunct="1">
        <a:spcBef>
          <a:spcPct val="0"/>
        </a:spcBef>
        <a:buNone/>
        <a:defRPr lang="vi"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lang="vi"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lang="vi"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lang="vi"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lang="vi"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lang="vi"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lang="vi"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lang="vi"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lang="vi"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lang="vi" sz="900" kern="1200">
          <a:solidFill>
            <a:schemeClr val="tx1"/>
          </a:solidFill>
          <a:latin typeface="+mn-lt"/>
          <a:ea typeface="+mn-ea"/>
          <a:cs typeface="+mn-cs"/>
        </a:defRPr>
      </a:lvl9pPr>
    </p:bodyStyle>
    <p:otherStyle>
      <a:defPPr>
        <a:defRPr lang="vi"/>
      </a:defPPr>
      <a:lvl1pPr marL="0" algn="l" defTabSz="457200" rtl="0" eaLnBrk="1" latinLnBrk="0" hangingPunct="1">
        <a:defRPr lang="vi" sz="1800" kern="1200">
          <a:solidFill>
            <a:schemeClr val="tx1"/>
          </a:solidFill>
          <a:latin typeface="+mn-lt"/>
          <a:ea typeface="+mn-ea"/>
          <a:cs typeface="+mn-cs"/>
        </a:defRPr>
      </a:lvl1pPr>
      <a:lvl2pPr marL="457200" algn="l" defTabSz="457200" rtl="0" eaLnBrk="1" latinLnBrk="0" hangingPunct="1">
        <a:defRPr lang="vi" sz="1700" kern="1200">
          <a:solidFill>
            <a:schemeClr val="tx1"/>
          </a:solidFill>
          <a:latin typeface="+mn-lt"/>
          <a:ea typeface="+mn-ea"/>
          <a:cs typeface="+mn-cs"/>
        </a:defRPr>
      </a:lvl2pPr>
      <a:lvl3pPr marL="914400" algn="l" defTabSz="457200" rtl="0" eaLnBrk="1" latinLnBrk="0" hangingPunct="1">
        <a:defRPr lang="vi" sz="1600" kern="1200">
          <a:solidFill>
            <a:schemeClr val="tx1"/>
          </a:solidFill>
          <a:latin typeface="+mn-lt"/>
          <a:ea typeface="+mn-ea"/>
          <a:cs typeface="+mn-cs"/>
        </a:defRPr>
      </a:lvl3pPr>
      <a:lvl4pPr marL="1371600" algn="l" defTabSz="457200" rtl="0" eaLnBrk="1" latinLnBrk="0" hangingPunct="1">
        <a:defRPr lang="vi" sz="1450" kern="1200">
          <a:solidFill>
            <a:schemeClr val="tx1"/>
          </a:solidFill>
          <a:latin typeface="+mn-lt"/>
          <a:ea typeface="+mn-ea"/>
          <a:cs typeface="+mn-cs"/>
        </a:defRPr>
      </a:lvl4pPr>
      <a:lvl5pPr marL="1828800" algn="l" defTabSz="457200" rtl="0" eaLnBrk="1" latinLnBrk="0" hangingPunct="1">
        <a:defRPr lang="vi" sz="1350" kern="1200">
          <a:solidFill>
            <a:schemeClr val="tx1"/>
          </a:solidFill>
          <a:latin typeface="+mn-lt"/>
          <a:ea typeface="+mn-ea"/>
          <a:cs typeface="+mn-cs"/>
        </a:defRPr>
      </a:lvl5pPr>
      <a:lvl6pPr marL="2286000" algn="l" defTabSz="457200" rtl="0" eaLnBrk="1" latinLnBrk="0" hangingPunct="1">
        <a:defRPr lang="vi" sz="1250" kern="1200">
          <a:solidFill>
            <a:schemeClr val="tx1"/>
          </a:solidFill>
          <a:latin typeface="+mn-lt"/>
          <a:ea typeface="+mn-ea"/>
          <a:cs typeface="+mn-cs"/>
        </a:defRPr>
      </a:lvl6pPr>
      <a:lvl7pPr marL="2743200" algn="l" defTabSz="457200" rtl="0" eaLnBrk="1" latinLnBrk="0" hangingPunct="1">
        <a:defRPr lang="vi" sz="1100" kern="1200">
          <a:solidFill>
            <a:schemeClr val="tx1"/>
          </a:solidFill>
          <a:latin typeface="+mn-lt"/>
          <a:ea typeface="+mn-ea"/>
          <a:cs typeface="+mn-cs"/>
        </a:defRPr>
      </a:lvl7pPr>
      <a:lvl8pPr marL="3200400" algn="l" defTabSz="457200" rtl="0" eaLnBrk="1" latinLnBrk="0" hangingPunct="1">
        <a:defRPr lang="vi" sz="1000" kern="1200">
          <a:solidFill>
            <a:schemeClr val="tx1"/>
          </a:solidFill>
          <a:latin typeface="+mn-lt"/>
          <a:ea typeface="+mn-ea"/>
          <a:cs typeface="+mn-cs"/>
        </a:defRPr>
      </a:lvl8pPr>
      <a:lvl9pPr marL="3657600" algn="l" defTabSz="457200" rtl="0" eaLnBrk="1" latinLnBrk="0" hangingPunct="1">
        <a:defRPr lang="vi"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slot Placeholder Carrier"/>
          <p:cNvSpPr txBox="1">
            <a:spLocks noGrp="1"/>
          </p:cNvSpPr>
          <p:nvPr>
            <p:ph type="title"/>
          </p:nvPr>
        </p:nvSpPr>
        <p:spPr>
          <a:xfrm>
            <a:off x="935736" y="2451100"/>
            <a:ext cx="2885556" cy="645414"/>
          </a:xfrm>
          <a:prstGeom prst="rect">
            <a:avLst/>
          </a:prstGeom>
          <a:noFill/>
          <a:ln>
            <a:noFill/>
          </a:ln>
        </p:spPr>
        <p:txBody>
          <a:bodyPr wrap="none" lIns="0" tIns="0" rIns="0" bIns="0" anchor="t" anchorCtr="0">
            <a:spAutoFit/>
          </a:bodyPr>
          <a:lstStyle/>
          <a:p>
            <a:pPr algn="l"/>
            <a:r>
              <a:rPr lang="vi" sz="3300" b="1" dirty="0">
                <a:solidFill>
                  <a:schemeClr val="dk1"/>
                </a:solidFill>
                <a:latin typeface="+mj-lt"/>
                <a:ea typeface="+mj-ea"/>
                <a:cs typeface="+mj-cs"/>
              </a:rPr>
              <a:t>TeamUp EXE</a:t>
            </a:r>
          </a:p>
        </p:txBody>
      </p:sp>
      <p:sp>
        <p:nvSpPr>
          <p:cNvPr id="14" name="subtitle-slot Placeholder Carrier"/>
          <p:cNvSpPr txBox="1">
            <a:spLocks noGrp="1"/>
          </p:cNvSpPr>
          <p:nvPr>
            <p:ph type="subTitle" idx="1"/>
          </p:nvPr>
        </p:nvSpPr>
        <p:spPr>
          <a:xfrm>
            <a:off x="940308" y="3441700"/>
            <a:ext cx="3188054" cy="469392"/>
          </a:xfrm>
          <a:prstGeom prst="rect">
            <a:avLst/>
          </a:prstGeom>
          <a:noFill/>
          <a:ln>
            <a:noFill/>
          </a:ln>
        </p:spPr>
        <p:txBody>
          <a:bodyPr wrap="none" lIns="0" tIns="0" rIns="0" bIns="0" anchor="t" anchorCtr="0">
            <a:spAutoFit/>
          </a:bodyPr>
          <a:lstStyle/>
          <a:p>
            <a:pPr marL="0" indent="0" algn="l">
              <a:buNone/>
            </a:pPr>
            <a:r>
              <a:rPr lang="vi" sz="2400" dirty="0">
                <a:solidFill>
                  <a:schemeClr val="accent1"/>
                </a:solidFill>
                <a:latin typeface="+mn-lt"/>
                <a:ea typeface="+mn-ea"/>
                <a:cs typeface="+mn-cs"/>
              </a:rPr>
              <a:t>AI gợi ý, mentor duyệt</a:t>
            </a:r>
          </a:p>
        </p:txBody>
      </p:sp>
      <p:sp>
        <p:nvSpPr>
          <p:cNvPr id="15" name="author-slot Placeholder Carrier"/>
          <p:cNvSpPr txBox="1">
            <a:spLocks noGrp="1"/>
          </p:cNvSpPr>
          <p:nvPr>
            <p:ph type="body" idx="2"/>
          </p:nvPr>
        </p:nvSpPr>
        <p:spPr>
          <a:xfrm>
            <a:off x="943356" y="4108450"/>
            <a:ext cx="5165354" cy="675894"/>
          </a:xfrm>
          <a:prstGeom prst="rect">
            <a:avLst/>
          </a:prstGeom>
          <a:noFill/>
          <a:ln>
            <a:noFill/>
          </a:ln>
        </p:spPr>
        <p:txBody>
          <a:bodyPr wrap="none" lIns="0" tIns="0" rIns="0" bIns="0" anchor="t" anchorCtr="0">
            <a:noAutofit/>
          </a:bodyPr>
          <a:lstStyle/>
          <a:p>
            <a:pPr marL="0" indent="0" algn="l">
              <a:lnSpc>
                <a:spcPts val="2550"/>
              </a:lnSpc>
              <a:buNone/>
            </a:pPr>
            <a:r>
              <a:rPr lang="vi" sz="1800" dirty="0">
                <a:solidFill>
                  <a:schemeClr val="dk1"/>
                </a:solidFill>
                <a:latin typeface="+mn-lt"/>
                <a:ea typeface="+mn-ea"/>
                <a:cs typeface="+mn-cs"/>
              </a:rPr>
              <a:t>Ứng dụng di động cho mentor/giảng viên môn EXE </a:t>
            </a:r>
            <a:r>
              <a:rPr lang="en-US" dirty="0">
                <a:solidFill>
                  <a:schemeClr val="dk1"/>
                </a:solidFill>
              </a:rPr>
              <a:t>Group 6</a:t>
            </a:r>
            <a:endParaRPr lang="vi" sz="1800" b="1" dirty="0">
              <a:solidFill>
                <a:schemeClr val="accent3"/>
              </a:solidFill>
              <a:latin typeface="+mn-lt"/>
              <a:ea typeface="+mn-ea"/>
              <a:cs typeface="+mn-cs"/>
            </a:endParaRPr>
          </a:p>
        </p:txBody>
      </p:sp>
      <p:sp>
        <p:nvSpPr>
          <p:cNvPr id="16" name="date-slot Placeholder Carrier"/>
          <p:cNvSpPr txBox="1">
            <a:spLocks noGrp="1"/>
          </p:cNvSpPr>
          <p:nvPr>
            <p:ph type="dt" idx="3"/>
          </p:nvPr>
        </p:nvSpPr>
        <p:spPr>
          <a:xfrm>
            <a:off x="945642" y="5130800"/>
            <a:ext cx="113671" cy="264033"/>
          </a:xfrm>
          <a:prstGeom prst="rect">
            <a:avLst/>
          </a:prstGeom>
          <a:noFill/>
          <a:ln>
            <a:noFill/>
          </a:ln>
        </p:spPr>
        <p:txBody>
          <a:bodyPr wrap="none" lIns="0" tIns="0" rIns="0" bIns="0" anchor="t" anchorCtr="0">
            <a:spAutoFit/>
          </a:bodyPr>
          <a:lstStyle/>
          <a:p>
            <a:pPr algn="l"/>
            <a:r>
              <a:rPr lang="vi" sz="1350" dirty="0">
                <a:solidFill>
                  <a:schemeClr val="accent6"/>
                </a:solidFill>
                <a:latin typeface="+mn-lt"/>
                <a:ea typeface="+mn-ea"/>
                <a:cs typeface="+mn-cs"/>
              </a:rPr>
              <a:t>​</a:t>
            </a:r>
          </a:p>
        </p:txBody>
      </p:sp>
      <p:grpSp>
        <p:nvGrpSpPr>
          <p:cNvPr id="20" name="cover-facts"/>
          <p:cNvGrpSpPr/>
          <p:nvPr/>
        </p:nvGrpSpPr>
        <p:grpSpPr>
          <a:xfrm>
            <a:off x="945642" y="5489575"/>
            <a:ext cx="6876373" cy="944349"/>
            <a:chOff x="945642" y="5489575"/>
            <a:chExt cx="6876373" cy="944349"/>
          </a:xfrm>
        </p:grpSpPr>
        <p:sp>
          <p:nvSpPr>
            <p:cNvPr id="17" name="TextBox 17"/>
            <p:cNvSpPr txBox="1"/>
            <p:nvPr/>
          </p:nvSpPr>
          <p:spPr>
            <a:xfrm>
              <a:off x="939800" y="5300000"/>
              <a:ext cx="9500000" cy="492633"/>
            </a:xfrm>
            <a:prstGeom prst="rect">
              <a:avLst/>
            </a:prstGeom>
            <a:noFill/>
            <a:ln>
              <a:noFill/>
            </a:ln>
          </p:spPr>
          <p:txBody>
            <a:bodyPr wrap="square" lIns="0" tIns="0" rIns="0" bIns="0" anchor="t" anchorCtr="0">
              <a:spAutoFit/>
            </a:bodyPr>
            <a:lstStyle/>
            <a:p>
              <a:pPr marL="0" indent="0" algn="l">
                <a:lnSpc>
                  <a:spcPts val="2160"/>
                </a:lnSpc>
                <a:buNone/>
              </a:pPr>
              <a:r>
                <a:rPr lang="vi" sz="1600" dirty="0">
                  <a:solidFill>
                    <a:srgbClr val="1C1B18"/>
                  </a:solidFill>
                  <a:latin typeface="+mn-lt"/>
                  <a:ea typeface="+mn-ea"/>
                  <a:cs typeface="+mn-cs"/>
                </a:rPr>
                <a:t>Ghép sinh viên chưa có nhóm vào nhóm còn thiếu người, theo ngành</a:t>
              </a:r>
            </a:p>
          </p:txBody>
        </p:sp>
        <p:sp>
          <p:nvSpPr>
            <p:cNvPr id="18" name="TextBox 18"/>
            <p:cNvSpPr txBox="1"/>
            <p:nvPr/>
          </p:nvSpPr>
          <p:spPr>
            <a:xfrm>
              <a:off x="939800" y="5700000"/>
              <a:ext cx="9500000" cy="264033"/>
            </a:xfrm>
            <a:prstGeom prst="rect">
              <a:avLst/>
            </a:prstGeom>
            <a:noFill/>
            <a:ln>
              <a:noFill/>
            </a:ln>
          </p:spPr>
          <p:txBody>
            <a:bodyPr wrap="square" lIns="0" tIns="0" rIns="0" bIns="0" anchor="t" anchorCtr="0">
              <a:spAutoFit/>
            </a:bodyPr>
            <a:lstStyle/>
            <a:p>
              <a:pPr marL="0" indent="0" algn="l">
                <a:lnSpc>
                  <a:spcPts val="2160"/>
                </a:lnSpc>
                <a:buNone/>
              </a:pPr>
              <a:r>
                <a:rPr lang="vi" sz="1600" dirty="0">
                  <a:solidFill>
                    <a:srgbClr val="1C1B18"/>
                  </a:solidFill>
                  <a:latin typeface="+mn-lt"/>
                  <a:ea typeface="+mn-ea"/>
                  <a:cs typeface="+mn-cs"/>
                </a:rPr>
                <a:t>Người dùng: mentor và giảng viên EXE</a:t>
              </a:r>
            </a:p>
          </p:txBody>
        </p:sp>
        <p:sp>
          <p:nvSpPr>
            <p:cNvPr id="19" name="TextBox 19"/>
            <p:cNvSpPr txBox="1"/>
            <p:nvPr/>
          </p:nvSpPr>
          <p:spPr>
            <a:xfrm>
              <a:off x="939800" y="6050000"/>
              <a:ext cx="9500000" cy="558800"/>
            </a:xfrm>
            <a:prstGeom prst="rect">
              <a:avLst/>
            </a:prstGeom>
            <a:noFill/>
            <a:ln>
              <a:noFill/>
            </a:ln>
          </p:spPr>
          <p:txBody>
            <a:bodyPr wrap="square" lIns="0" tIns="0" rIns="0" bIns="0" anchor="t" anchorCtr="0">
              <a:spAutoFit/>
            </a:bodyPr>
            <a:lstStyle/>
            <a:p>
              <a:pPr marL="0" indent="0" algn="l">
                <a:lnSpc>
                  <a:spcPts val="1750"/>
                </a:lnSpc>
                <a:buNone/>
              </a:pPr>
              <a:r>
                <a:rPr lang="vi" sz="1400" dirty="0">
                  <a:solidFill>
                    <a:srgbClr val="1C1B18"/>
                  </a:solidFill>
                  <a:latin typeface="+mn-lt"/>
                  <a:ea typeface="+mn-ea"/>
                  <a:cs typeface="+mn-cs"/>
                </a:rPr>
                <a:t>GitHub: github.com/Kenn0679/prm323-lab2-group6</a:t>
              </a:r>
            </a:p>
            <a:p>
              <a:pPr marL="0" indent="0" algn="l">
                <a:lnSpc>
                  <a:spcPts val="1750"/>
                </a:lnSpc>
                <a:spcBef>
                  <a:spcPts val="200"/>
                </a:spcBef>
                <a:buNone/>
              </a:pPr>
              <a:r>
                <a:rPr lang="vi" sz="1400" dirty="0">
                  <a:solidFill>
                    <a:srgbClr val="1C1B18"/>
                  </a:solidFill>
                  <a:latin typeface="+mn-lt"/>
                  <a:ea typeface="+mn-ea"/>
                  <a:cs typeface="+mn-cs"/>
                </a:rPr>
                <a:t>Figma: figma.com/design/X5WcaK4s20AYF53cvRdouV</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age-title-slot Placeholder Carrier"/>
          <p:cNvSpPr txBox="1">
            <a:spLocks noGrp="1"/>
          </p:cNvSpPr>
          <p:nvPr>
            <p:ph type="title"/>
          </p:nvPr>
        </p:nvSpPr>
        <p:spPr>
          <a:xfrm>
            <a:off x="745998" y="406400"/>
            <a:ext cx="3833687"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Vấn đề và Persona</a:t>
            </a:r>
          </a:p>
        </p:txBody>
      </p:sp>
      <p:sp>
        <p:nvSpPr>
          <p:cNvPr id="8" name="content-slot Placeholder Carrier"/>
          <p:cNvSpPr txBox="1">
            <a:spLocks noGrp="1"/>
          </p:cNvSpPr>
          <p:nvPr>
            <p:ph type="body" idx="1"/>
          </p:nvPr>
        </p:nvSpPr>
        <p:spPr>
          <a:xfrm>
            <a:off x="752856" y="1327150"/>
            <a:ext cx="9900000" cy="4200000"/>
          </a:xfrm>
          <a:prstGeom prst="rect">
            <a:avLst/>
          </a:prstGeom>
          <a:noFill/>
          <a:ln>
            <a:noFill/>
          </a:ln>
        </p:spPr>
        <p:txBody>
          <a:bodyPr wrap="square" lIns="0" tIns="0" rIns="0" bIns="0" anchor="t" anchorCtr="0">
            <a:noAutofit/>
          </a:bodyPr>
          <a:lstStyle/>
          <a:p>
            <a:pPr marL="0" indent="0" algn="l">
              <a:lnSpc>
                <a:spcPts val="3240"/>
              </a:lnSpc>
              <a:buNone/>
            </a:pPr>
            <a:r>
              <a:rPr lang="vi" sz="2400" dirty="0" b="1">
                <a:solidFill>
                  <a:srgbClr val="1A56C8"/>
                </a:solidFill>
                <a:latin typeface="+mn-lt"/>
                <a:ea typeface="+mn-ea"/>
                <a:cs typeface="+mn-cs"/>
              </a:rPr>
              <a:t>Persona: </a:t>
            </a:r>
            <a:r>
              <a:rPr lang="vi" sz="2400" dirty="0">
                <a:solidFill>
                  <a:srgbClr val="1C1B18"/>
                </a:solidFill>
                <a:latin typeface="+mn-lt"/>
                <a:ea typeface="+mn-ea"/>
                <a:cs typeface="+mn-cs"/>
              </a:rPr>
              <a:t>Cô Lan, 38 tuổi, mentor 3 lớp EXE (~40 sinh viên mỗi lớp)</a:t>
            </a:r>
          </a:p>
          <a:p>
            <a:pPr marL="0" indent="0" algn="l">
              <a:lnSpc>
                <a:spcPts val="3240"/>
              </a:lnSpc>
              <a:spcBef>
                <a:spcPts val="1800"/>
              </a:spcBef>
              <a:buNone/>
            </a:pPr>
            <a:r>
              <a:rPr lang="vi" sz="2400" dirty="0" b="1">
                <a:solidFill>
                  <a:srgbClr val="1A56C8"/>
                </a:solidFill>
                <a:latin typeface="+mn-lt"/>
                <a:ea typeface="+mn-ea"/>
                <a:cs typeface="+mn-cs"/>
              </a:rPr>
              <a:t>Vấn đề: </a:t>
            </a:r>
            <a:r>
              <a:rPr lang="vi" sz="2400" dirty="0">
                <a:solidFill>
                  <a:srgbClr val="1C1B18"/>
                </a:solidFill>
                <a:latin typeface="+mn-lt"/>
                <a:ea typeface="+mn-ea"/>
                <a:cs typeface="+mn-cs"/>
              </a:rPr>
              <a:t>ghép nhóm bằng Excel và tin nhắn: tốn thời gian, dễ lệch ngành</a:t>
            </a:r>
          </a:p>
          <a:p>
            <a:pPr marL="0" indent="0" algn="l">
              <a:lnSpc>
                <a:spcPts val="3240"/>
              </a:lnSpc>
              <a:spcBef>
                <a:spcPts val="1800"/>
              </a:spcBef>
              <a:buNone/>
            </a:pPr>
            <a:r>
              <a:rPr lang="vi" sz="2400" dirty="0" b="1">
                <a:solidFill>
                  <a:srgbClr val="1A56C8"/>
                </a:solidFill>
                <a:latin typeface="+mn-lt"/>
                <a:ea typeface="+mn-ea"/>
                <a:cs typeface="+mn-cs"/>
              </a:rPr>
              <a:t>Luật nhóm: </a:t>
            </a:r>
            <a:r>
              <a:rPr lang="vi" sz="2400" dirty="0">
                <a:solidFill>
                  <a:srgbClr val="1C1B18"/>
                </a:solidFill>
                <a:latin typeface="+mn-lt"/>
                <a:ea typeface="+mn-ea"/>
                <a:cs typeface="+mn-cs"/>
              </a:rPr>
              <a:t>5-6 người, ghép theo ngành (SE, AI, GD, MKT)</a:t>
            </a:r>
          </a:p>
          <a:p>
            <a:pPr marL="0" indent="0" algn="l">
              <a:lnSpc>
                <a:spcPts val="3240"/>
              </a:lnSpc>
              <a:spcBef>
                <a:spcPts val="1800"/>
              </a:spcBef>
              <a:buNone/>
            </a:pPr>
            <a:r>
              <a:rPr lang="vi" sz="2400" dirty="0" b="1">
                <a:solidFill>
                  <a:srgbClr val="1A56C8"/>
                </a:solidFill>
                <a:latin typeface="+mn-lt"/>
                <a:ea typeface="+mn-ea"/>
                <a:cs typeface="+mn-cs"/>
              </a:rPr>
              <a:t>Mục tiêu: </a:t>
            </a:r>
            <a:r>
              <a:rPr lang="vi" sz="2400" dirty="0">
                <a:solidFill>
                  <a:srgbClr val="1C1B18"/>
                </a:solidFill>
                <a:latin typeface="+mn-lt"/>
                <a:ea typeface="+mn-ea"/>
                <a:cs typeface="+mn-cs"/>
              </a:rPr>
              <a:t>duyệt gợi ý cho một lớp dưới 5 phút; đổi một thành viên và duyệt dưới 60 giây</a:t>
            </a:r>
          </a:p>
          <a:p>
            <a:pPr marL="0" indent="0" algn="l">
              <a:lnSpc>
                <a:spcPts val="3240"/>
              </a:lnSpc>
              <a:spcBef>
                <a:spcPts val="1800"/>
              </a:spcBef>
              <a:buNone/>
            </a:pPr>
            <a:r>
              <a:rPr lang="vi" sz="2400" dirty="0" b="1">
                <a:solidFill>
                  <a:srgbClr val="1A56C8"/>
                </a:solidFill>
                <a:latin typeface="+mn-lt"/>
                <a:ea typeface="+mn-ea"/>
                <a:cs typeface="+mn-cs"/>
              </a:rPr>
              <a:t>Lưu ý: </a:t>
            </a:r>
            <a:r>
              <a:rPr lang="vi" sz="2400" dirty="0">
                <a:solidFill>
                  <a:srgbClr val="1C1B18"/>
                </a:solidFill>
                <a:latin typeface="+mn-lt"/>
                <a:ea typeface="+mn-ea"/>
                <a:cs typeface="+mn-cs"/>
              </a:rPr>
              <a:t>persona là giả định của nhóm, chưa kiểm chứng với người dùng thật</a:t>
            </a:r>
          </a:p>
        </p:txBody>
      </p:sp>
      <p:grpSp>
        <p:nvGrpSpPr>
          <p:cNvPr id="10" name="title-accent"/>
          <p:cNvGrpSpPr/>
          <p:nvPr/>
        </p:nvGrpSpPr>
        <p:grpSpPr>
          <a:xfrm>
            <a:off x="762000" y="895350"/>
            <a:ext cx="914400" cy="38100"/>
            <a:chOff x="762000" y="895350"/>
            <a:chExt cx="914400" cy="38100"/>
          </a:xfrm>
        </p:grpSpPr>
        <p:sp>
          <p:nvSpPr>
            <p:cNvPr id="9" name="Rectangle 9"/>
            <p:cNvSpPr/>
            <p:nvPr/>
          </p:nvSpPr>
          <p:spPr>
            <a:xfrm>
              <a:off x="762000" y="895350"/>
              <a:ext cx="914400" cy="38100"/>
            </a:xfrm>
            <a:prstGeom prst="rect">
              <a:avLst/>
            </a:prstGeom>
            <a:solidFill>
              <a:srgbClr val="1A56C8"/>
            </a:solidFill>
            <a:ln>
              <a:noFill/>
            </a:ln>
          </p:spPr>
          <p:txBody>
            <a:bodyPr/>
            <a:lstStyle/>
            <a:p>
              <a:endParaRPr/>
            </a:p>
          </p:txBody>
        </p:sp>
      </p:grpSp>
      <p:grpSp>
        <p:nvGrpSpPr>
          <p:cNvPr id="12" name="source-note"/>
          <p:cNvGrpSpPr/>
          <p:nvPr/>
        </p:nvGrpSpPr>
        <p:grpSpPr>
          <a:xfrm>
            <a:off x="755142" y="6121400"/>
            <a:ext cx="1858963" cy="264033"/>
            <a:chOff x="755142" y="6121400"/>
            <a:chExt cx="1858963" cy="264033"/>
          </a:xfrm>
        </p:grpSpPr>
        <p:sp>
          <p:nvSpPr>
            <p:cNvPr id="11" name="TextBox 11"/>
            <p:cNvSpPr txBox="1"/>
            <p:nvPr/>
          </p:nvSpPr>
          <p:spPr>
            <a:xfrm>
              <a:off x="755142" y="6121400"/>
              <a:ext cx="1858963"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Nguồn: ux/persona.md</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age-title-slot Placeholder Carrier"/>
          <p:cNvSpPr txBox="1">
            <a:spLocks noGrp="1"/>
          </p:cNvSpPr>
          <p:nvPr>
            <p:ph type="title"/>
          </p:nvPr>
        </p:nvSpPr>
        <p:spPr>
          <a:xfrm>
            <a:off x="745998" y="406400"/>
            <a:ext cx="5004208"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Information Architecture</a:t>
            </a:r>
          </a:p>
        </p:txBody>
      </p:sp>
      <p:sp>
        <p:nvSpPr>
          <p:cNvPr id="8" name="content-slot Placeholder Carrier"/>
          <p:cNvSpPr txBox="1">
            <a:spLocks noGrp="1"/>
          </p:cNvSpPr>
          <p:nvPr>
            <p:ph type="body" idx="1"/>
          </p:nvPr>
        </p:nvSpPr>
        <p:spPr>
          <a:xfrm>
            <a:off x="752856" y="1327150"/>
            <a:ext cx="9900000" cy="4200000"/>
          </a:xfrm>
          <a:prstGeom prst="rect">
            <a:avLst/>
          </a:prstGeom>
          <a:noFill/>
          <a:ln>
            <a:noFill/>
          </a:ln>
        </p:spPr>
        <p:txBody>
          <a:bodyPr wrap="square" lIns="0" tIns="0" rIns="0" bIns="0" anchor="t" anchorCtr="0">
            <a:noAutofit/>
          </a:bodyPr>
          <a:lstStyle/>
          <a:p>
            <a:pPr marL="0" indent="0" algn="l">
              <a:lnSpc>
                <a:spcPts val="3240"/>
              </a:lnSpc>
              <a:buNone/>
            </a:pPr>
            <a:r>
              <a:rPr lang="vi" sz="2400" dirty="0">
                <a:solidFill>
                  <a:srgbClr val="1C1B18"/>
                </a:solidFill>
                <a:latin typeface="+mn-lt"/>
                <a:ea typeface="+mn-ea"/>
                <a:cs typeface="+mn-cs"/>
              </a:rPr>
              <a:t>25 màn hình, thanh điều hướng 3 tab: Classes, Proposals, Profile</a:t>
            </a:r>
          </a:p>
          <a:p>
            <a:pPr marL="0" indent="0" algn="l">
              <a:lnSpc>
                <a:spcPts val="3240"/>
              </a:lnSpc>
              <a:spcBef>
                <a:spcPts val="1800"/>
              </a:spcBef>
              <a:buNone/>
            </a:pPr>
            <a:r>
              <a:rPr lang="vi" sz="2400" dirty="0" b="1">
                <a:solidFill>
                  <a:srgbClr val="1A56C8"/>
                </a:solidFill>
                <a:latin typeface="+mn-lt"/>
                <a:ea typeface="+mn-ea"/>
                <a:cs typeface="+mn-cs"/>
              </a:rPr>
              <a:t>Classes: </a:t>
            </a:r>
            <a:r>
              <a:rPr lang="vi" sz="2400" dirty="0">
                <a:solidFill>
                  <a:srgbClr val="1C1B18"/>
                </a:solidFill>
                <a:latin typeface="+mn-lt"/>
                <a:ea typeface="+mn-ea"/>
                <a:cs typeface="+mn-cs"/>
              </a:rPr>
              <a:t>S2 → Class detail S3 → No team S4 / Need members S5 → Student detail S7; nhập lớp S22-S23</a:t>
            </a:r>
          </a:p>
          <a:p>
            <a:pPr marL="0" indent="0" algn="l">
              <a:lnSpc>
                <a:spcPts val="3240"/>
              </a:lnSpc>
              <a:spcBef>
                <a:spcPts val="1800"/>
              </a:spcBef>
              <a:buNone/>
            </a:pPr>
            <a:r>
              <a:rPr lang="vi" sz="2400" dirty="0" b="1">
                <a:solidFill>
                  <a:srgbClr val="1A56C8"/>
                </a:solidFill>
                <a:latin typeface="+mn-lt"/>
                <a:ea typeface="+mn-ea"/>
                <a:cs typeface="+mn-cs"/>
              </a:rPr>
              <a:t>Proposals: </a:t>
            </a:r>
            <a:r>
              <a:rPr lang="vi" sz="2400" dirty="0">
                <a:solidFill>
                  <a:srgbClr val="1C1B18"/>
                </a:solidFill>
                <a:latin typeface="+mn-lt"/>
                <a:ea typeface="+mn-ea"/>
                <a:cs typeface="+mn-cs"/>
              </a:rPr>
              <a:t>S9 → Proposal detail S10 → Add member S11 → Approve S12 / Discard S17; bỏ thành viên S24, chặn duyệt S25</a:t>
            </a:r>
          </a:p>
          <a:p>
            <a:pPr marL="0" indent="0" algn="l">
              <a:lnSpc>
                <a:spcPts val="3240"/>
              </a:lnSpc>
              <a:spcBef>
                <a:spcPts val="1800"/>
              </a:spcBef>
              <a:buNone/>
            </a:pPr>
            <a:r>
              <a:rPr lang="vi" sz="2400" dirty="0" b="1">
                <a:solidFill>
                  <a:srgbClr val="1A56C8"/>
                </a:solidFill>
                <a:latin typeface="+mn-lt"/>
                <a:ea typeface="+mn-ea"/>
                <a:cs typeface="+mn-cs"/>
              </a:rPr>
              <a:t>Lỗi và ghép tay: </a:t>
            </a:r>
            <a:r>
              <a:rPr lang="vi" sz="2400" dirty="0">
                <a:solidFill>
                  <a:srgbClr val="1C1B18"/>
                </a:solidFill>
                <a:latin typeface="+mn-lt"/>
                <a:ea typeface="+mn-ea"/>
                <a:cs typeface="+mn-cs"/>
              </a:rPr>
              <a:t>S13, S15, S16, S18-S21</a:t>
            </a:r>
          </a:p>
        </p:txBody>
      </p:sp>
      <p:grpSp>
        <p:nvGrpSpPr>
          <p:cNvPr id="10" name="title-accent"/>
          <p:cNvGrpSpPr/>
          <p:nvPr/>
        </p:nvGrpSpPr>
        <p:grpSpPr>
          <a:xfrm>
            <a:off x="762000" y="895350"/>
            <a:ext cx="914400" cy="38100"/>
            <a:chOff x="762000" y="895350"/>
            <a:chExt cx="914400" cy="38100"/>
          </a:xfrm>
        </p:grpSpPr>
        <p:sp>
          <p:nvSpPr>
            <p:cNvPr id="9" name="Rectangle 9"/>
            <p:cNvSpPr/>
            <p:nvPr/>
          </p:nvSpPr>
          <p:spPr>
            <a:xfrm>
              <a:off x="762000" y="895350"/>
              <a:ext cx="914400" cy="38100"/>
            </a:xfrm>
            <a:prstGeom prst="rect">
              <a:avLst/>
            </a:prstGeom>
            <a:solidFill>
              <a:srgbClr val="1A56C8"/>
            </a:solidFill>
            <a:ln>
              <a:noFill/>
            </a:ln>
          </p:spPr>
          <p:txBody>
            <a:bodyPr/>
            <a:lstStyle/>
            <a:p>
              <a:endParaRPr/>
            </a:p>
          </p:txBody>
        </p:sp>
      </p:grpSp>
      <p:grpSp>
        <p:nvGrpSpPr>
          <p:cNvPr id="12" name="source-note"/>
          <p:cNvGrpSpPr/>
          <p:nvPr/>
        </p:nvGrpSpPr>
        <p:grpSpPr>
          <a:xfrm>
            <a:off x="755142" y="6121400"/>
            <a:ext cx="3287689" cy="264033"/>
            <a:chOff x="755142" y="6121400"/>
            <a:chExt cx="3287689" cy="264033"/>
          </a:xfrm>
        </p:grpSpPr>
        <p:sp>
          <p:nvSpPr>
            <p:cNvPr id="11" name="TextBox 11"/>
            <p:cNvSpPr txBox="1"/>
            <p:nvPr/>
          </p:nvSpPr>
          <p:spPr>
            <a:xfrm>
              <a:off x="755142" y="6121400"/>
              <a:ext cx="3287689"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Nguồn: ux/user-flow.md; Figma Page 01</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age-title-slot Placeholder Carrier"/>
          <p:cNvSpPr txBox="1">
            <a:spLocks noGrp="1"/>
          </p:cNvSpPr>
          <p:nvPr>
            <p:ph type="title"/>
          </p:nvPr>
        </p:nvSpPr>
        <p:spPr>
          <a:xfrm>
            <a:off x="745998" y="406400"/>
            <a:ext cx="2567610"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Ba user flow</a:t>
            </a:r>
          </a:p>
        </p:txBody>
      </p:sp>
      <p:sp>
        <p:nvSpPr>
          <p:cNvPr id="8" name="content-slot Placeholder Carrier"/>
          <p:cNvSpPr txBox="1">
            <a:spLocks noGrp="1"/>
          </p:cNvSpPr>
          <p:nvPr>
            <p:ph type="body" idx="1"/>
          </p:nvPr>
        </p:nvSpPr>
        <p:spPr>
          <a:xfrm>
            <a:off x="752856" y="5753100"/>
            <a:ext cx="9900000" cy="352044"/>
          </a:xfrm>
          <a:prstGeom prst="rect">
            <a:avLst/>
          </a:prstGeom>
          <a:noFill/>
          <a:ln>
            <a:noFill/>
          </a:ln>
        </p:spPr>
        <p:txBody>
          <a:bodyPr wrap="square" lIns="0" tIns="0" rIns="0" bIns="0" anchor="t" anchorCtr="0">
            <a:spAutoFit/>
          </a:bodyPr>
          <a:lstStyle/>
          <a:p>
            <a:pPr marL="0" indent="0" algn="l">
              <a:lnSpc>
                <a:spcPts val="2430"/>
              </a:lnSpc>
              <a:buNone/>
            </a:pPr>
            <a:r>
              <a:rPr lang="vi" sz="1800" dirty="0">
                <a:solidFill>
                  <a:srgbClr val="1C1B18"/>
                </a:solidFill>
                <a:latin typeface="+mn-lt"/>
                <a:ea typeface="+mn-ea"/>
                <a:cs typeface="+mn-cs"/>
              </a:rPr>
              <a:t>Mỗi flow có đường lỗi và cách phục hồi</a:t>
            </a:r>
          </a:p>
        </p:txBody>
      </p:sp>
      <p:grpSp>
        <p:nvGrpSpPr>
          <p:cNvPr id="10" name="title-accent"/>
          <p:cNvGrpSpPr/>
          <p:nvPr/>
        </p:nvGrpSpPr>
        <p:grpSpPr>
          <a:xfrm>
            <a:off x="762000" y="895350"/>
            <a:ext cx="914400" cy="38100"/>
            <a:chOff x="762000" y="895350"/>
            <a:chExt cx="914400" cy="38100"/>
          </a:xfrm>
        </p:grpSpPr>
        <p:sp>
          <p:nvSpPr>
            <p:cNvPr id="9" name="Rectangle 9"/>
            <p:cNvSpPr/>
            <p:nvPr/>
          </p:nvSpPr>
          <p:spPr>
            <a:xfrm>
              <a:off x="762000" y="895350"/>
              <a:ext cx="914400" cy="38100"/>
            </a:xfrm>
            <a:prstGeom prst="rect">
              <a:avLst/>
            </a:prstGeom>
            <a:solidFill>
              <a:srgbClr val="1A56C8"/>
            </a:solidFill>
            <a:ln>
              <a:noFill/>
            </a:ln>
          </p:spPr>
          <p:txBody>
            <a:bodyPr/>
            <a:lstStyle/>
            <a:p>
              <a:endParaRPr/>
            </a:p>
          </p:txBody>
        </p:sp>
      </p:grpSp>
      <p:grpSp>
        <p:nvGrpSpPr>
          <p:cNvPr id="13" name="flow-a-block"/>
          <p:cNvGrpSpPr/>
          <p:nvPr/>
        </p:nvGrpSpPr>
        <p:grpSpPr>
          <a:xfrm>
            <a:off x="752856" y="1181100"/>
            <a:ext cx="2584963" cy="4060444"/>
            <a:chOff x="752856" y="1181100"/>
            <a:chExt cx="2584963" cy="4060444"/>
          </a:xfrm>
        </p:grpSpPr>
        <p:pic>
          <p:nvPicPr>
            <p:cNvPr id="11" name="Image 11"/>
            <p:cNvPicPr>
              <a:picLocks noChangeAspect="1"/>
            </p:cNvPicPr>
            <p:nvPr/>
          </p:nvPicPr>
          <p:blipFill>
            <a:blip r:embed="rId6"/>
            <a:srcRect/>
            <a:stretch>
              <a:fillRect/>
            </a:stretch>
          </p:blipFill>
          <p:spPr>
            <a:xfrm>
              <a:off x="1578296" y="1181100"/>
              <a:ext cx="1453508" cy="2761488"/>
            </a:xfrm>
            <a:prstGeom prst="rect">
              <a:avLst/>
            </a:prstGeom>
          </p:spPr>
        </p:pic>
        <p:sp>
          <p:nvSpPr>
            <p:cNvPr id="12" name="TextBox 12"/>
            <p:cNvSpPr txBox="1"/>
            <p:nvPr/>
          </p:nvSpPr>
          <p:spPr>
            <a:xfrm>
              <a:off x="749300" y="4038600"/>
              <a:ext cx="3111500" cy="1209294"/>
            </a:xfrm>
            <a:prstGeom prst="rect">
              <a:avLst/>
            </a:prstGeom>
            <a:noFill/>
            <a:ln>
              <a:noFill/>
            </a:ln>
          </p:spPr>
          <p:txBody>
            <a:bodyPr wrap="square" lIns="0" tIns="0" rIns="0" bIns="0" anchor="t" anchorCtr="0">
              <a:spAutoFit/>
            </a:bodyPr>
            <a:lstStyle/>
            <a:p>
              <a:pPr marL="0" indent="0" algn="l">
                <a:lnSpc>
                  <a:spcPts val="2080"/>
                </a:lnSpc>
                <a:buNone/>
              </a:pPr>
              <a:r>
                <a:rPr lang="vi" sz="1600" dirty="0" b="1">
                  <a:solidFill>
                    <a:srgbClr val="1A56C8"/>
                  </a:solidFill>
                  <a:latin typeface="+mn-lt"/>
                  <a:ea typeface="+mn-ea"/>
                  <a:cs typeface="+mn-cs"/>
                </a:rPr>
                <a:t>Flow A: </a:t>
              </a:r>
              <a:r>
                <a:rPr lang="vi" sz="1600" dirty="0">
                  <a:solidFill>
                    <a:srgbClr val="1C1B18"/>
                  </a:solidFill>
                  <a:latin typeface="+mn-lt"/>
                  <a:ea typeface="+mn-ea"/>
                  <a:cs typeface="+mn-cs"/>
                </a:rPr>
                <a:t>duyệt gợi ý AI. Lỗi: email sai (S19), mất mạng (S18). Nhánh: nhập lớp (S22-S23)</a:t>
              </a:r>
            </a:p>
          </p:txBody>
        </p:sp>
      </p:grpSp>
      <p:grpSp>
        <p:nvGrpSpPr>
          <p:cNvPr id="16" name="flow-b-block"/>
          <p:cNvGrpSpPr/>
          <p:nvPr/>
        </p:nvGrpSpPr>
        <p:grpSpPr>
          <a:xfrm>
            <a:off x="4181856" y="1181100"/>
            <a:ext cx="2876169" cy="4060444"/>
            <a:chOff x="4181856" y="1181100"/>
            <a:chExt cx="2876169" cy="4060444"/>
          </a:xfrm>
        </p:grpSpPr>
        <p:pic>
          <p:nvPicPr>
            <p:cNvPr id="14" name="Image 14"/>
            <p:cNvPicPr>
              <a:picLocks noChangeAspect="1"/>
            </p:cNvPicPr>
            <p:nvPr/>
          </p:nvPicPr>
          <p:blipFill>
            <a:blip r:embed="rId7"/>
            <a:srcRect/>
            <a:stretch>
              <a:fillRect/>
            </a:stretch>
          </p:blipFill>
          <p:spPr>
            <a:xfrm>
              <a:off x="4673092" y="1181100"/>
              <a:ext cx="2071116" cy="2761488"/>
            </a:xfrm>
            <a:prstGeom prst="rect">
              <a:avLst/>
            </a:prstGeom>
          </p:spPr>
        </p:pic>
        <p:sp>
          <p:nvSpPr>
            <p:cNvPr id="15" name="TextBox 15"/>
            <p:cNvSpPr txBox="1"/>
            <p:nvPr/>
          </p:nvSpPr>
          <p:spPr>
            <a:xfrm>
              <a:off x="4152900" y="4038600"/>
              <a:ext cx="3111500" cy="1209294"/>
            </a:xfrm>
            <a:prstGeom prst="rect">
              <a:avLst/>
            </a:prstGeom>
            <a:noFill/>
            <a:ln>
              <a:noFill/>
            </a:ln>
          </p:spPr>
          <p:txBody>
            <a:bodyPr wrap="square" lIns="0" tIns="0" rIns="0" bIns="0" anchor="t" anchorCtr="0">
              <a:spAutoFit/>
            </a:bodyPr>
            <a:lstStyle/>
            <a:p>
              <a:pPr marL="0" indent="0" algn="l">
                <a:lnSpc>
                  <a:spcPts val="2080"/>
                </a:lnSpc>
                <a:buNone/>
              </a:pPr>
              <a:r>
                <a:rPr lang="vi" sz="1600" dirty="0" b="1">
                  <a:solidFill>
                    <a:srgbClr val="1A56C8"/>
                  </a:solidFill>
                  <a:latin typeface="+mn-lt"/>
                  <a:ea typeface="+mn-ea"/>
                  <a:cs typeface="+mn-cs"/>
                </a:rPr>
                <a:t>Flow B: </a:t>
              </a:r>
              <a:r>
                <a:rPr lang="vi" sz="1600" dirty="0">
                  <a:solidFill>
                    <a:srgbClr val="1C1B18"/>
                  </a:solidFill>
                  <a:latin typeface="+mn-lt"/>
                  <a:ea typeface="+mn-ea"/>
                  <a:cs typeface="+mn-cs"/>
                </a:rPr>
                <a:t>thêm hoặc bỏ thành viên. Lỗi: quá 6 người (S13), dưới 5 người (S25). Bỏ: S24</a:t>
              </a:r>
            </a:p>
          </p:txBody>
        </p:sp>
      </p:grpSp>
      <p:grpSp>
        <p:nvGrpSpPr>
          <p:cNvPr id="19" name="flow-c-block"/>
          <p:cNvGrpSpPr/>
          <p:nvPr/>
        </p:nvGrpSpPr>
        <p:grpSpPr>
          <a:xfrm>
            <a:off x="7610856" y="1181100"/>
            <a:ext cx="2788691" cy="4346194"/>
            <a:chOff x="7610856" y="1181100"/>
            <a:chExt cx="2788691" cy="4346194"/>
          </a:xfrm>
        </p:grpSpPr>
        <p:pic>
          <p:nvPicPr>
            <p:cNvPr id="17" name="Image 17"/>
            <p:cNvPicPr>
              <a:picLocks noChangeAspect="1"/>
            </p:cNvPicPr>
            <p:nvPr/>
          </p:nvPicPr>
          <p:blipFill>
            <a:blip r:embed="rId5"/>
            <a:srcRect/>
            <a:stretch>
              <a:fillRect/>
            </a:stretch>
          </p:blipFill>
          <p:spPr>
            <a:xfrm>
              <a:off x="7854950" y="1181100"/>
              <a:ext cx="2514600" cy="2642325"/>
            </a:xfrm>
            <a:prstGeom prst="rect">
              <a:avLst/>
            </a:prstGeom>
          </p:spPr>
        </p:pic>
        <p:sp>
          <p:nvSpPr>
            <p:cNvPr id="18" name="TextBox 18"/>
            <p:cNvSpPr txBox="1"/>
            <p:nvPr/>
          </p:nvSpPr>
          <p:spPr>
            <a:xfrm>
              <a:off x="7556500" y="4038600"/>
              <a:ext cx="3111500" cy="1495044"/>
            </a:xfrm>
            <a:prstGeom prst="rect">
              <a:avLst/>
            </a:prstGeom>
            <a:noFill/>
            <a:ln>
              <a:noFill/>
            </a:ln>
          </p:spPr>
          <p:txBody>
            <a:bodyPr wrap="square" lIns="0" tIns="0" rIns="0" bIns="0" anchor="t" anchorCtr="0">
              <a:spAutoFit/>
            </a:bodyPr>
            <a:lstStyle/>
            <a:p>
              <a:pPr marL="0" indent="0" algn="l">
                <a:lnSpc>
                  <a:spcPts val="2080"/>
                </a:lnSpc>
                <a:buNone/>
              </a:pPr>
              <a:r>
                <a:rPr lang="vi" sz="1600" dirty="0" b="1">
                  <a:solidFill>
                    <a:srgbClr val="1A56C8"/>
                  </a:solidFill>
                  <a:latin typeface="+mn-lt"/>
                  <a:ea typeface="+mn-ea"/>
                  <a:cs typeface="+mn-cs"/>
                </a:rPr>
                <a:t>Flow C: </a:t>
              </a:r>
              <a:r>
                <a:rPr lang="vi" sz="1600" dirty="0">
                  <a:solidFill>
                    <a:srgbClr val="1C1B18"/>
                  </a:solidFill>
                  <a:latin typeface="+mn-lt"/>
                  <a:ea typeface="+mn-ea"/>
                  <a:cs typeface="+mn-cs"/>
                </a:rPr>
                <a:t>mentor ghép tay. Lỗi: sinh viên đã có nhóm (S16), không tìm thấy (S21). Hủy: S17</a:t>
              </a:r>
            </a:p>
          </p:txBody>
        </p:sp>
      </p:grpSp>
      <p:grpSp>
        <p:nvGrpSpPr>
          <p:cNvPr id="21" name="source-note"/>
          <p:cNvGrpSpPr/>
          <p:nvPr/>
        </p:nvGrpSpPr>
        <p:grpSpPr>
          <a:xfrm>
            <a:off x="755142" y="6140450"/>
            <a:ext cx="4191921" cy="264033"/>
            <a:chOff x="755142" y="6140450"/>
            <a:chExt cx="4191921" cy="264033"/>
          </a:xfrm>
        </p:grpSpPr>
        <p:sp>
          <p:nvSpPr>
            <p:cNvPr id="20" name="TextBox 20"/>
            <p:cNvSpPr txBox="1"/>
            <p:nvPr/>
          </p:nvSpPr>
          <p:spPr>
            <a:xfrm>
              <a:off x="755142" y="6140450"/>
              <a:ext cx="4191921"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Ảnh: assets/flows/flow-a.png, flow-b.png, flow-c.png</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page-title-slot Placeholder Carrier"/>
          <p:cNvSpPr txBox="1">
            <a:spLocks noGrp="1"/>
          </p:cNvSpPr>
          <p:nvPr>
            <p:ph type="title"/>
          </p:nvPr>
        </p:nvSpPr>
        <p:spPr>
          <a:xfrm>
            <a:off x="745998" y="406400"/>
            <a:ext cx="4669274"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Tạo UI bằng AI (Stitch)</a:t>
            </a:r>
          </a:p>
        </p:txBody>
      </p:sp>
      <p:sp>
        <p:nvSpPr>
          <p:cNvPr id="12" name="content-slot Placeholder Carrier"/>
          <p:cNvSpPr txBox="1">
            <a:spLocks noGrp="1"/>
          </p:cNvSpPr>
          <p:nvPr>
            <p:ph type="body" idx="1"/>
          </p:nvPr>
        </p:nvSpPr>
        <p:spPr>
          <a:xfrm>
            <a:off x="752856" y="1327150"/>
            <a:ext cx="5600000" cy="4400000"/>
          </a:xfrm>
          <a:prstGeom prst="rect">
            <a:avLst/>
          </a:prstGeom>
          <a:noFill/>
          <a:ln>
            <a:noFill/>
          </a:ln>
        </p:spPr>
        <p:txBody>
          <a:bodyPr wrap="square" lIns="0" tIns="0" rIns="0" bIns="0" anchor="t" anchorCtr="0">
            <a:noAutofit/>
          </a:bodyPr>
          <a:lstStyle/>
          <a:p>
            <a:pPr marL="0" indent="0" algn="l">
              <a:lnSpc>
                <a:spcPts val="2700"/>
              </a:lnSpc>
              <a:buNone/>
            </a:pPr>
            <a:r>
              <a:rPr lang="vi" sz="2000" dirty="0">
                <a:solidFill>
                  <a:srgbClr val="1C1B18"/>
                </a:solidFill>
                <a:latin typeface="+mn-lt"/>
                <a:ea typeface="+mn-ea"/>
                <a:cs typeface="+mn-cs"/>
              </a:rPr>
              <a:t>Prompt gồm 5 phần: người dùng (mentor), tác vụ, nền tảng (Android 360×800), ràng buộc, phong cách (DESIGN.md)</a:t>
            </a:r>
          </a:p>
          <a:p>
            <a:pPr marL="0" indent="0" algn="l">
              <a:lnSpc>
                <a:spcPts val="2700"/>
              </a:lnSpc>
              <a:spcBef>
                <a:spcPts val="1600"/>
              </a:spcBef>
              <a:buNone/>
            </a:pPr>
            <a:r>
              <a:rPr lang="vi" sz="2000" dirty="0" b="1">
                <a:solidFill>
                  <a:srgbClr val="1A56C8"/>
                </a:solidFill>
                <a:latin typeface="+mn-lt"/>
                <a:ea typeface="+mn-ea"/>
                <a:cs typeface="+mn-cs"/>
              </a:rPr>
              <a:t>R0 (hướng sinh viên): </a:t>
            </a:r>
            <a:r>
              <a:rPr lang="vi" sz="2000" dirty="0">
                <a:solidFill>
                  <a:srgbClr val="1C1B18"/>
                </a:solidFill>
                <a:latin typeface="+mn-lt"/>
                <a:ea typeface="+mn-ea"/>
                <a:cs typeface="+mn-cs"/>
              </a:rPr>
              <a:t>4 màn, lẫn chữ nội bộ như "Lineup"</a:t>
            </a:r>
          </a:p>
          <a:p>
            <a:pPr marL="0" indent="0" algn="l">
              <a:lnSpc>
                <a:spcPts val="2700"/>
              </a:lnSpc>
              <a:spcBef>
                <a:spcPts val="1600"/>
              </a:spcBef>
              <a:buNone/>
            </a:pPr>
            <a:r>
              <a:rPr lang="vi" sz="2000" dirty="0" b="1">
                <a:solidFill>
                  <a:srgbClr val="1A56C8"/>
                </a:solidFill>
                <a:latin typeface="+mn-lt"/>
                <a:ea typeface="+mn-ea"/>
                <a:cs typeface="+mn-cs"/>
              </a:rPr>
              <a:t>R9-R10 (hướng mentor): </a:t>
            </a:r>
            <a:r>
              <a:rPr lang="vi" sz="2000" dirty="0">
                <a:solidFill>
                  <a:srgbClr val="1C1B18"/>
                </a:solidFill>
                <a:latin typeface="+mn-lt"/>
                <a:ea typeface="+mn-ea"/>
                <a:cs typeface="+mn-cs"/>
              </a:rPr>
              <a:t>21 màn xuất sang Figma</a:t>
            </a:r>
          </a:p>
          <a:p>
            <a:pPr marL="0" indent="0" algn="l">
              <a:lnSpc>
                <a:spcPts val="2700"/>
              </a:lnSpc>
              <a:spcBef>
                <a:spcPts val="1600"/>
              </a:spcBef>
              <a:buNone/>
            </a:pPr>
            <a:r>
              <a:rPr lang="vi" sz="2000" dirty="0" b="1">
                <a:solidFill>
                  <a:srgbClr val="1A56C8"/>
                </a:solidFill>
                <a:latin typeface="+mn-lt"/>
                <a:ea typeface="+mn-ea"/>
                <a:cs typeface="+mn-cs"/>
              </a:rPr>
              <a:t>S22-S25: </a:t>
            </a:r>
            <a:r>
              <a:rPr lang="vi" sz="2000" dirty="0">
                <a:solidFill>
                  <a:srgbClr val="1C1B18"/>
                </a:solidFill>
                <a:latin typeface="+mn-lt"/>
                <a:ea typeface="+mn-ea"/>
                <a:cs typeface="+mn-cs"/>
              </a:rPr>
              <a:t>dựng trực tiếp trong Figma</a:t>
            </a:r>
          </a:p>
        </p:txBody>
      </p:sp>
      <p:pic>
        <p:nvPicPr>
          <p:cNvPr id="13" name="picture-slot Placeholder Carrier"/>
          <p:cNvPicPr>
            <a:picLocks noGrp="1" noChangeAspect="1"/>
          </p:cNvPicPr>
          <p:nvPr>
            <p:ph type="pic" idx="2"/>
          </p:nvPr>
        </p:nvPicPr>
        <p:blipFill>
          <a:blip r:embed="rId3"/>
          <a:stretch>
            <a:fillRect/>
          </a:stretch>
        </p:blipFill>
        <p:spPr>
          <a:xfrm>
            <a:off x="7124700" y="2021742"/>
            <a:ext cx="1390650" cy="2852615"/>
          </a:xfrm>
          <a:prstGeom prst="rect">
            <a:avLst/>
          </a:prstGeom>
        </p:spPr>
      </p:pic>
      <p:grpSp>
        <p:nvGrpSpPr>
          <p:cNvPr id="15" name="after-picture"/>
          <p:cNvGrpSpPr/>
          <p:nvPr/>
        </p:nvGrpSpPr>
        <p:grpSpPr>
          <a:xfrm>
            <a:off x="8629650" y="2021742"/>
            <a:ext cx="1390650" cy="2852615"/>
            <a:chOff x="8629650" y="2021742"/>
            <a:chExt cx="1390650" cy="2852615"/>
          </a:xfrm>
        </p:grpSpPr>
        <p:pic>
          <p:nvPicPr>
            <p:cNvPr id="14" name="Image 14"/>
            <p:cNvPicPr>
              <a:picLocks noChangeAspect="1"/>
            </p:cNvPicPr>
            <p:nvPr/>
          </p:nvPicPr>
          <p:blipFill>
            <a:blip r:embed="rId4"/>
            <a:stretch>
              <a:fillRect/>
            </a:stretch>
          </p:blipFill>
          <p:spPr>
            <a:xfrm>
              <a:off x="8629650" y="2021742"/>
              <a:ext cx="1390650" cy="2852615"/>
            </a:xfrm>
            <a:prstGeom prst="rect">
              <a:avLst/>
            </a:prstGeom>
          </p:spPr>
        </p:pic>
      </p:grpSp>
      <p:grpSp>
        <p:nvGrpSpPr>
          <p:cNvPr id="17" name="title-accent"/>
          <p:cNvGrpSpPr/>
          <p:nvPr/>
        </p:nvGrpSpPr>
        <p:grpSpPr>
          <a:xfrm>
            <a:off x="762000" y="895350"/>
            <a:ext cx="914400" cy="38100"/>
            <a:chOff x="762000" y="895350"/>
            <a:chExt cx="914400" cy="38100"/>
          </a:xfrm>
        </p:grpSpPr>
        <p:sp>
          <p:nvSpPr>
            <p:cNvPr id="16" name="Rectangle 16"/>
            <p:cNvSpPr/>
            <p:nvPr/>
          </p:nvSpPr>
          <p:spPr>
            <a:xfrm>
              <a:off x="762000" y="895350"/>
              <a:ext cx="914400" cy="38100"/>
            </a:xfrm>
            <a:prstGeom prst="rect">
              <a:avLst/>
            </a:prstGeom>
            <a:solidFill>
              <a:srgbClr val="1A56C8"/>
            </a:solidFill>
            <a:ln>
              <a:noFill/>
            </a:ln>
          </p:spPr>
          <p:txBody>
            <a:bodyPr/>
            <a:lstStyle/>
            <a:p>
              <a:endParaRPr/>
            </a:p>
          </p:txBody>
        </p:sp>
      </p:grpSp>
      <p:grpSp>
        <p:nvGrpSpPr>
          <p:cNvPr id="19" name="picture-caption"/>
          <p:cNvGrpSpPr/>
          <p:nvPr/>
        </p:nvGrpSpPr>
        <p:grpSpPr>
          <a:xfrm>
            <a:off x="6660642" y="5568950"/>
            <a:ext cx="3243594" cy="473583"/>
            <a:chOff x="6660642" y="5568950"/>
            <a:chExt cx="3243594" cy="473583"/>
          </a:xfrm>
        </p:grpSpPr>
        <p:sp>
          <p:nvSpPr>
            <p:cNvPr id="18" name="TextBox 18"/>
            <p:cNvSpPr txBox="1"/>
            <p:nvPr/>
          </p:nvSpPr>
          <p:spPr>
            <a:xfrm>
              <a:off x="6660642" y="5568950"/>
              <a:ext cx="3243594" cy="473583"/>
            </a:xfrm>
            <a:prstGeom prst="rect">
              <a:avLst/>
            </a:prstGeom>
            <a:noFill/>
            <a:ln>
              <a:noFill/>
            </a:ln>
          </p:spPr>
          <p:txBody>
            <a:bodyPr wrap="none" lIns="0" tIns="0" rIns="0" bIns="0" anchor="t" anchorCtr="0">
              <a:spAutoFit/>
            </a:bodyPr>
            <a:lstStyle/>
            <a:p>
              <a:pPr algn="l">
                <a:lnSpc>
                  <a:spcPts val="1650"/>
                </a:lnSpc>
              </a:pPr>
              <a:r>
                <a:rPr lang="vi" sz="1350" b="1" dirty="0">
                  <a:solidFill>
                    <a:schemeClr val="accent6"/>
                  </a:solidFill>
                  <a:latin typeface="+mn-lt"/>
                  <a:ea typeface="+mn-ea"/>
                  <a:cs typeface="+mn-cs"/>
                </a:rPr>
                <a:t>Trái, R0 (sinh viên):</a:t>
              </a:r>
              <a:r>
                <a:rPr lang="vi" sz="1350" dirty="0">
                  <a:solidFill>
                    <a:schemeClr val="accent6"/>
                  </a:solidFill>
                  <a:latin typeface="+mn-lt"/>
                  <a:ea typeface="+mn-ea"/>
                  <a:cs typeface="+mn-cs"/>
                </a:rPr>
                <a:t> Stitch First, Discover</a:t>
              </a:r>
              <a:br>
                <a:rPr lang="vi" sz="1350" dirty="0">
                  <a:solidFill>
                    <a:schemeClr val="accent6"/>
                  </a:solidFill>
                  <a:latin typeface="+mn-lt"/>
                  <a:ea typeface="+mn-ea"/>
                  <a:cs typeface="+mn-cs"/>
                </a:rPr>
              </a:br>
              <a:r>
                <a:rPr lang="vi" sz="1350" b="1" dirty="0">
                  <a:solidFill>
                    <a:schemeClr val="accent6"/>
                  </a:solidFill>
                  <a:latin typeface="+mn-lt"/>
                  <a:ea typeface="+mn-ea"/>
                  <a:cs typeface="+mn-cs"/>
                </a:rPr>
                <a:t>Phải, R9 (mentor):</a:t>
              </a:r>
              <a:r>
                <a:rPr lang="vi" sz="1350" dirty="0">
                  <a:solidFill>
                    <a:schemeClr val="accent6"/>
                  </a:solidFill>
                  <a:latin typeface="+mn-lt"/>
                  <a:ea typeface="+mn-ea"/>
                  <a:cs typeface="+mn-cs"/>
                </a:rPr>
                <a:t> Stitch Final, Proposals</a:t>
              </a:r>
            </a:p>
          </p:txBody>
        </p:sp>
      </p:grpSp>
      <p:grpSp>
        <p:nvGrpSpPr>
          <p:cNvPr id="21" name="source-note"/>
          <p:cNvGrpSpPr/>
          <p:nvPr/>
        </p:nvGrpSpPr>
        <p:grpSpPr>
          <a:xfrm>
            <a:off x="755142" y="6140450"/>
            <a:ext cx="7462778" cy="264033"/>
            <a:chOff x="755142" y="6140450"/>
            <a:chExt cx="7462778" cy="264033"/>
          </a:xfrm>
        </p:grpSpPr>
        <p:sp>
          <p:nvSpPr>
            <p:cNvPr id="20" name="TextBox 20"/>
            <p:cNvSpPr txBox="1"/>
            <p:nvPr/>
          </p:nvSpPr>
          <p:spPr>
            <a:xfrm>
              <a:off x="755142" y="6140450"/>
              <a:ext cx="7462778"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Prompt nguyên văn: ai/stitch-prompts-r9.md, r10.md; ai/ai-design-log.md mục 3; design/DESIGN.md</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page-title-slot Placeholder Carrier"/>
          <p:cNvSpPr txBox="1">
            <a:spLocks noGrp="1"/>
          </p:cNvSpPr>
          <p:nvPr>
            <p:ph type="title"/>
          </p:nvPr>
        </p:nvSpPr>
        <p:spPr>
          <a:xfrm>
            <a:off x="745998" y="406400"/>
            <a:ext cx="4687967"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Iteration và UX critique</a:t>
            </a:r>
          </a:p>
        </p:txBody>
      </p:sp>
      <p:sp>
        <p:nvSpPr>
          <p:cNvPr id="12" name="content-slot Placeholder Carrier"/>
          <p:cNvSpPr txBox="1">
            <a:spLocks noGrp="1"/>
          </p:cNvSpPr>
          <p:nvPr>
            <p:ph type="body" idx="1"/>
          </p:nvPr>
        </p:nvSpPr>
        <p:spPr>
          <a:xfrm>
            <a:off x="752856" y="1327150"/>
            <a:ext cx="5600000" cy="4400000"/>
          </a:xfrm>
          <a:prstGeom prst="rect">
            <a:avLst/>
          </a:prstGeom>
          <a:noFill/>
          <a:ln>
            <a:noFill/>
          </a:ln>
        </p:spPr>
        <p:txBody>
          <a:bodyPr wrap="square" lIns="0" tIns="0" rIns="0" bIns="0" anchor="t" anchorCtr="0">
            <a:noAutofit/>
          </a:bodyPr>
          <a:lstStyle/>
          <a:p>
            <a:pPr marL="0" indent="0" algn="l">
              <a:lnSpc>
                <a:spcPts val="2700"/>
              </a:lnSpc>
              <a:buNone/>
            </a:pPr>
            <a:r>
              <a:rPr lang="vi" sz="2000" dirty="0" b="1">
                <a:solidFill>
                  <a:srgbClr val="1A56C8"/>
                </a:solidFill>
                <a:latin typeface="+mn-lt"/>
                <a:ea typeface="+mn-ea"/>
                <a:cs typeface="+mn-cs"/>
              </a:rPr>
              <a:t>R3: </a:t>
            </a:r>
            <a:r>
              <a:rPr lang="vi" sz="2000" dirty="0">
                <a:solidFill>
                  <a:srgbClr val="1C1B18"/>
                </a:solidFill>
                <a:latin typeface="+mn-lt"/>
                <a:ea typeface="+mn-ea"/>
                <a:cs typeface="+mn-cs"/>
              </a:rPr>
              <a:t>chú thích đè chữ → bỏ chú thích</a:t>
            </a:r>
          </a:p>
          <a:p>
            <a:pPr marL="0" indent="0" algn="l">
              <a:lnSpc>
                <a:spcPts val="2700"/>
              </a:lnSpc>
              <a:spcBef>
                <a:spcPts val="1600"/>
              </a:spcBef>
              <a:buNone/>
            </a:pPr>
            <a:r>
              <a:rPr lang="vi" sz="2000" dirty="0" b="1">
                <a:solidFill>
                  <a:srgbClr val="1A56C8"/>
                </a:solidFill>
                <a:latin typeface="+mn-lt"/>
                <a:ea typeface="+mn-ea"/>
                <a:cs typeface="+mn-cs"/>
              </a:rPr>
              <a:t>R4: </a:t>
            </a:r>
            <a:r>
              <a:rPr lang="vi" sz="2000" dirty="0">
                <a:solidFill>
                  <a:srgbClr val="1C1B18"/>
                </a:solidFill>
                <a:latin typeface="+mn-lt"/>
                <a:ea typeface="+mn-ea"/>
                <a:cs typeface="+mn-cs"/>
              </a:rPr>
              <a:t>app bar không nhất quán → thống nhất</a:t>
            </a:r>
          </a:p>
          <a:p>
            <a:pPr marL="0" indent="0" algn="l">
              <a:lnSpc>
                <a:spcPts val="2700"/>
              </a:lnSpc>
              <a:spcBef>
                <a:spcPts val="1600"/>
              </a:spcBef>
              <a:buNone/>
            </a:pPr>
            <a:r>
              <a:rPr lang="vi" sz="2000" dirty="0" b="1">
                <a:solidFill>
                  <a:srgbClr val="1A56C8"/>
                </a:solidFill>
                <a:latin typeface="+mn-lt"/>
                <a:ea typeface="+mn-ea"/>
                <a:cs typeface="+mn-cs"/>
              </a:rPr>
              <a:t>R6: </a:t>
            </a:r>
            <a:r>
              <a:rPr lang="vi" sz="2000" dirty="0">
                <a:solidFill>
                  <a:srgbClr val="1C1B18"/>
                </a:solidFill>
                <a:latin typeface="+mn-lt"/>
                <a:ea typeface="+mn-ea"/>
                <a:cs typeface="+mn-cs"/>
              </a:rPr>
              <a:t>email bắt buộc tên miền edu → email bất kỳ</a:t>
            </a:r>
          </a:p>
          <a:p>
            <a:pPr marL="0" indent="0" algn="l">
              <a:lnSpc>
                <a:spcPts val="2700"/>
              </a:lnSpc>
              <a:spcBef>
                <a:spcPts val="1600"/>
              </a:spcBef>
              <a:buNone/>
            </a:pPr>
            <a:r>
              <a:rPr lang="vi" sz="2000" dirty="0" b="1">
                <a:solidFill>
                  <a:srgbClr val="1A56C8"/>
                </a:solidFill>
                <a:latin typeface="+mn-lt"/>
                <a:ea typeface="+mn-ea"/>
                <a:cs typeface="+mn-cs"/>
              </a:rPr>
              <a:t>R7: </a:t>
            </a:r>
            <a:r>
              <a:rPr lang="vi" sz="2000" dirty="0">
                <a:solidFill>
                  <a:srgbClr val="1C1B18"/>
                </a:solidFill>
                <a:latin typeface="+mn-lt"/>
                <a:ea typeface="+mn-ea"/>
                <a:cs typeface="+mn-cs"/>
              </a:rPr>
              <a:t>thẻ chìm vào nền (1.07:1) → đổi palette, viền thẻ rõ</a:t>
            </a:r>
          </a:p>
          <a:p>
            <a:pPr marL="0" indent="0" algn="l">
              <a:lnSpc>
                <a:spcPts val="2700"/>
              </a:lnSpc>
              <a:spcBef>
                <a:spcPts val="1600"/>
              </a:spcBef>
              <a:buNone/>
            </a:pPr>
            <a:r>
              <a:rPr lang="vi" sz="2000" dirty="0" b="1">
                <a:solidFill>
                  <a:srgbClr val="1A56C8"/>
                </a:solidFill>
                <a:latin typeface="+mn-lt"/>
                <a:ea typeface="+mn-ea"/>
                <a:cs typeface="+mn-cs"/>
              </a:rPr>
              <a:t>R9 → Figma: </a:t>
            </a:r>
            <a:r>
              <a:rPr lang="vi" sz="2000" dirty="0">
                <a:solidFill>
                  <a:srgbClr val="1C1B18"/>
                </a:solidFill>
                <a:latin typeface="+mn-lt"/>
                <a:ea typeface="+mn-ea"/>
                <a:cs typeface="+mn-cs"/>
              </a:rPr>
              <a:t>S4 chữ bịa, S17 nền sai → sửa trong Figma</a:t>
            </a:r>
          </a:p>
        </p:txBody>
      </p:sp>
      <p:pic>
        <p:nvPicPr>
          <p:cNvPr id="13" name="picture-slot Placeholder Carrier"/>
          <p:cNvPicPr>
            <a:picLocks noGrp="1" noChangeAspect="1"/>
          </p:cNvPicPr>
          <p:nvPr>
            <p:ph type="pic" idx="2"/>
          </p:nvPr>
        </p:nvPicPr>
        <p:blipFill>
          <a:blip r:embed="rId3"/>
          <a:stretch>
            <a:fillRect/>
          </a:stretch>
        </p:blipFill>
        <p:spPr>
          <a:xfrm>
            <a:off x="7124700" y="2021742"/>
            <a:ext cx="1390650" cy="2852615"/>
          </a:xfrm>
          <a:prstGeom prst="rect">
            <a:avLst/>
          </a:prstGeom>
        </p:spPr>
      </p:pic>
      <p:grpSp>
        <p:nvGrpSpPr>
          <p:cNvPr id="15" name="after-picture"/>
          <p:cNvGrpSpPr/>
          <p:nvPr/>
        </p:nvGrpSpPr>
        <p:grpSpPr>
          <a:xfrm>
            <a:off x="8629650" y="2021742"/>
            <a:ext cx="1390650" cy="2852615"/>
            <a:chOff x="8629650" y="2021742"/>
            <a:chExt cx="1390650" cy="2852615"/>
          </a:xfrm>
        </p:grpSpPr>
        <p:pic>
          <p:nvPicPr>
            <p:cNvPr id="14" name="Image 14"/>
            <p:cNvPicPr>
              <a:picLocks noChangeAspect="1"/>
            </p:cNvPicPr>
            <p:nvPr/>
          </p:nvPicPr>
          <p:blipFill>
            <a:blip r:embed="rId4"/>
            <a:stretch>
              <a:fillRect/>
            </a:stretch>
          </p:blipFill>
          <p:spPr>
            <a:xfrm>
              <a:off x="8629650" y="2021742"/>
              <a:ext cx="1390650" cy="2852615"/>
            </a:xfrm>
            <a:prstGeom prst="rect">
              <a:avLst/>
            </a:prstGeom>
          </p:spPr>
        </p:pic>
      </p:grpSp>
      <p:grpSp>
        <p:nvGrpSpPr>
          <p:cNvPr id="17" name="before-after-caption"/>
          <p:cNvGrpSpPr/>
          <p:nvPr/>
        </p:nvGrpSpPr>
        <p:grpSpPr>
          <a:xfrm>
            <a:off x="6660642" y="5568950"/>
            <a:ext cx="2920034" cy="473583"/>
            <a:chOff x="6660642" y="5568950"/>
            <a:chExt cx="2920034" cy="473583"/>
          </a:xfrm>
        </p:grpSpPr>
        <p:sp>
          <p:nvSpPr>
            <p:cNvPr id="16" name="TextBox 16"/>
            <p:cNvSpPr txBox="1"/>
            <p:nvPr/>
          </p:nvSpPr>
          <p:spPr>
            <a:xfrm>
              <a:off x="6660642" y="5568950"/>
              <a:ext cx="2920034" cy="473583"/>
            </a:xfrm>
            <a:prstGeom prst="rect">
              <a:avLst/>
            </a:prstGeom>
            <a:noFill/>
            <a:ln>
              <a:noFill/>
            </a:ln>
          </p:spPr>
          <p:txBody>
            <a:bodyPr wrap="none" lIns="0" tIns="0" rIns="0" bIns="0" anchor="t" anchorCtr="0">
              <a:spAutoFit/>
            </a:bodyPr>
            <a:lstStyle/>
            <a:p>
              <a:pPr algn="l">
                <a:lnSpc>
                  <a:spcPts val="1650"/>
                </a:lnSpc>
              </a:pPr>
              <a:r>
                <a:rPr lang="vi" sz="1350" b="1" dirty="0">
                  <a:solidFill>
                    <a:schemeClr val="accent6"/>
                  </a:solidFill>
                  <a:latin typeface="+mn-lt"/>
                  <a:ea typeface="+mn-ea"/>
                  <a:cs typeface="+mn-cs"/>
                </a:rPr>
                <a:t>Trái, trước:</a:t>
              </a:r>
              <a:r>
                <a:rPr lang="vi" sz="1350" dirty="0">
                  <a:solidFill>
                    <a:schemeClr val="accent6"/>
                  </a:solidFill>
                  <a:latin typeface="+mn-lt"/>
                  <a:ea typeface="+mn-ea"/>
                  <a:cs typeface="+mn-cs"/>
                </a:rPr>
                <a:t> Stitch First, Sign in</a:t>
              </a:r>
              <a:br>
                <a:rPr lang="vi" sz="1350" dirty="0">
                  <a:solidFill>
                    <a:schemeClr val="accent6"/>
                  </a:solidFill>
                  <a:latin typeface="+mn-lt"/>
                  <a:ea typeface="+mn-ea"/>
                  <a:cs typeface="+mn-cs"/>
                </a:rPr>
              </a:br>
              <a:r>
                <a:rPr lang="vi" sz="1350" b="1" dirty="0">
                  <a:solidFill>
                    <a:schemeClr val="accent6"/>
                  </a:solidFill>
                  <a:latin typeface="+mn-lt"/>
                  <a:ea typeface="+mn-ea"/>
                  <a:cs typeface="+mn-cs"/>
                </a:rPr>
                <a:t>Phải, sau:</a:t>
              </a:r>
              <a:r>
                <a:rPr lang="vi" sz="1350" dirty="0">
                  <a:solidFill>
                    <a:schemeClr val="accent6"/>
                  </a:solidFill>
                  <a:latin typeface="+mn-lt"/>
                  <a:ea typeface="+mn-ea"/>
                  <a:cs typeface="+mn-cs"/>
                </a:rPr>
                <a:t> Stitch Final, Sign in mentor</a:t>
              </a:r>
            </a:p>
          </p:txBody>
        </p:sp>
      </p:grpSp>
      <p:grpSp>
        <p:nvGrpSpPr>
          <p:cNvPr id="19" name="title-accent"/>
          <p:cNvGrpSpPr/>
          <p:nvPr/>
        </p:nvGrpSpPr>
        <p:grpSpPr>
          <a:xfrm>
            <a:off x="762000" y="895350"/>
            <a:ext cx="914400" cy="38100"/>
            <a:chOff x="762000" y="895350"/>
            <a:chExt cx="914400" cy="38100"/>
          </a:xfrm>
        </p:grpSpPr>
        <p:sp>
          <p:nvSpPr>
            <p:cNvPr id="18" name="Rectangle 18"/>
            <p:cNvSpPr/>
            <p:nvPr/>
          </p:nvSpPr>
          <p:spPr>
            <a:xfrm>
              <a:off x="762000" y="895350"/>
              <a:ext cx="914400" cy="38100"/>
            </a:xfrm>
            <a:prstGeom prst="rect">
              <a:avLst/>
            </a:prstGeom>
            <a:solidFill>
              <a:srgbClr val="1A56C8"/>
            </a:solidFill>
            <a:ln>
              <a:noFill/>
            </a:ln>
          </p:spPr>
          <p:txBody>
            <a:bodyPr/>
            <a:p/>
          </p:txBody>
        </p:sp>
      </p:grpSp>
      <p:grpSp>
        <p:nvGrpSpPr>
          <p:cNvPr id="21" name="source-note"/>
          <p:cNvGrpSpPr/>
          <p:nvPr/>
        </p:nvGrpSpPr>
        <p:grpSpPr>
          <a:xfrm>
            <a:off x="755142" y="6140450"/>
            <a:ext cx="7647692" cy="264033"/>
            <a:chOff x="755142" y="6140450"/>
            <a:chExt cx="7647692" cy="264033"/>
          </a:xfrm>
        </p:grpSpPr>
        <p:sp>
          <p:nvSpPr>
            <p:cNvPr id="20" name="TextBox 20"/>
            <p:cNvSpPr txBox="1"/>
            <p:nvPr/>
          </p:nvSpPr>
          <p:spPr>
            <a:xfrm>
              <a:off x="755142" y="6140450"/>
              <a:ext cx="7647692"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Nguồn: ai/ai-design-log.md mục 7; ai-critique-1.md, ai-critique-2.md; assets/stitch/First và Final</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age-title-slot Placeholder Carrier"/>
          <p:cNvSpPr txBox="1">
            <a:spLocks noGrp="1"/>
          </p:cNvSpPr>
          <p:nvPr>
            <p:ph type="title"/>
          </p:nvPr>
        </p:nvSpPr>
        <p:spPr>
          <a:xfrm>
            <a:off x="745998" y="406400"/>
            <a:ext cx="3862323"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Quyết định thiết kế</a:t>
            </a:r>
          </a:p>
        </p:txBody>
      </p:sp>
      <p:sp>
        <p:nvSpPr>
          <p:cNvPr id="8" name="content-slot Placeholder Carrier"/>
          <p:cNvSpPr txBox="1">
            <a:spLocks noGrp="1"/>
          </p:cNvSpPr>
          <p:nvPr>
            <p:ph type="body" idx="1"/>
          </p:nvPr>
        </p:nvSpPr>
        <p:spPr>
          <a:xfrm>
            <a:off x="752856" y="1422400"/>
            <a:ext cx="9900000" cy="4200000"/>
          </a:xfrm>
          <a:prstGeom prst="rect">
            <a:avLst/>
          </a:prstGeom>
          <a:noFill/>
          <a:ln>
            <a:noFill/>
          </a:ln>
        </p:spPr>
        <p:txBody>
          <a:bodyPr wrap="square" lIns="0" tIns="0" rIns="0" bIns="0" anchor="t" anchorCtr="0">
            <a:noAutofit/>
          </a:bodyPr>
          <a:lstStyle/>
          <a:p>
            <a:pPr marL="0" indent="0" algn="l">
              <a:lnSpc>
                <a:spcPts val="3240"/>
              </a:lnSpc>
              <a:buNone/>
            </a:pPr>
            <a:r>
              <a:rPr lang="vi" sz="2400" dirty="0" b="1">
                <a:solidFill>
                  <a:srgbClr val="1A56C8"/>
                </a:solidFill>
                <a:latin typeface="+mn-lt"/>
                <a:ea typeface="+mn-ea"/>
                <a:cs typeface="+mn-cs"/>
              </a:rPr>
              <a:t>Giữ: </a:t>
            </a:r>
            <a:r>
              <a:rPr lang="vi" sz="2400" dirty="0">
                <a:solidFill>
                  <a:srgbClr val="1C1B18"/>
                </a:solidFill>
                <a:latin typeface="+mn-lt"/>
                <a:ea typeface="+mn-ea"/>
                <a:cs typeface="+mn-cs"/>
              </a:rPr>
              <a:t>AI chỉ đề xuất, mentor duyệt</a:t>
            </a:r>
          </a:p>
          <a:p>
            <a:pPr marL="0" indent="0" algn="l">
              <a:lnSpc>
                <a:spcPts val="3240"/>
              </a:lnSpc>
              <a:spcBef>
                <a:spcPts val="1800"/>
              </a:spcBef>
              <a:buNone/>
            </a:pPr>
            <a:r>
              <a:rPr lang="vi" sz="2400" dirty="0" b="1">
                <a:solidFill>
                  <a:srgbClr val="1A56C8"/>
                </a:solidFill>
                <a:latin typeface="+mn-lt"/>
                <a:ea typeface="+mn-ea"/>
                <a:cs typeface="+mn-cs"/>
              </a:rPr>
              <a:t>Sửa: </a:t>
            </a:r>
            <a:r>
              <a:rPr lang="vi" sz="2400" dirty="0">
                <a:solidFill>
                  <a:srgbClr val="1C1B18"/>
                </a:solidFill>
                <a:latin typeface="+mn-lt"/>
                <a:ea typeface="+mn-ea"/>
                <a:cs typeface="+mn-cs"/>
              </a:rPr>
              <a:t>bỏ chú thích đè chữ ở 360 dp</a:t>
            </a:r>
          </a:p>
          <a:p>
            <a:pPr marL="0" indent="0" algn="l">
              <a:lnSpc>
                <a:spcPts val="3240"/>
              </a:lnSpc>
              <a:spcBef>
                <a:spcPts val="1800"/>
              </a:spcBef>
              <a:buNone/>
            </a:pPr>
            <a:r>
              <a:rPr lang="vi" sz="2400" dirty="0" b="1">
                <a:solidFill>
                  <a:srgbClr val="1A56C8"/>
                </a:solidFill>
                <a:latin typeface="+mn-lt"/>
                <a:ea typeface="+mn-ea"/>
                <a:cs typeface="+mn-cs"/>
              </a:rPr>
              <a:t>Từ chối: </a:t>
            </a:r>
            <a:r>
              <a:rPr lang="vi" sz="2400" dirty="0">
                <a:solidFill>
                  <a:srgbClr val="1C1B18"/>
                </a:solidFill>
                <a:latin typeface="+mn-lt"/>
                <a:ea typeface="+mn-ea"/>
                <a:cs typeface="+mn-cs"/>
              </a:rPr>
              <a:t>cam FPT #F37021 cho nút (chữ trắng chỉ 2.9:1)</a:t>
            </a:r>
          </a:p>
          <a:p>
            <a:pPr marL="0" indent="0" algn="l">
              <a:lnSpc>
                <a:spcPts val="3240"/>
              </a:lnSpc>
              <a:spcBef>
                <a:spcPts val="1800"/>
              </a:spcBef>
              <a:buNone/>
            </a:pPr>
            <a:r>
              <a:rPr lang="vi" sz="2400" dirty="0" b="1">
                <a:solidFill>
                  <a:srgbClr val="1A56C8"/>
                </a:solidFill>
                <a:latin typeface="+mn-lt"/>
                <a:ea typeface="+mn-ea"/>
                <a:cs typeface="+mn-cs"/>
              </a:rPr>
              <a:t>Từ chối: </a:t>
            </a:r>
            <a:r>
              <a:rPr lang="vi" sz="2400" dirty="0">
                <a:solidFill>
                  <a:srgbClr val="1C1B18"/>
                </a:solidFill>
                <a:latin typeface="+mn-lt"/>
                <a:ea typeface="+mn-ea"/>
                <a:cs typeface="+mn-cs"/>
              </a:rPr>
              <a:t>tông xanh dương, trường MSSV, email edu</a:t>
            </a:r>
          </a:p>
          <a:p>
            <a:pPr marL="0" indent="0" algn="l">
              <a:lnSpc>
                <a:spcPts val="3240"/>
              </a:lnSpc>
              <a:spcBef>
                <a:spcPts val="1800"/>
              </a:spcBef>
              <a:buNone/>
            </a:pPr>
            <a:r>
              <a:rPr lang="vi" sz="2400" dirty="0" b="1">
                <a:solidFill>
                  <a:srgbClr val="1A56C8"/>
                </a:solidFill>
                <a:latin typeface="+mn-lt"/>
                <a:ea typeface="+mn-ea"/>
                <a:cs typeface="+mn-cs"/>
              </a:rPr>
              <a:t>Thêm (14/10): </a:t>
            </a:r>
            <a:r>
              <a:rPr lang="vi" sz="2400" dirty="0">
                <a:solidFill>
                  <a:srgbClr val="1C1B18"/>
                </a:solidFill>
                <a:latin typeface="+mn-lt"/>
                <a:ea typeface="+mn-ea"/>
                <a:cs typeface="+mn-cs"/>
              </a:rPr>
              <a:t>nhập lớp, bỏ thành viên, chặn duyệt khi dưới 5 người (S22-S25)</a:t>
            </a:r>
          </a:p>
        </p:txBody>
      </p:sp>
      <p:grpSp>
        <p:nvGrpSpPr>
          <p:cNvPr id="10" name="title-accent"/>
          <p:cNvGrpSpPr/>
          <p:nvPr/>
        </p:nvGrpSpPr>
        <p:grpSpPr>
          <a:xfrm>
            <a:off x="762000" y="895350"/>
            <a:ext cx="914400" cy="38100"/>
            <a:chOff x="762000" y="895350"/>
            <a:chExt cx="914400" cy="38100"/>
          </a:xfrm>
        </p:grpSpPr>
        <p:sp>
          <p:nvSpPr>
            <p:cNvPr id="9" name="Rectangle 9"/>
            <p:cNvSpPr/>
            <p:nvPr/>
          </p:nvSpPr>
          <p:spPr>
            <a:xfrm>
              <a:off x="762000" y="895350"/>
              <a:ext cx="914400" cy="38100"/>
            </a:xfrm>
            <a:prstGeom prst="rect">
              <a:avLst/>
            </a:prstGeom>
            <a:solidFill>
              <a:srgbClr val="1A56C8"/>
            </a:solidFill>
            <a:ln>
              <a:noFill/>
            </a:ln>
          </p:spPr>
          <p:txBody>
            <a:bodyPr/>
            <a:lstStyle/>
            <a:p>
              <a:endParaRPr/>
            </a:p>
          </p:txBody>
        </p:sp>
      </p:grpSp>
      <p:grpSp>
        <p:nvGrpSpPr>
          <p:cNvPr id="12" name="source-note"/>
          <p:cNvGrpSpPr/>
          <p:nvPr/>
        </p:nvGrpSpPr>
        <p:grpSpPr>
          <a:xfrm>
            <a:off x="755142" y="6121400"/>
            <a:ext cx="5081210" cy="264033"/>
            <a:chOff x="755142" y="6121400"/>
            <a:chExt cx="5081210" cy="264033"/>
          </a:xfrm>
        </p:grpSpPr>
        <p:sp>
          <p:nvSpPr>
            <p:cNvPr id="11" name="TextBox 11"/>
            <p:cNvSpPr txBox="1"/>
            <p:nvPr/>
          </p:nvSpPr>
          <p:spPr>
            <a:xfrm>
              <a:off x="755142" y="6121400"/>
              <a:ext cx="5081210"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Nguồn: design/design-decisions.md; ai/ai-design-log.md mục 6</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page-title-slot Placeholder Carrier"/>
          <p:cNvSpPr txBox="1">
            <a:spLocks noGrp="1"/>
          </p:cNvSpPr>
          <p:nvPr>
            <p:ph type="title"/>
          </p:nvPr>
        </p:nvSpPr>
        <p:spPr>
          <a:xfrm>
            <a:off x="745998" y="406400"/>
            <a:ext cx="4398870"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Wireframe và Final UI</a:t>
            </a:r>
          </a:p>
        </p:txBody>
      </p:sp>
      <p:sp>
        <p:nvSpPr>
          <p:cNvPr id="12" name="content-slot Placeholder Carrier"/>
          <p:cNvSpPr txBox="1">
            <a:spLocks noGrp="1"/>
          </p:cNvSpPr>
          <p:nvPr>
            <p:ph type="body" idx="1"/>
          </p:nvPr>
        </p:nvSpPr>
        <p:spPr>
          <a:xfrm>
            <a:off x="752856" y="1422400"/>
            <a:ext cx="5600000" cy="4000000"/>
          </a:xfrm>
          <a:prstGeom prst="rect">
            <a:avLst/>
          </a:prstGeom>
          <a:noFill/>
          <a:ln>
            <a:noFill/>
          </a:ln>
        </p:spPr>
        <p:txBody>
          <a:bodyPr wrap="square" lIns="0" tIns="0" rIns="0" bIns="0" anchor="t" anchorCtr="0">
            <a:noAutofit/>
          </a:bodyPr>
          <a:lstStyle/>
          <a:p>
            <a:pPr marL="0" indent="0" algn="l">
              <a:lnSpc>
                <a:spcPts val="2700"/>
              </a:lnSpc>
              <a:buNone/>
            </a:pPr>
            <a:r>
              <a:rPr lang="vi" sz="2000" dirty="0">
                <a:solidFill>
                  <a:srgbClr val="1C1B18"/>
                </a:solidFill>
                <a:latin typeface="+mn-lt"/>
                <a:ea typeface="+mn-ea"/>
                <a:cs typeface="+mn-cs"/>
              </a:rPr>
              <a:t>Wireframe (Page 02) → Final UI (Page 03): 25 màn, 360×800</a:t>
            </a:r>
          </a:p>
          <a:p>
            <a:pPr marL="0" indent="0" algn="l">
              <a:lnSpc>
                <a:spcPts val="2700"/>
              </a:lnSpc>
              <a:spcBef>
                <a:spcPts val="1600"/>
              </a:spcBef>
              <a:buNone/>
            </a:pPr>
            <a:r>
              <a:rPr lang="vi" sz="2000" dirty="0">
                <a:solidFill>
                  <a:srgbClr val="1C1B18"/>
                </a:solidFill>
                <a:latin typeface="+mn-lt"/>
                <a:ea typeface="+mn-ea"/>
                <a:cs typeface="+mn-cs"/>
              </a:rPr>
              <a:t>Một nút chính mỗi màn</a:t>
            </a:r>
          </a:p>
          <a:p>
            <a:pPr marL="0" indent="0" algn="l">
              <a:lnSpc>
                <a:spcPts val="2700"/>
              </a:lnSpc>
              <a:spcBef>
                <a:spcPts val="1600"/>
              </a:spcBef>
              <a:buNone/>
            </a:pPr>
            <a:r>
              <a:rPr lang="vi" sz="2000" dirty="0">
                <a:solidFill>
                  <a:srgbClr val="1C1B18"/>
                </a:solidFill>
                <a:latin typeface="+mn-lt"/>
                <a:ea typeface="+mn-ea"/>
                <a:cs typeface="+mn-cs"/>
              </a:rPr>
              <a:t>Hàng ngành 40/48 dp làm điểm nhấn</a:t>
            </a:r>
          </a:p>
          <a:p>
            <a:pPr marL="0" indent="0" algn="l">
              <a:lnSpc>
                <a:spcPts val="2700"/>
              </a:lnSpc>
              <a:spcBef>
                <a:spcPts val="1600"/>
              </a:spcBef>
              <a:buNone/>
            </a:pPr>
            <a:r>
              <a:rPr lang="vi" sz="2000" dirty="0" b="1">
                <a:solidFill>
                  <a:srgbClr val="1A56C8"/>
                </a:solidFill>
                <a:latin typeface="+mn-lt"/>
                <a:ea typeface="+mn-ea"/>
                <a:cs typeface="+mn-cs"/>
              </a:rPr>
              <a:t>Trạng thái: </a:t>
            </a:r>
            <a:r>
              <a:rPr lang="vi" sz="2000" dirty="0">
                <a:solidFill>
                  <a:srgbClr val="1C1B18"/>
                </a:solidFill>
                <a:latin typeface="+mn-lt"/>
                <a:ea typeface="+mn-ea"/>
                <a:cs typeface="+mn-cs"/>
              </a:rPr>
              <a:t>loading S8, rỗng S14, lỗi S13/S18, dialog S12/S17/S24</a:t>
            </a:r>
          </a:p>
        </p:txBody>
      </p:sp>
      <p:pic>
        <p:nvPicPr>
          <p:cNvPr id="13" name="picture-slot Placeholder Carrier"/>
          <p:cNvPicPr>
            <a:picLocks noGrp="1" noChangeAspect="1"/>
          </p:cNvPicPr>
          <p:nvPr>
            <p:ph type="pic" idx="2"/>
          </p:nvPr>
        </p:nvPicPr>
        <p:blipFill>
          <a:blip r:embed="rId3"/>
          <a:stretch>
            <a:fillRect/>
          </a:stretch>
        </p:blipFill>
        <p:spPr>
          <a:xfrm>
            <a:off x="7124700" y="2021742"/>
            <a:ext cx="1390650" cy="2852615"/>
          </a:xfrm>
          <a:prstGeom prst="rect">
            <a:avLst/>
          </a:prstGeom>
        </p:spPr>
      </p:pic>
      <p:grpSp>
        <p:nvGrpSpPr>
          <p:cNvPr id="17" name="state-caption"/>
          <p:cNvGrpSpPr/>
          <p:nvPr/>
        </p:nvGrpSpPr>
        <p:grpSpPr>
          <a:xfrm>
            <a:off x="6660642" y="5568950"/>
            <a:ext cx="2748241" cy="473583"/>
            <a:chOff x="6660642" y="5568950"/>
            <a:chExt cx="2748241" cy="473583"/>
          </a:xfrm>
        </p:grpSpPr>
        <p:sp>
          <p:nvSpPr>
            <p:cNvPr id="16" name="TextBox 16"/>
            <p:cNvSpPr txBox="1"/>
            <p:nvPr/>
          </p:nvSpPr>
          <p:spPr>
            <a:xfrm>
              <a:off x="6660642" y="5568950"/>
              <a:ext cx="2748241" cy="473583"/>
            </a:xfrm>
            <a:prstGeom prst="rect">
              <a:avLst/>
            </a:prstGeom>
            <a:noFill/>
            <a:ln>
              <a:noFill/>
            </a:ln>
          </p:spPr>
          <p:txBody>
            <a:bodyPr wrap="none" lIns="0" tIns="0" rIns="0" bIns="0" anchor="t" anchorCtr="0">
              <a:spAutoFit/>
            </a:bodyPr>
            <a:lstStyle/>
            <a:p>
              <a:pPr algn="l">
                <a:lnSpc>
                  <a:spcPts val="1650"/>
                </a:lnSpc>
              </a:pPr>
              <a:r>
                <a:rPr lang="vi" sz="1350" b="1" dirty="0">
                  <a:solidFill>
                    <a:schemeClr val="accent6"/>
                  </a:solidFill>
                  <a:latin typeface="+mn-lt"/>
                  <a:ea typeface="+mn-ea"/>
                  <a:cs typeface="+mn-cs"/>
                </a:rPr>
                <a:t>Figma, S10 Proposal detail:</a:t>
              </a:r>
              <a:r>
                <a:rPr lang="vi" sz="1350" dirty="0">
                  <a:solidFill>
                    <a:schemeClr val="accent6"/>
                  </a:solidFill>
                  <a:latin typeface="+mn-lt"/>
                  <a:ea typeface="+mn-ea"/>
                  <a:cs typeface="+mn-cs"/>
                </a:rPr>
                <a:t> wireframe W10 (trái)</a:t>
              </a:r>
              <a:br>
                <a:rPr lang="vi" sz="1350" dirty="0">
                  <a:solidFill>
                    <a:schemeClr val="accent6"/>
                  </a:solidFill>
                  <a:latin typeface="+mn-lt"/>
                  <a:ea typeface="+mn-ea"/>
                  <a:cs typeface="+mn-cs"/>
                </a:rPr>
              </a:br>
              <a:r>
                <a:rPr lang="vi" sz="1350" dirty="0">
                  <a:solidFill>
                    <a:schemeClr val="accent6"/>
                  </a:solidFill>
                  <a:latin typeface="+mn-lt"/>
                  <a:ea typeface="+mn-ea"/>
                  <a:cs typeface="+mn-cs"/>
                </a:rPr>
                <a:t>và Final UI (phải)</a:t>
              </a:r>
            </a:p>
          </p:txBody>
        </p:sp>
      </p:grpSp>
      <p:grpSp>
        <p:nvGrpSpPr>
          <p:cNvPr id="19" name="title-accent"/>
          <p:cNvGrpSpPr/>
          <p:nvPr/>
        </p:nvGrpSpPr>
        <p:grpSpPr>
          <a:xfrm>
            <a:off x="762000" y="895350"/>
            <a:ext cx="914400" cy="38100"/>
            <a:chOff x="762000" y="895350"/>
            <a:chExt cx="914400" cy="38100"/>
          </a:xfrm>
        </p:grpSpPr>
        <p:sp>
          <p:nvSpPr>
            <p:cNvPr id="18" name="Rectangle 18"/>
            <p:cNvSpPr/>
            <p:nvPr/>
          </p:nvSpPr>
          <p:spPr>
            <a:xfrm>
              <a:off x="762000" y="895350"/>
              <a:ext cx="914400" cy="38100"/>
            </a:xfrm>
            <a:prstGeom prst="rect">
              <a:avLst/>
            </a:prstGeom>
            <a:solidFill>
              <a:srgbClr val="1A56C8"/>
            </a:solidFill>
            <a:ln>
              <a:noFill/>
            </a:ln>
          </p:spPr>
          <p:txBody>
            <a:bodyPr/>
            <a:lstStyle/>
            <a:p>
              <a:endParaRPr/>
            </a:p>
          </p:txBody>
        </p:sp>
      </p:grpSp>
      <p:grpSp>
        <p:nvGrpSpPr>
          <p:cNvPr id="21" name="source-note"/>
          <p:cNvGrpSpPr/>
          <p:nvPr/>
        </p:nvGrpSpPr>
        <p:grpSpPr>
          <a:xfrm>
            <a:off x="755142" y="6140450"/>
            <a:ext cx="4209437" cy="264033"/>
            <a:chOff x="755142" y="6140450"/>
            <a:chExt cx="4209437" cy="264033"/>
          </a:xfrm>
        </p:grpSpPr>
        <p:sp>
          <p:nvSpPr>
            <p:cNvPr id="20" name="TextBox 20"/>
            <p:cNvSpPr txBox="1"/>
            <p:nvPr/>
          </p:nvSpPr>
          <p:spPr>
            <a:xfrm>
              <a:off x="755142" y="6140450"/>
              <a:ext cx="4209437"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Figma Page 02 và 03: ảnh chụp từ file Figma</a:t>
              </a:r>
            </a:p>
          </p:txBody>
        </p:sp>
      </p:grpSp>
      <p:pic>
        <p:nvPicPr>
          <p:cNvPr id="22" name="Picture 21" descr="wf.png"/>
          <p:cNvPicPr>
            <a:picLocks noChangeAspect="1"/>
          </p:cNvPicPr>
          <p:nvPr/>
        </p:nvPicPr>
        <p:blipFill>
          <a:blip r:embed="rId5"/>
          <a:stretch>
            <a:fillRect/>
          </a:stretch>
        </p:blipFill>
        <p:spPr>
          <a:xfrm>
            <a:off x="7146302" y="1874519"/>
            <a:ext cx="2852395" cy="308367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page-title-slot Placeholder Carrier"/>
          <p:cNvSpPr txBox="1">
            <a:spLocks noGrp="1"/>
          </p:cNvSpPr>
          <p:nvPr>
            <p:ph type="title"/>
          </p:nvPr>
        </p:nvSpPr>
        <p:spPr>
          <a:xfrm>
            <a:off x="745998" y="406400"/>
            <a:ext cx="3100976"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Design System</a:t>
            </a:r>
          </a:p>
        </p:txBody>
      </p:sp>
      <p:sp>
        <p:nvSpPr>
          <p:cNvPr id="12" name="content-slot Placeholder Carrier"/>
          <p:cNvSpPr txBox="1">
            <a:spLocks noGrp="1"/>
          </p:cNvSpPr>
          <p:nvPr>
            <p:ph type="body" idx="1"/>
          </p:nvPr>
        </p:nvSpPr>
        <p:spPr>
          <a:xfrm>
            <a:off x="752856" y="1352550"/>
            <a:ext cx="5600000" cy="4400000"/>
          </a:xfrm>
          <a:prstGeom prst="rect">
            <a:avLst/>
          </a:prstGeom>
          <a:noFill/>
          <a:ln>
            <a:noFill/>
          </a:ln>
        </p:spPr>
        <p:txBody>
          <a:bodyPr wrap="square" lIns="0" tIns="0" rIns="0" bIns="0" anchor="t" anchorCtr="0">
            <a:noAutofit/>
          </a:bodyPr>
          <a:lstStyle/>
          <a:p>
            <a:pPr marL="0" indent="0" algn="l">
              <a:lnSpc>
                <a:spcPts val="2700"/>
              </a:lnSpc>
              <a:buNone/>
            </a:pPr>
            <a:r>
              <a:rPr lang="vi" sz="2000" dirty="0" b="1">
                <a:solidFill>
                  <a:srgbClr val="1A56C8"/>
                </a:solidFill>
                <a:latin typeface="+mn-lt"/>
                <a:ea typeface="+mn-ea"/>
                <a:cs typeface="+mn-cs"/>
              </a:rPr>
              <a:t>Màu: </a:t>
            </a:r>
            <a:r>
              <a:rPr lang="vi" sz="2000" dirty="0">
                <a:solidFill>
                  <a:srgbClr val="1C1B18"/>
                </a:solidFill>
                <a:latin typeface="+mn-lt"/>
                <a:ea typeface="+mn-ea"/>
                <a:cs typeface="+mn-cs"/>
              </a:rPr>
              <a:t>chủ đạo #B23E00, thành công #1B6B3C, lỗi #B3261E</a:t>
            </a:r>
          </a:p>
          <a:p>
            <a:pPr marL="0" indent="0" algn="l">
              <a:lnSpc>
                <a:spcPts val="2700"/>
              </a:lnSpc>
              <a:spcBef>
                <a:spcPts val="1600"/>
              </a:spcBef>
              <a:buNone/>
            </a:pPr>
            <a:r>
              <a:rPr lang="vi" sz="2000" dirty="0" b="1">
                <a:solidFill>
                  <a:srgbClr val="1A56C8"/>
                </a:solidFill>
                <a:latin typeface="+mn-lt"/>
                <a:ea typeface="+mn-ea"/>
                <a:cs typeface="+mn-cs"/>
              </a:rPr>
              <a:t>Chữ: </a:t>
            </a:r>
            <a:r>
              <a:rPr lang="vi" sz="2000" dirty="0">
                <a:solidFill>
                  <a:srgbClr val="1C1B18"/>
                </a:solidFill>
                <a:latin typeface="+mn-lt"/>
                <a:ea typeface="+mn-ea"/>
                <a:cs typeface="+mn-cs"/>
              </a:rPr>
              <a:t>Be Vietnam Pro, 6 style (14-24 sp)</a:t>
            </a:r>
          </a:p>
          <a:p>
            <a:pPr marL="0" indent="0" algn="l">
              <a:lnSpc>
                <a:spcPts val="2700"/>
              </a:lnSpc>
              <a:spcBef>
                <a:spcPts val="1600"/>
              </a:spcBef>
              <a:buNone/>
            </a:pPr>
            <a:r>
              <a:rPr lang="vi" sz="2000" dirty="0" b="1">
                <a:solidFill>
                  <a:srgbClr val="1A56C8"/>
                </a:solidFill>
                <a:latin typeface="+mn-lt"/>
                <a:ea typeface="+mn-ea"/>
                <a:cs typeface="+mn-cs"/>
              </a:rPr>
              <a:t>Spacing: </a:t>
            </a:r>
            <a:r>
              <a:rPr lang="vi" sz="2000" dirty="0">
                <a:solidFill>
                  <a:srgbClr val="1C1B18"/>
                </a:solidFill>
                <a:latin typeface="+mn-lt"/>
                <a:ea typeface="+mn-ea"/>
                <a:cs typeface="+mn-cs"/>
              </a:rPr>
              <a:t>4/8/16/24/32; radius 8/12/16/full</a:t>
            </a:r>
          </a:p>
          <a:p>
            <a:pPr marL="0" indent="0" algn="l">
              <a:lnSpc>
                <a:spcPts val="2700"/>
              </a:lnSpc>
              <a:spcBef>
                <a:spcPts val="1600"/>
              </a:spcBef>
              <a:buNone/>
            </a:pPr>
            <a:r>
              <a:rPr lang="vi" sz="2000" dirty="0" b="1">
                <a:solidFill>
                  <a:srgbClr val="1A56C8"/>
                </a:solidFill>
                <a:latin typeface="+mn-lt"/>
                <a:ea typeface="+mn-ea"/>
                <a:cs typeface="+mn-cs"/>
              </a:rPr>
              <a:t>Component: </a:t>
            </a:r>
            <a:r>
              <a:rPr lang="vi" sz="2000" dirty="0">
                <a:solidFill>
                  <a:srgbClr val="1C1B18"/>
                </a:solidFill>
                <a:latin typeface="+mn-lt"/>
                <a:ea typeface="+mn-ea"/>
                <a:cs typeface="+mn-cs"/>
              </a:rPr>
              <a:t>14 bộ có variant và state</a:t>
            </a:r>
          </a:p>
          <a:p>
            <a:pPr marL="0" indent="0" algn="l">
              <a:lnSpc>
                <a:spcPts val="2700"/>
              </a:lnSpc>
              <a:spcBef>
                <a:spcPts val="1600"/>
              </a:spcBef>
              <a:buNone/>
            </a:pPr>
            <a:r>
              <a:rPr lang="vi" sz="2000" dirty="0" b="1">
                <a:solidFill>
                  <a:srgbClr val="1A56C8"/>
                </a:solidFill>
                <a:latin typeface="+mn-lt"/>
                <a:ea typeface="+mn-ea"/>
                <a:cs typeface="+mn-cs"/>
              </a:rPr>
              <a:t>Variables: </a:t>
            </a:r>
            <a:r>
              <a:rPr lang="vi" sz="2000" dirty="0">
                <a:solidFill>
                  <a:srgbClr val="1C1B18"/>
                </a:solidFill>
                <a:latin typeface="+mn-lt"/>
                <a:ea typeface="+mn-ea"/>
                <a:cs typeface="+mn-cs"/>
              </a:rPr>
              <a:t>màu gắn biến ở cả 25 màn</a:t>
            </a:r>
          </a:p>
        </p:txBody>
      </p:sp>
      <p:pic>
        <p:nvPicPr>
          <p:cNvPr id="13" name="picture-slot Placeholder Carrier"/>
          <p:cNvPicPr>
            <a:picLocks noGrp="1" noChangeAspect="1"/>
          </p:cNvPicPr>
          <p:nvPr>
            <p:ph type="pic" idx="2"/>
          </p:nvPr>
        </p:nvPicPr>
        <p:blipFill>
          <a:blip r:embed="rId3"/>
          <a:stretch>
            <a:fillRect/>
          </a:stretch>
        </p:blipFill>
        <p:spPr>
          <a:xfrm>
            <a:off x="7086600" y="1943100"/>
            <a:ext cx="2971800" cy="2971800"/>
          </a:xfrm>
          <a:prstGeom prst="rect">
            <a:avLst/>
          </a:prstGeom>
        </p:spPr>
      </p:pic>
      <p:grpSp>
        <p:nvGrpSpPr>
          <p:cNvPr id="17" name="title-accent"/>
          <p:cNvGrpSpPr/>
          <p:nvPr/>
        </p:nvGrpSpPr>
        <p:grpSpPr>
          <a:xfrm>
            <a:off x="762000" y="895350"/>
            <a:ext cx="914400" cy="38100"/>
            <a:chOff x="762000" y="895350"/>
            <a:chExt cx="914400" cy="38100"/>
          </a:xfrm>
        </p:grpSpPr>
        <p:sp>
          <p:nvSpPr>
            <p:cNvPr id="16" name="Rectangle 16"/>
            <p:cNvSpPr/>
            <p:nvPr/>
          </p:nvSpPr>
          <p:spPr>
            <a:xfrm>
              <a:off x="762000" y="895350"/>
              <a:ext cx="914400" cy="38100"/>
            </a:xfrm>
            <a:prstGeom prst="rect">
              <a:avLst/>
            </a:prstGeom>
            <a:solidFill>
              <a:srgbClr val="1A56C8"/>
            </a:solidFill>
            <a:ln>
              <a:noFill/>
            </a:ln>
          </p:spPr>
          <p:txBody>
            <a:bodyPr/>
            <a:lstStyle/>
            <a:p>
              <a:endParaRPr/>
            </a:p>
          </p:txBody>
        </p:sp>
      </p:grpSp>
      <p:grpSp>
        <p:nvGrpSpPr>
          <p:cNvPr id="19" name="source-note"/>
          <p:cNvGrpSpPr/>
          <p:nvPr/>
        </p:nvGrpSpPr>
        <p:grpSpPr>
          <a:xfrm>
            <a:off x="755142" y="6140450"/>
            <a:ext cx="4133460" cy="264033"/>
            <a:chOff x="755142" y="6140450"/>
            <a:chExt cx="4133460" cy="264033"/>
          </a:xfrm>
        </p:grpSpPr>
        <p:sp>
          <p:nvSpPr>
            <p:cNvPr id="18" name="TextBox 18"/>
            <p:cNvSpPr txBox="1"/>
            <p:nvPr/>
          </p:nvSpPr>
          <p:spPr>
            <a:xfrm>
              <a:off x="755142" y="6140450"/>
              <a:ext cx="4133460"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Nguồn: design/DESIGN.md; Figma Page 04 và 05</a:t>
              </a:r>
            </a:p>
          </p:txBody>
        </p:sp>
      </p:grpSp>
      <p:pic>
        <p:nvPicPr>
          <p:cNvPr id="20" name="Picture 19" descr="ds.png"/>
          <p:cNvPicPr>
            <a:picLocks noChangeAspect="1"/>
          </p:cNvPicPr>
          <p:nvPr/>
        </p:nvPicPr>
        <p:blipFill>
          <a:blip r:embed="rId4"/>
          <a:stretch>
            <a:fillRect/>
          </a:stretch>
        </p:blipFill>
        <p:spPr>
          <a:xfrm>
            <a:off x="6967728" y="2307771"/>
            <a:ext cx="3200400" cy="2242457"/>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age-title-slot Placeholder Carrier"/>
          <p:cNvSpPr txBox="1">
            <a:spLocks noGrp="1"/>
          </p:cNvSpPr>
          <p:nvPr>
            <p:ph type="title"/>
          </p:nvPr>
        </p:nvSpPr>
        <p:spPr>
          <a:xfrm>
            <a:off x="745998" y="406400"/>
            <a:ext cx="5738256"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Accessibility và Responsive</a:t>
            </a:r>
          </a:p>
        </p:txBody>
      </p:sp>
      <p:sp>
        <p:nvSpPr>
          <p:cNvPr id="8" name="content-slot Placeholder Carrier"/>
          <p:cNvSpPr txBox="1">
            <a:spLocks noGrp="1"/>
          </p:cNvSpPr>
          <p:nvPr>
            <p:ph type="body" idx="1"/>
          </p:nvPr>
        </p:nvSpPr>
        <p:spPr>
          <a:xfrm>
            <a:off x="752856" y="1327150"/>
            <a:ext cx="9900000" cy="4200000"/>
          </a:xfrm>
          <a:prstGeom prst="rect">
            <a:avLst/>
          </a:prstGeom>
          <a:noFill/>
          <a:ln>
            <a:noFill/>
          </a:ln>
        </p:spPr>
        <p:txBody>
          <a:bodyPr wrap="square" lIns="0" tIns="0" rIns="0" bIns="0" anchor="t" anchorCtr="0">
            <a:noAutofit/>
          </a:bodyPr>
          <a:lstStyle/>
          <a:p>
            <a:pPr marL="0" indent="0" algn="l">
              <a:lnSpc>
                <a:spcPts val="3240"/>
              </a:lnSpc>
              <a:buNone/>
            </a:pPr>
            <a:r>
              <a:rPr lang="vi" sz="2400" dirty="0" b="1">
                <a:solidFill>
                  <a:srgbClr val="1A56C8"/>
                </a:solidFill>
                <a:latin typeface="+mn-lt"/>
                <a:ea typeface="+mn-ea"/>
                <a:cs typeface="+mn-cs"/>
              </a:rPr>
              <a:t>Chữ thường ≥ 4.5:1: </a:t>
            </a:r>
            <a:r>
              <a:rPr lang="vi" sz="2400" dirty="0">
                <a:solidFill>
                  <a:srgbClr val="1C1B18"/>
                </a:solidFill>
                <a:latin typeface="+mn-lt"/>
                <a:ea typeface="+mn-ea"/>
                <a:cs typeface="+mn-cs"/>
              </a:rPr>
              <a:t>17.22 / 5.86 / 5.14 (on-surface, on-primary, error)</a:t>
            </a:r>
          </a:p>
          <a:p>
            <a:pPr marL="0" indent="0" algn="l">
              <a:lnSpc>
                <a:spcPts val="3240"/>
              </a:lnSpc>
              <a:spcBef>
                <a:spcPts val="1800"/>
              </a:spcBef>
              <a:buNone/>
            </a:pPr>
            <a:r>
              <a:rPr lang="vi" sz="2400" dirty="0" b="1">
                <a:solidFill>
                  <a:srgbClr val="1A56C8"/>
                </a:solidFill>
                <a:latin typeface="+mn-lt"/>
                <a:ea typeface="+mn-ea"/>
                <a:cs typeface="+mn-cs"/>
              </a:rPr>
              <a:t>Control ≥ 3:1: </a:t>
            </a:r>
            <a:r>
              <a:rPr lang="vi" sz="2400" dirty="0">
                <a:solidFill>
                  <a:srgbClr val="1C1B18"/>
                </a:solidFill>
                <a:latin typeface="+mn-lt"/>
                <a:ea typeface="+mn-ea"/>
                <a:cs typeface="+mn-cs"/>
              </a:rPr>
              <a:t>outline 4.61; viền ô đề xuất 4.76</a:t>
            </a:r>
          </a:p>
          <a:p>
            <a:pPr marL="0" indent="0" algn="l">
              <a:lnSpc>
                <a:spcPts val="3240"/>
              </a:lnSpc>
              <a:spcBef>
                <a:spcPts val="1800"/>
              </a:spcBef>
              <a:buNone/>
            </a:pPr>
            <a:r>
              <a:rPr lang="vi" sz="2400" dirty="0" b="1">
                <a:solidFill>
                  <a:srgbClr val="1A56C8"/>
                </a:solidFill>
                <a:latin typeface="+mn-lt"/>
                <a:ea typeface="+mn-ea"/>
                <a:cs typeface="+mn-cs"/>
              </a:rPr>
              <a:t>Touch target ≥ 48 dp; </a:t>
            </a:r>
            <a:r>
              <a:rPr lang="vi" sz="2400" dirty="0">
                <a:solidFill>
                  <a:srgbClr val="1C1B18"/>
                </a:solidFill>
                <a:latin typeface="+mn-lt"/>
                <a:ea typeface="+mn-ea"/>
                <a:cs typeface="+mn-cs"/>
              </a:rPr>
              <a:t>chữ ≥ 14 sp (đã quét 25 màn: 0 chữ nhỏ hơn)</a:t>
            </a:r>
          </a:p>
          <a:p>
            <a:pPr marL="0" indent="0" algn="l">
              <a:lnSpc>
                <a:spcPts val="3240"/>
              </a:lnSpc>
              <a:spcBef>
                <a:spcPts val="1800"/>
              </a:spcBef>
              <a:buNone/>
            </a:pPr>
            <a:r>
              <a:rPr lang="vi" sz="2400" dirty="0">
                <a:solidFill>
                  <a:srgbClr val="1C1B18"/>
                </a:solidFill>
                <a:latin typeface="+mn-lt"/>
                <a:ea typeface="+mn-ea"/>
                <a:cs typeface="+mn-cs"/>
              </a:rPr>
              <a:t>Trạng thái luôn kèm chữ, không chỉ dùng màu</a:t>
            </a:r>
          </a:p>
          <a:p>
            <a:pPr marL="0" indent="0" algn="l">
              <a:lnSpc>
                <a:spcPts val="3240"/>
              </a:lnSpc>
              <a:spcBef>
                <a:spcPts val="1800"/>
              </a:spcBef>
              <a:buNone/>
            </a:pPr>
            <a:r>
              <a:rPr lang="vi" sz="2400" dirty="0" b="1">
                <a:solidFill>
                  <a:srgbClr val="1A56C8"/>
                </a:solidFill>
                <a:latin typeface="+mn-lt"/>
                <a:ea typeface="+mn-ea"/>
                <a:cs typeface="+mn-cs"/>
              </a:rPr>
              <a:t>Chưa kiểm: </a:t>
            </a:r>
            <a:r>
              <a:rPr lang="vi" sz="2400" dirty="0">
                <a:solidFill>
                  <a:srgbClr val="1C1B18"/>
                </a:solidFill>
                <a:latin typeface="+mn-lt"/>
                <a:ea typeface="+mn-ea"/>
                <a:cs typeface="+mn-cs"/>
              </a:rPr>
              <a:t>412 dp; màn ≥ 600 dp mới chỉ đặc tả</a:t>
            </a:r>
          </a:p>
        </p:txBody>
      </p:sp>
      <p:grpSp>
        <p:nvGrpSpPr>
          <p:cNvPr id="10" name="title-accent"/>
          <p:cNvGrpSpPr/>
          <p:nvPr/>
        </p:nvGrpSpPr>
        <p:grpSpPr>
          <a:xfrm>
            <a:off x="762000" y="895350"/>
            <a:ext cx="914400" cy="38100"/>
            <a:chOff x="762000" y="895350"/>
            <a:chExt cx="914400" cy="38100"/>
          </a:xfrm>
        </p:grpSpPr>
        <p:sp>
          <p:nvSpPr>
            <p:cNvPr id="9" name="Rectangle 9"/>
            <p:cNvSpPr/>
            <p:nvPr/>
          </p:nvSpPr>
          <p:spPr>
            <a:xfrm>
              <a:off x="762000" y="895350"/>
              <a:ext cx="914400" cy="38100"/>
            </a:xfrm>
            <a:prstGeom prst="rect">
              <a:avLst/>
            </a:prstGeom>
            <a:solidFill>
              <a:srgbClr val="1A56C8"/>
            </a:solidFill>
            <a:ln>
              <a:noFill/>
            </a:ln>
          </p:spPr>
          <p:txBody>
            <a:bodyPr/>
            <a:lstStyle/>
            <a:p>
              <a:endParaRPr/>
            </a:p>
          </p:txBody>
        </p:sp>
      </p:grpSp>
      <p:grpSp>
        <p:nvGrpSpPr>
          <p:cNvPr id="12" name="source-note"/>
          <p:cNvGrpSpPr/>
          <p:nvPr/>
        </p:nvGrpSpPr>
        <p:grpSpPr>
          <a:xfrm>
            <a:off x="755142" y="6121400"/>
            <a:ext cx="3767230" cy="264033"/>
            <a:chOff x="755142" y="6121400"/>
            <a:chExt cx="3767230" cy="264033"/>
          </a:xfrm>
        </p:grpSpPr>
        <p:sp>
          <p:nvSpPr>
            <p:cNvPr id="11" name="TextBox 11"/>
            <p:cNvSpPr txBox="1"/>
            <p:nvPr/>
          </p:nvSpPr>
          <p:spPr>
            <a:xfrm>
              <a:off x="755142" y="6121400"/>
              <a:ext cx="3767230"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Nguồn: design/design-decisions.md (checklist)</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age-title-slot Placeholder Carrier"/>
          <p:cNvSpPr txBox="1">
            <a:spLocks noGrp="1"/>
          </p:cNvSpPr>
          <p:nvPr>
            <p:ph type="title"/>
          </p:nvPr>
        </p:nvSpPr>
        <p:spPr>
          <a:xfrm>
            <a:off x="745998" y="406400"/>
            <a:ext cx="4050180"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Prototype tương tác</a:t>
            </a:r>
          </a:p>
        </p:txBody>
      </p:sp>
      <p:sp>
        <p:nvSpPr>
          <p:cNvPr id="8" name="content-slot Placeholder Carrier"/>
          <p:cNvSpPr txBox="1">
            <a:spLocks noGrp="1"/>
          </p:cNvSpPr>
          <p:nvPr>
            <p:ph type="body" idx="1"/>
          </p:nvPr>
        </p:nvSpPr>
        <p:spPr>
          <a:xfrm>
            <a:off x="752856" y="1517650"/>
            <a:ext cx="9900000" cy="3200000"/>
          </a:xfrm>
          <a:prstGeom prst="rect">
            <a:avLst/>
          </a:prstGeom>
          <a:noFill/>
          <a:ln>
            <a:noFill/>
          </a:ln>
        </p:spPr>
        <p:txBody>
          <a:bodyPr wrap="square" lIns="0" tIns="0" rIns="0" bIns="0" anchor="t" anchorCtr="0">
            <a:noAutofit/>
          </a:bodyPr>
          <a:lstStyle/>
          <a:p>
            <a:pPr marL="0" indent="0" algn="l">
              <a:lnSpc>
                <a:spcPts val="3240"/>
              </a:lnSpc>
              <a:buNone/>
            </a:pPr>
            <a:r>
              <a:rPr lang="vi" sz="2400" dirty="0">
                <a:solidFill>
                  <a:srgbClr val="1C1B18"/>
                </a:solidFill>
                <a:latin typeface="+mn-lt"/>
                <a:ea typeface="+mn-ea"/>
                <a:cs typeface="+mn-cs"/>
              </a:rPr>
              <a:t>35 frame, 3 flow bấm được từ điểm bắt đầu đến kết thúc, không ngõ cụt</a:t>
            </a:r>
          </a:p>
          <a:p>
            <a:pPr marL="0" indent="0" algn="l">
              <a:lnSpc>
                <a:spcPts val="3240"/>
              </a:lnSpc>
              <a:spcBef>
                <a:spcPts val="1800"/>
              </a:spcBef>
              <a:buNone/>
            </a:pPr>
            <a:r>
              <a:rPr lang="vi" sz="2400" dirty="0">
                <a:solidFill>
                  <a:srgbClr val="1C1B18"/>
                </a:solidFill>
                <a:latin typeface="+mn-lt"/>
                <a:ea typeface="+mn-ea"/>
                <a:cs typeface="+mn-cs"/>
              </a:rPr>
              <a:t>Dialog dạng overlay: S12, S17, S24</a:t>
            </a:r>
          </a:p>
          <a:p>
            <a:pPr marL="0" indent="0" algn="l">
              <a:lnSpc>
                <a:spcPts val="3240"/>
              </a:lnSpc>
              <a:spcBef>
                <a:spcPts val="1800"/>
              </a:spcBef>
              <a:buNone/>
            </a:pPr>
            <a:r>
              <a:rPr lang="vi" sz="2400" dirty="0">
                <a:solidFill>
                  <a:srgbClr val="1C1B18"/>
                </a:solidFill>
                <a:latin typeface="+mn-lt"/>
                <a:ea typeface="+mn-ea"/>
                <a:cs typeface="+mn-cs"/>
              </a:rPr>
              <a:t>Loading S8 → S9 Proposals hoặc S15 No match</a:t>
            </a:r>
          </a:p>
          <a:p>
            <a:pPr marL="0" indent="0" algn="l">
              <a:lnSpc>
                <a:spcPts val="3240"/>
              </a:lnSpc>
              <a:spcBef>
                <a:spcPts val="1800"/>
              </a:spcBef>
              <a:buNone/>
            </a:pPr>
            <a:r>
              <a:rPr lang="vi" sz="2400" dirty="0">
                <a:solidFill>
                  <a:srgbClr val="1C1B18"/>
                </a:solidFill>
                <a:latin typeface="+mn-lt"/>
                <a:ea typeface="+mn-ea"/>
                <a:cs typeface="+mn-cs"/>
              </a:rPr>
              <a:t>Back quay đúng màn trước</a:t>
            </a:r>
          </a:p>
        </p:txBody>
      </p:sp>
      <p:grpSp>
        <p:nvGrpSpPr>
          <p:cNvPr id="10" name="title-accent"/>
          <p:cNvGrpSpPr/>
          <p:nvPr/>
        </p:nvGrpSpPr>
        <p:grpSpPr>
          <a:xfrm>
            <a:off x="762000" y="895350"/>
            <a:ext cx="914400" cy="38100"/>
            <a:chOff x="762000" y="895350"/>
            <a:chExt cx="914400" cy="38100"/>
          </a:xfrm>
        </p:grpSpPr>
        <p:sp>
          <p:nvSpPr>
            <p:cNvPr id="9" name="Rectangle 9"/>
            <p:cNvSpPr/>
            <p:nvPr/>
          </p:nvSpPr>
          <p:spPr>
            <a:xfrm>
              <a:off x="762000" y="895350"/>
              <a:ext cx="914400" cy="38100"/>
            </a:xfrm>
            <a:prstGeom prst="rect">
              <a:avLst/>
            </a:prstGeom>
            <a:solidFill>
              <a:srgbClr val="1A56C8"/>
            </a:solidFill>
            <a:ln>
              <a:noFill/>
            </a:ln>
          </p:spPr>
          <p:txBody>
            <a:bodyPr/>
            <a:lstStyle/>
            <a:p>
              <a:endParaRPr/>
            </a:p>
          </p:txBody>
        </p:sp>
      </p:grpSp>
      <p:grpSp>
        <p:nvGrpSpPr>
          <p:cNvPr id="12" name="demo-cue"/>
          <p:cNvGrpSpPr/>
          <p:nvPr/>
        </p:nvGrpSpPr>
        <p:grpSpPr>
          <a:xfrm>
            <a:off x="749808" y="5099050"/>
            <a:ext cx="7638858" cy="469392"/>
            <a:chOff x="749808" y="5099050"/>
            <a:chExt cx="7638858" cy="469392"/>
          </a:xfrm>
        </p:grpSpPr>
        <p:sp>
          <p:nvSpPr>
            <p:cNvPr id="11" name="TextBox 11"/>
            <p:cNvSpPr txBox="1"/>
            <p:nvPr/>
          </p:nvSpPr>
          <p:spPr>
            <a:xfrm>
              <a:off x="749808" y="5099050"/>
              <a:ext cx="7638858" cy="469392"/>
            </a:xfrm>
            <a:prstGeom prst="rect">
              <a:avLst/>
            </a:prstGeom>
            <a:noFill/>
            <a:ln>
              <a:noFill/>
            </a:ln>
          </p:spPr>
          <p:txBody>
            <a:bodyPr wrap="none" lIns="0" tIns="0" rIns="0" bIns="0" anchor="t" anchorCtr="0">
              <a:spAutoFit/>
            </a:bodyPr>
            <a:lstStyle/>
            <a:p>
              <a:pPr algn="l"/>
              <a:r>
                <a:rPr lang="vi" sz="2400" b="1" dirty="0">
                  <a:solidFill>
                    <a:srgbClr val="1A56C8"/>
                  </a:solidFill>
                  <a:latin typeface="+mn-lt"/>
                  <a:ea typeface="+mn-ea"/>
                  <a:cs typeface="+mn-cs"/>
                </a:rPr>
                <a:t>Demo trực tiếp trong Figma, không dùng ảnh tĩnh</a:t>
              </a:r>
            </a:p>
          </p:txBody>
        </p:sp>
      </p:grpSp>
      <p:grpSp>
        <p:nvGrpSpPr>
          <p:cNvPr id="14" name="source-note"/>
          <p:cNvGrpSpPr/>
          <p:nvPr/>
        </p:nvGrpSpPr>
        <p:grpSpPr>
          <a:xfrm>
            <a:off x="755142" y="6121400"/>
            <a:ext cx="1905479" cy="264033"/>
            <a:chOff x="755142" y="6121400"/>
            <a:chExt cx="1905479" cy="264033"/>
          </a:xfrm>
        </p:grpSpPr>
        <p:sp>
          <p:nvSpPr>
            <p:cNvPr id="13" name="TextBox 13"/>
            <p:cNvSpPr txBox="1"/>
            <p:nvPr/>
          </p:nvSpPr>
          <p:spPr>
            <a:xfrm>
              <a:off x="755142" y="6121400"/>
              <a:ext cx="1905479"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Nguồn: Figma Page 06</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age-title-slot Placeholder Carrier"/>
          <p:cNvSpPr txBox="1">
            <a:spLocks noGrp="1"/>
          </p:cNvSpPr>
          <p:nvPr>
            <p:ph type="title"/>
          </p:nvPr>
        </p:nvSpPr>
        <p:spPr>
          <a:xfrm>
            <a:off x="745998" y="406400"/>
            <a:ext cx="5453360" cy="616077"/>
          </a:xfrm>
          <a:prstGeom prst="rect">
            <a:avLst/>
          </a:prstGeom>
          <a:noFill/>
          <a:ln>
            <a:noFill/>
          </a:ln>
        </p:spPr>
        <p:txBody>
          <a:bodyPr wrap="none" lIns="0" tIns="0" rIns="0" bIns="0" anchor="t" anchorCtr="0">
            <a:spAutoFit/>
          </a:bodyPr>
          <a:lstStyle/>
          <a:p>
            <a:pPr algn="l"/>
            <a:r>
              <a:rPr lang="vi" sz="3150" b="1" dirty="0">
                <a:solidFill>
                  <a:schemeClr val="dk1"/>
                </a:solidFill>
                <a:latin typeface="+mj-lt"/>
                <a:ea typeface="+mj-ea"/>
                <a:cs typeface="+mj-cs"/>
              </a:rPr>
              <a:t>Flutter Handoff và tổng kết</a:t>
            </a:r>
          </a:p>
        </p:txBody>
      </p:sp>
      <p:sp>
        <p:nvSpPr>
          <p:cNvPr id="8" name="content-slot Placeholder Carrier"/>
          <p:cNvSpPr txBox="1">
            <a:spLocks noGrp="1"/>
          </p:cNvSpPr>
          <p:nvPr>
            <p:ph type="body" idx="1"/>
          </p:nvPr>
        </p:nvSpPr>
        <p:spPr>
          <a:xfrm>
            <a:off x="752856" y="1327150"/>
            <a:ext cx="9900000" cy="3600000"/>
          </a:xfrm>
          <a:prstGeom prst="rect">
            <a:avLst/>
          </a:prstGeom>
          <a:noFill/>
          <a:ln>
            <a:noFill/>
          </a:ln>
        </p:spPr>
        <p:txBody>
          <a:bodyPr wrap="square" lIns="0" tIns="0" rIns="0" bIns="0" anchor="t" anchorCtr="0">
            <a:noAutofit/>
          </a:bodyPr>
          <a:lstStyle/>
          <a:p>
            <a:pPr marL="0" indent="0" algn="l">
              <a:lnSpc>
                <a:spcPts val="3240"/>
              </a:lnSpc>
              <a:buNone/>
            </a:pPr>
            <a:r>
              <a:rPr lang="vi" sz="2400" dirty="0">
                <a:solidFill>
                  <a:srgbClr val="1C1B18"/>
                </a:solidFill>
                <a:latin typeface="+mn-lt"/>
                <a:ea typeface="+mn-ea"/>
                <a:cs typeface="+mn-cs"/>
              </a:rPr>
              <a:t>Mỗi màn có 6 mục: layout, components, states, interactions, navigation, constraints</a:t>
            </a:r>
          </a:p>
          <a:p>
            <a:pPr marL="0" indent="0" algn="l">
              <a:lnSpc>
                <a:spcPts val="3240"/>
              </a:lnSpc>
              <a:spcBef>
                <a:spcPts val="1800"/>
              </a:spcBef>
              <a:buNone/>
            </a:pPr>
            <a:r>
              <a:rPr lang="vi" sz="2400" dirty="0">
                <a:solidFill>
                  <a:srgbClr val="1C1B18"/>
                </a:solidFill>
                <a:latin typeface="+mn-lt"/>
                <a:ea typeface="+mn-ea"/>
                <a:cs typeface="+mn-cs"/>
              </a:rPr>
              <a:t>2 bảng: token → Flutter, component → widget</a:t>
            </a:r>
          </a:p>
          <a:p>
            <a:pPr marL="0" indent="0" algn="l">
              <a:lnSpc>
                <a:spcPts val="3240"/>
              </a:lnSpc>
              <a:spcBef>
                <a:spcPts val="1800"/>
              </a:spcBef>
              <a:buNone/>
            </a:pPr>
            <a:r>
              <a:rPr lang="vi" sz="2400" dirty="0" b="1">
                <a:solidFill>
                  <a:srgbClr val="1A56C8"/>
                </a:solidFill>
                <a:latin typeface="+mn-lt"/>
                <a:ea typeface="+mn-ea"/>
                <a:cs typeface="+mn-cs"/>
              </a:rPr>
              <a:t>Hạn chế: </a:t>
            </a:r>
            <a:r>
              <a:rPr lang="vi" sz="2400" dirty="0">
                <a:solidFill>
                  <a:srgbClr val="1C1B18"/>
                </a:solidFill>
                <a:latin typeface="+mn-lt"/>
                <a:ea typeface="+mn-ea"/>
                <a:cs typeface="+mn-cs"/>
              </a:rPr>
              <a:t>AI chỉ là thiết kế giao diện với dữ liệu mẫu, chưa có mô hình thật</a:t>
            </a:r>
          </a:p>
          <a:p>
            <a:pPr marL="0" indent="0" algn="l">
              <a:lnSpc>
                <a:spcPts val="3240"/>
              </a:lnSpc>
              <a:spcBef>
                <a:spcPts val="1800"/>
              </a:spcBef>
              <a:buNone/>
            </a:pPr>
            <a:r>
              <a:rPr lang="vi" sz="2400" dirty="0" b="1">
                <a:solidFill>
                  <a:srgbClr val="1A56C8"/>
                </a:solidFill>
                <a:latin typeface="+mn-lt"/>
                <a:ea typeface="+mn-ea"/>
                <a:cs typeface="+mn-cs"/>
              </a:rPr>
              <a:t>Chưa làm: </a:t>
            </a:r>
            <a:r>
              <a:rPr lang="vi" sz="2400" dirty="0">
                <a:solidFill>
                  <a:srgbClr val="1C1B18"/>
                </a:solidFill>
                <a:latin typeface="+mn-lt"/>
                <a:ea typeface="+mn-ea"/>
                <a:cs typeface="+mn-cs"/>
              </a:rPr>
              <a:t>kiểm 412 dp, kiểm với người dùng thật</a:t>
            </a:r>
          </a:p>
        </p:txBody>
      </p:sp>
      <p:grpSp>
        <p:nvGrpSpPr>
          <p:cNvPr id="10" name="title-accent"/>
          <p:cNvGrpSpPr/>
          <p:nvPr/>
        </p:nvGrpSpPr>
        <p:grpSpPr>
          <a:xfrm>
            <a:off x="762000" y="895350"/>
            <a:ext cx="914400" cy="38100"/>
            <a:chOff x="762000" y="895350"/>
            <a:chExt cx="914400" cy="38100"/>
          </a:xfrm>
        </p:grpSpPr>
        <p:sp>
          <p:nvSpPr>
            <p:cNvPr id="9" name="Rectangle 9"/>
            <p:cNvSpPr/>
            <p:nvPr/>
          </p:nvSpPr>
          <p:spPr>
            <a:xfrm>
              <a:off x="762000" y="895350"/>
              <a:ext cx="914400" cy="38100"/>
            </a:xfrm>
            <a:prstGeom prst="rect">
              <a:avLst/>
            </a:prstGeom>
            <a:solidFill>
              <a:srgbClr val="1A56C8"/>
            </a:solidFill>
            <a:ln>
              <a:noFill/>
            </a:ln>
          </p:spPr>
          <p:txBody>
            <a:bodyPr/>
            <a:lstStyle/>
            <a:p>
              <a:endParaRPr/>
            </a:p>
          </p:txBody>
        </p:sp>
      </p:grpSp>
      <p:grpSp>
        <p:nvGrpSpPr>
          <p:cNvPr id="12" name="closing-line"/>
          <p:cNvGrpSpPr/>
          <p:nvPr/>
        </p:nvGrpSpPr>
        <p:grpSpPr>
          <a:xfrm>
            <a:off x="749808" y="5537200"/>
            <a:ext cx="2512093" cy="469392"/>
            <a:chOff x="749808" y="5537200"/>
            <a:chExt cx="2512093" cy="469392"/>
          </a:xfrm>
        </p:grpSpPr>
        <p:sp>
          <p:nvSpPr>
            <p:cNvPr id="11" name="TextBox 11"/>
            <p:cNvSpPr txBox="1"/>
            <p:nvPr/>
          </p:nvSpPr>
          <p:spPr>
            <a:xfrm>
              <a:off x="749808" y="5537200"/>
              <a:ext cx="2512093" cy="469392"/>
            </a:xfrm>
            <a:prstGeom prst="rect">
              <a:avLst/>
            </a:prstGeom>
            <a:noFill/>
            <a:ln>
              <a:noFill/>
            </a:ln>
          </p:spPr>
          <p:txBody>
            <a:bodyPr wrap="none" lIns="0" tIns="0" rIns="0" bIns="0" anchor="t" anchorCtr="0">
              <a:spAutoFit/>
            </a:bodyPr>
            <a:lstStyle/>
            <a:p>
              <a:pPr algn="l"/>
              <a:r>
                <a:rPr lang="vi" sz="2400" b="1" dirty="0">
                  <a:solidFill>
                    <a:srgbClr val="1A56C8"/>
                  </a:solidFill>
                  <a:latin typeface="+mn-lt"/>
                  <a:ea typeface="+mn-ea"/>
                  <a:cs typeface="+mn-cs"/>
                </a:rPr>
                <a:t>Cảm ơn và Q&amp;A</a:t>
              </a:r>
            </a:p>
          </p:txBody>
        </p:sp>
      </p:grpSp>
      <p:grpSp>
        <p:nvGrpSpPr>
          <p:cNvPr id="14" name="source-note"/>
          <p:cNvGrpSpPr/>
          <p:nvPr/>
        </p:nvGrpSpPr>
        <p:grpSpPr>
          <a:xfrm>
            <a:off x="755142" y="6140450"/>
            <a:ext cx="3415035" cy="264033"/>
            <a:chOff x="755142" y="6140450"/>
            <a:chExt cx="3415035" cy="264033"/>
          </a:xfrm>
        </p:grpSpPr>
        <p:sp>
          <p:nvSpPr>
            <p:cNvPr id="13" name="TextBox 13"/>
            <p:cNvSpPr txBox="1"/>
            <p:nvPr/>
          </p:nvSpPr>
          <p:spPr>
            <a:xfrm>
              <a:off x="755142" y="6140450"/>
              <a:ext cx="7112000" cy="264033"/>
            </a:xfrm>
            <a:prstGeom prst="rect">
              <a:avLst/>
            </a:prstGeom>
            <a:noFill/>
            <a:ln>
              <a:noFill/>
            </a:ln>
          </p:spPr>
          <p:txBody>
            <a:bodyPr wrap="none" lIns="0" tIns="0" rIns="0" bIns="0" anchor="t" anchorCtr="0">
              <a:spAutoFit/>
            </a:bodyPr>
            <a:lstStyle/>
            <a:p>
              <a:pPr algn="l"/>
              <a:r>
                <a:rPr lang="vi" sz="1200" dirty="0">
                  <a:solidFill>
                    <a:srgbClr val="555555"/>
                  </a:solidFill>
                  <a:latin typeface="+mn-lt"/>
                  <a:ea typeface="+mn-ea"/>
                  <a:cs typeface="+mn-cs"/>
                </a:rPr>
                <a:t>Nguồn: handoff/flutter-handoff.md; GitHub: github.com/Kenn0679/prm323-lab2-group6</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Office Theme">
  <a:themeElements>
    <a:clrScheme name="PPT Master">
      <a:dk1>
        <a:srgbClr val="000000"/>
      </a:dk1>
      <a:lt1>
        <a:srgbClr val="FFFFFF"/>
      </a:lt1>
      <a:dk2>
        <a:srgbClr val="1F497D"/>
      </a:dk2>
      <a:lt2>
        <a:srgbClr val="F4F6F8"/>
      </a:lt2>
      <a:accent1>
        <a:srgbClr val="4084F3"/>
      </a:accent1>
      <a:accent2>
        <a:srgbClr val="EAAE04"/>
      </a:accent2>
      <a:accent3>
        <a:srgbClr val="E94236"/>
      </a:accent3>
      <a:accent4>
        <a:srgbClr val="4084F3"/>
      </a:accent4>
      <a:accent5>
        <a:srgbClr val="33A952"/>
      </a:accent5>
      <a:accent6>
        <a:srgbClr val="333333"/>
      </a:accent6>
      <a:hlink>
        <a:srgbClr val="EAAE04"/>
      </a:hlink>
      <a:folHlink>
        <a:srgbClr val="E94236"/>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PPT Master">
      <a:dk1>
        <a:srgbClr val="000000"/>
      </a:dk1>
      <a:lt1>
        <a:srgbClr val="FFFFFF"/>
      </a:lt1>
      <a:dk2>
        <a:srgbClr val="1F497D"/>
      </a:dk2>
      <a:lt2>
        <a:srgbClr val="F4F6F8"/>
      </a:lt2>
      <a:accent1>
        <a:srgbClr val="4084F3"/>
      </a:accent1>
      <a:accent2>
        <a:srgbClr val="EAAE04"/>
      </a:accent2>
      <a:accent3>
        <a:srgbClr val="E94236"/>
      </a:accent3>
      <a:accent4>
        <a:srgbClr val="4084F3"/>
      </a:accent4>
      <a:accent5>
        <a:srgbClr val="33A952"/>
      </a:accent5>
      <a:accent6>
        <a:srgbClr val="333333"/>
      </a:accent6>
      <a:hlink>
        <a:srgbClr val="EAAE04"/>
      </a:hlink>
      <a:folHlink>
        <a:srgbClr val="E94236"/>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3379</Words>
  <Application>Microsoft Office PowerPoint</Application>
  <PresentationFormat>Widescreen</PresentationFormat>
  <Paragraphs>95</Paragraphs>
  <Slides>12</Slides>
  <Notes>12</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12</vt:i4>
      </vt:variant>
    </vt:vector>
  </HeadingPairs>
  <TitlesOfParts>
    <vt:vector size="14" baseType="lpstr">
      <vt:lpstr>Arial</vt:lpstr>
      <vt:lpstr>Office Theme</vt:lpstr>
      <vt:lpstr>TeamUp EXE</vt:lpstr>
      <vt:lpstr>Vấn đề và Persona</vt:lpstr>
      <vt:lpstr>Information Architecture</vt:lpstr>
      <vt:lpstr>Ba user flow</vt:lpstr>
      <vt:lpstr>Tạo UI bằng AI (Stitch)</vt:lpstr>
      <vt:lpstr>Iteration và UX critique</vt:lpstr>
      <vt:lpstr>Quyết định thiết kế</vt:lpstr>
      <vt:lpstr>Wireframe và Final UI</vt:lpstr>
      <vt:lpstr>Design System</vt:lpstr>
      <vt:lpstr>Accessibility và Responsive</vt:lpstr>
      <vt:lpstr>Prototype tương tác</vt:lpstr>
      <vt:lpstr>Flutter Handoff và tổng kết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ken doan</cp:lastModifiedBy>
  <cp:revision>2</cp:revision>
  <dcterms:created xsi:type="dcterms:W3CDTF">2026-10-09T15:01:01Z</dcterms:created>
  <dcterms:modified xsi:type="dcterms:W3CDTF">2026-10-11T10:39:09Z</dcterms:modified>
  <cp:category/>
  <cp:contentStatus/>
  <dc:language>vi</dc:language>
</cp:coreProperties>
</file>